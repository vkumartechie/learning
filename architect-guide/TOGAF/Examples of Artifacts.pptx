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bookmarkIdSeed="9">
  <p:sldMasterIdLst>
    <p:sldMasterId id="2147487376" r:id="rId1"/>
  </p:sldMasterIdLst>
  <p:notesMasterIdLst>
    <p:notesMasterId r:id="rId58"/>
  </p:notesMasterIdLst>
  <p:handoutMasterIdLst>
    <p:handoutMasterId r:id="rId59"/>
  </p:handoutMasterIdLst>
  <p:sldIdLst>
    <p:sldId id="256" r:id="rId2"/>
    <p:sldId id="420" r:id="rId3"/>
    <p:sldId id="422" r:id="rId4"/>
    <p:sldId id="419" r:id="rId5"/>
    <p:sldId id="316" r:id="rId6"/>
    <p:sldId id="317" r:id="rId7"/>
    <p:sldId id="318" r:id="rId8"/>
    <p:sldId id="383" r:id="rId9"/>
    <p:sldId id="385" r:id="rId10"/>
    <p:sldId id="386" r:id="rId11"/>
    <p:sldId id="387" r:id="rId12"/>
    <p:sldId id="391" r:id="rId13"/>
    <p:sldId id="393" r:id="rId14"/>
    <p:sldId id="392" r:id="rId15"/>
    <p:sldId id="394" r:id="rId16"/>
    <p:sldId id="390" r:id="rId17"/>
    <p:sldId id="396" r:id="rId18"/>
    <p:sldId id="395" r:id="rId19"/>
    <p:sldId id="397" r:id="rId20"/>
    <p:sldId id="398" r:id="rId21"/>
    <p:sldId id="399" r:id="rId22"/>
    <p:sldId id="400" r:id="rId23"/>
    <p:sldId id="401" r:id="rId24"/>
    <p:sldId id="405" r:id="rId25"/>
    <p:sldId id="404" r:id="rId26"/>
    <p:sldId id="402" r:id="rId27"/>
    <p:sldId id="403" r:id="rId28"/>
    <p:sldId id="408" r:id="rId29"/>
    <p:sldId id="416" r:id="rId30"/>
    <p:sldId id="417" r:id="rId31"/>
    <p:sldId id="407" r:id="rId32"/>
    <p:sldId id="406" r:id="rId33"/>
    <p:sldId id="410" r:id="rId34"/>
    <p:sldId id="409" r:id="rId35"/>
    <p:sldId id="412" r:id="rId36"/>
    <p:sldId id="411" r:id="rId37"/>
    <p:sldId id="414" r:id="rId38"/>
    <p:sldId id="415" r:id="rId39"/>
    <p:sldId id="418" r:id="rId40"/>
    <p:sldId id="368" r:id="rId41"/>
    <p:sldId id="369" r:id="rId42"/>
    <p:sldId id="370" r:id="rId43"/>
    <p:sldId id="371" r:id="rId44"/>
    <p:sldId id="372" r:id="rId45"/>
    <p:sldId id="373" r:id="rId46"/>
    <p:sldId id="374" r:id="rId47"/>
    <p:sldId id="375" r:id="rId48"/>
    <p:sldId id="376" r:id="rId49"/>
    <p:sldId id="377" r:id="rId50"/>
    <p:sldId id="378" r:id="rId51"/>
    <p:sldId id="379" r:id="rId52"/>
    <p:sldId id="380" r:id="rId53"/>
    <p:sldId id="381" r:id="rId54"/>
    <p:sldId id="382" r:id="rId55"/>
    <p:sldId id="421" r:id="rId56"/>
    <p:sldId id="423" r:id="rId57"/>
  </p:sldIdLst>
  <p:sldSz cx="9144000" cy="6858000" type="screen4x3"/>
  <p:notesSz cx="7315200" cy="9601200"/>
  <p:custDataLst>
    <p:tags r:id="rId60"/>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xmlns="">
        <p15:guide id="1" orient="horz" pos="715">
          <p15:clr>
            <a:srgbClr val="A4A3A4"/>
          </p15:clr>
        </p15:guide>
        <p15:guide id="2" pos="359">
          <p15:clr>
            <a:srgbClr val="A4A3A4"/>
          </p15:clr>
        </p15:guide>
      </p15:sldGuideLst>
    </p:ext>
    <p:ext uri="{2D200454-40CA-4A62-9FC3-DE9A4176ACB9}">
      <p15:notesGuideLst xmlns:p15="http://schemas.microsoft.com/office/powerpoint/2012/main" xmlns="">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alyan Gali" initials="KG" lastIdx="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7A5F"/>
    <a:srgbClr val="087E62"/>
    <a:srgbClr val="098567"/>
    <a:srgbClr val="0A8C6E"/>
    <a:srgbClr val="0A8C72"/>
    <a:srgbClr val="2D6550"/>
    <a:srgbClr val="3D7F64"/>
    <a:srgbClr val="DFE9E7"/>
    <a:srgbClr val="7FC3A7"/>
    <a:srgbClr val="C6D8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7" autoAdjust="0"/>
    <p:restoredTop sz="98400" autoAdjust="0"/>
  </p:normalViewPr>
  <p:slideViewPr>
    <p:cSldViewPr snapToGrid="0">
      <p:cViewPr>
        <p:scale>
          <a:sx n="80" d="100"/>
          <a:sy n="80" d="100"/>
        </p:scale>
        <p:origin x="-1026" y="-30"/>
      </p:cViewPr>
      <p:guideLst>
        <p:guide orient="horz" pos="715"/>
        <p:guide pos="359"/>
      </p:guideLst>
    </p:cSldViewPr>
  </p:slideViewPr>
  <p:outlineViewPr>
    <p:cViewPr>
      <p:scale>
        <a:sx n="33" d="100"/>
        <a:sy n="33" d="100"/>
      </p:scale>
      <p:origin x="0" y="17964"/>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78" d="100"/>
          <a:sy n="78" d="100"/>
        </p:scale>
        <p:origin x="-1152" y="-102"/>
      </p:cViewPr>
      <p:guideLst>
        <p:guide orient="horz" pos="3024"/>
        <p:guide pos="2304"/>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gs" Target="tags/tag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787007-C0BD-4C0F-8F33-D73E9CE4A95D}"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IN"/>
        </a:p>
      </dgm:t>
    </dgm:pt>
    <dgm:pt modelId="{CDA76CF5-17AB-4D5A-BFD2-1821EC8B55F6}">
      <dgm:prSet phldrT="[Text]" custT="1"/>
      <dgm:spPr>
        <a:solidFill>
          <a:srgbClr val="DFE9E7"/>
        </a:solidFill>
        <a:ln>
          <a:solidFill>
            <a:srgbClr val="3D7F64"/>
          </a:solidFill>
        </a:ln>
      </dgm:spPr>
      <dgm:t>
        <a:bodyPr tIns="108000"/>
        <a:lstStyle/>
        <a:p>
          <a:pPr>
            <a:lnSpc>
              <a:spcPct val="120000"/>
            </a:lnSpc>
            <a:spcAft>
              <a:spcPts val="0"/>
            </a:spcAft>
          </a:pPr>
          <a:r>
            <a:rPr lang="en-US" sz="1600" dirty="0" smtClean="0">
              <a:solidFill>
                <a:schemeClr val="tx1"/>
              </a:solidFill>
            </a:rPr>
            <a:t>Deliverables</a:t>
          </a:r>
          <a:r>
            <a:rPr lang="en-US" sz="1800" dirty="0" smtClean="0">
              <a:solidFill>
                <a:schemeClr val="tx1"/>
              </a:solidFill>
            </a:rPr>
            <a:t>:</a:t>
          </a:r>
          <a:endParaRPr lang="en-IN" sz="1800" dirty="0">
            <a:solidFill>
              <a:schemeClr val="tx1"/>
            </a:solidFill>
          </a:endParaRPr>
        </a:p>
      </dgm:t>
    </dgm:pt>
    <dgm:pt modelId="{BEE80146-A734-45EA-BC56-64DFEDD5877C}" type="parTrans" cxnId="{69F12037-E66F-40BF-BE1A-90030623AD24}">
      <dgm:prSet/>
      <dgm:spPr/>
      <dgm:t>
        <a:bodyPr/>
        <a:lstStyle/>
        <a:p>
          <a:endParaRPr lang="en-IN"/>
        </a:p>
      </dgm:t>
    </dgm:pt>
    <dgm:pt modelId="{D6D2CA55-2C7F-447B-80F9-0FCCB85EF998}" type="sibTrans" cxnId="{69F12037-E66F-40BF-BE1A-90030623AD24}">
      <dgm:prSet/>
      <dgm:spPr/>
      <dgm:t>
        <a:bodyPr/>
        <a:lstStyle/>
        <a:p>
          <a:endParaRPr lang="en-IN"/>
        </a:p>
      </dgm:t>
    </dgm:pt>
    <dgm:pt modelId="{FAEA5DCC-40FF-4E54-891F-40C64D0A8B49}">
      <dgm:prSet phldrT="[Text]"/>
      <dgm:spPr>
        <a:solidFill>
          <a:srgbClr val="DFE9E7"/>
        </a:solidFill>
        <a:ln>
          <a:solidFill>
            <a:srgbClr val="3D7F64"/>
          </a:solidFill>
        </a:ln>
      </dgm:spPr>
      <dgm:t>
        <a:bodyPr tIns="108000"/>
        <a:lstStyle/>
        <a:p>
          <a:pPr>
            <a:lnSpc>
              <a:spcPct val="100000"/>
            </a:lnSpc>
            <a:spcAft>
              <a:spcPts val="100"/>
            </a:spcAft>
          </a:pPr>
          <a:r>
            <a:rPr lang="en-IN" sz="1400" dirty="0" smtClean="0">
              <a:solidFill>
                <a:schemeClr val="tx1"/>
              </a:solidFill>
            </a:rPr>
            <a:t>Specified by contracts.</a:t>
          </a:r>
          <a:endParaRPr lang="en-IN" sz="1400" dirty="0">
            <a:solidFill>
              <a:schemeClr val="tx1"/>
            </a:solidFill>
          </a:endParaRPr>
        </a:p>
      </dgm:t>
    </dgm:pt>
    <dgm:pt modelId="{A59EE284-E2B8-4D03-8CA2-E3F26153B112}" type="parTrans" cxnId="{C763FCA8-3298-4B21-BBFA-D919F4C74425}">
      <dgm:prSet/>
      <dgm:spPr/>
      <dgm:t>
        <a:bodyPr/>
        <a:lstStyle/>
        <a:p>
          <a:endParaRPr lang="en-IN"/>
        </a:p>
      </dgm:t>
    </dgm:pt>
    <dgm:pt modelId="{5E3B0BAD-C268-4FE1-8F56-797F8CAE2DF4}" type="sibTrans" cxnId="{C763FCA8-3298-4B21-BBFA-D919F4C74425}">
      <dgm:prSet/>
      <dgm:spPr/>
      <dgm:t>
        <a:bodyPr/>
        <a:lstStyle/>
        <a:p>
          <a:endParaRPr lang="en-IN"/>
        </a:p>
      </dgm:t>
    </dgm:pt>
    <dgm:pt modelId="{123F50D3-8381-4A20-A89E-7BF768700DFE}">
      <dgm:prSet phldrT="[Text]" custT="1"/>
      <dgm:spPr>
        <a:solidFill>
          <a:srgbClr val="DFE9E7"/>
        </a:solidFill>
        <a:ln>
          <a:solidFill>
            <a:srgbClr val="3D7F64"/>
          </a:solidFill>
        </a:ln>
      </dgm:spPr>
      <dgm:t>
        <a:bodyPr tIns="108000"/>
        <a:lstStyle/>
        <a:p>
          <a:pPr>
            <a:lnSpc>
              <a:spcPct val="120000"/>
            </a:lnSpc>
            <a:spcAft>
              <a:spcPts val="0"/>
            </a:spcAft>
          </a:pPr>
          <a:r>
            <a:rPr lang="en-IN" sz="1600" dirty="0" smtClean="0">
              <a:solidFill>
                <a:schemeClr val="tx1"/>
              </a:solidFill>
            </a:rPr>
            <a:t>Artifacts:</a:t>
          </a:r>
          <a:endParaRPr lang="en-IN" sz="1600" dirty="0">
            <a:solidFill>
              <a:schemeClr val="tx1"/>
            </a:solidFill>
          </a:endParaRPr>
        </a:p>
      </dgm:t>
    </dgm:pt>
    <dgm:pt modelId="{5701284D-1814-4749-8F90-A44624E33726}" type="parTrans" cxnId="{2C42B6F1-0A0E-4B2F-B4CD-71AC4CE7184E}">
      <dgm:prSet/>
      <dgm:spPr/>
      <dgm:t>
        <a:bodyPr/>
        <a:lstStyle/>
        <a:p>
          <a:endParaRPr lang="en-IN"/>
        </a:p>
      </dgm:t>
    </dgm:pt>
    <dgm:pt modelId="{AE682A15-5CDE-404E-8696-71A7D1E96B9D}" type="sibTrans" cxnId="{2C42B6F1-0A0E-4B2F-B4CD-71AC4CE7184E}">
      <dgm:prSet/>
      <dgm:spPr/>
      <dgm:t>
        <a:bodyPr/>
        <a:lstStyle/>
        <a:p>
          <a:endParaRPr lang="en-IN"/>
        </a:p>
      </dgm:t>
    </dgm:pt>
    <dgm:pt modelId="{8EA11885-3D1B-408A-8009-89D9ACDD39B2}">
      <dgm:prSet phldrT="[Text]" custT="1"/>
      <dgm:spPr>
        <a:solidFill>
          <a:srgbClr val="DFE9E7"/>
        </a:solidFill>
        <a:ln>
          <a:solidFill>
            <a:srgbClr val="3D7F64"/>
          </a:solidFill>
        </a:ln>
      </dgm:spPr>
      <dgm:t>
        <a:bodyPr tIns="108000"/>
        <a:lstStyle/>
        <a:p>
          <a:pPr>
            <a:lnSpc>
              <a:spcPct val="100000"/>
            </a:lnSpc>
            <a:spcAft>
              <a:spcPts val="0"/>
            </a:spcAft>
          </a:pPr>
          <a:r>
            <a:rPr lang="en-IN" sz="1600" dirty="0" smtClean="0">
              <a:solidFill>
                <a:schemeClr val="tx1"/>
              </a:solidFill>
            </a:rPr>
            <a:t>Building Blocks:</a:t>
          </a:r>
          <a:endParaRPr lang="en-IN" sz="1600" dirty="0">
            <a:solidFill>
              <a:schemeClr val="tx1"/>
            </a:solidFill>
          </a:endParaRPr>
        </a:p>
      </dgm:t>
    </dgm:pt>
    <dgm:pt modelId="{FF1F0BD1-DA63-4A6C-9A20-B5DFE97D7C43}" type="parTrans" cxnId="{40B17D6C-071B-47E8-B7E4-83A88853BBCD}">
      <dgm:prSet/>
      <dgm:spPr/>
      <dgm:t>
        <a:bodyPr/>
        <a:lstStyle/>
        <a:p>
          <a:endParaRPr lang="en-IN"/>
        </a:p>
      </dgm:t>
    </dgm:pt>
    <dgm:pt modelId="{97D8657C-D85D-4FED-9859-911D8C387419}" type="sibTrans" cxnId="{40B17D6C-071B-47E8-B7E4-83A88853BBCD}">
      <dgm:prSet/>
      <dgm:spPr/>
      <dgm:t>
        <a:bodyPr/>
        <a:lstStyle/>
        <a:p>
          <a:endParaRPr lang="en-IN"/>
        </a:p>
      </dgm:t>
    </dgm:pt>
    <dgm:pt modelId="{738BA80F-C8AD-48D7-8435-40C4FA16A650}">
      <dgm:prSet phldrT="[Text]"/>
      <dgm:spPr>
        <a:solidFill>
          <a:srgbClr val="DFE9E7"/>
        </a:solidFill>
        <a:ln>
          <a:solidFill>
            <a:srgbClr val="3D7F64"/>
          </a:solidFill>
        </a:ln>
      </dgm:spPr>
      <dgm:t>
        <a:bodyPr tIns="108000"/>
        <a:lstStyle/>
        <a:p>
          <a:pPr>
            <a:lnSpc>
              <a:spcPct val="120000"/>
            </a:lnSpc>
            <a:spcAft>
              <a:spcPts val="100"/>
            </a:spcAft>
          </a:pPr>
          <a:r>
            <a:rPr lang="en-IN" sz="1400" dirty="0" smtClean="0">
              <a:solidFill>
                <a:schemeClr val="tx1"/>
              </a:solidFill>
            </a:rPr>
            <a:t>Are the most elementary components.</a:t>
          </a:r>
          <a:endParaRPr lang="en-IN" sz="1400" dirty="0">
            <a:solidFill>
              <a:schemeClr val="tx1"/>
            </a:solidFill>
          </a:endParaRPr>
        </a:p>
      </dgm:t>
    </dgm:pt>
    <dgm:pt modelId="{4E7E3875-6E39-47D2-BC69-49821C2C1A58}" type="parTrans" cxnId="{95C4B026-E606-4596-A376-8C87D306DA4F}">
      <dgm:prSet/>
      <dgm:spPr/>
      <dgm:t>
        <a:bodyPr/>
        <a:lstStyle/>
        <a:p>
          <a:endParaRPr lang="en-IN"/>
        </a:p>
      </dgm:t>
    </dgm:pt>
    <dgm:pt modelId="{7C4009E3-C462-4816-AC9F-43B8649D3B1E}" type="sibTrans" cxnId="{95C4B026-E606-4596-A376-8C87D306DA4F}">
      <dgm:prSet/>
      <dgm:spPr/>
      <dgm:t>
        <a:bodyPr/>
        <a:lstStyle/>
        <a:p>
          <a:endParaRPr lang="en-IN"/>
        </a:p>
      </dgm:t>
    </dgm:pt>
    <dgm:pt modelId="{CBDEE41D-2707-4E1A-9E74-8B8DDE42B87D}">
      <dgm:prSet/>
      <dgm:spPr>
        <a:solidFill>
          <a:srgbClr val="DFE9E7"/>
        </a:solidFill>
        <a:ln>
          <a:solidFill>
            <a:srgbClr val="3D7F64"/>
          </a:solidFill>
        </a:ln>
      </dgm:spPr>
      <dgm:t>
        <a:bodyPr tIns="108000"/>
        <a:lstStyle/>
        <a:p>
          <a:pPr>
            <a:lnSpc>
              <a:spcPct val="100000"/>
            </a:lnSpc>
            <a:spcAft>
              <a:spcPts val="100"/>
            </a:spcAft>
          </a:pPr>
          <a:r>
            <a:rPr lang="en-IN" sz="1400" dirty="0" smtClean="0">
              <a:solidFill>
                <a:schemeClr val="tx1"/>
              </a:solidFill>
            </a:rPr>
            <a:t>Reviewed, agreed, and signed-off by stakeholders.</a:t>
          </a:r>
          <a:endParaRPr lang="en-IN" sz="1400" dirty="0">
            <a:solidFill>
              <a:schemeClr val="tx1"/>
            </a:solidFill>
          </a:endParaRPr>
        </a:p>
      </dgm:t>
    </dgm:pt>
    <dgm:pt modelId="{053859B6-8C99-4DEF-92CC-3D63168C56D3}" type="parTrans" cxnId="{DFF4D9B0-3462-4383-A355-E1B237954917}">
      <dgm:prSet/>
      <dgm:spPr/>
      <dgm:t>
        <a:bodyPr/>
        <a:lstStyle/>
        <a:p>
          <a:endParaRPr lang="en-IN"/>
        </a:p>
      </dgm:t>
    </dgm:pt>
    <dgm:pt modelId="{E6B694B6-3EBA-416D-AB4A-6A63DE94C696}" type="sibTrans" cxnId="{DFF4D9B0-3462-4383-A355-E1B237954917}">
      <dgm:prSet/>
      <dgm:spPr/>
      <dgm:t>
        <a:bodyPr/>
        <a:lstStyle/>
        <a:p>
          <a:endParaRPr lang="en-IN"/>
        </a:p>
      </dgm:t>
    </dgm:pt>
    <dgm:pt modelId="{BE438DC6-8F8D-4A61-9261-E7A7D1BC5F45}">
      <dgm:prSet/>
      <dgm:spPr>
        <a:solidFill>
          <a:srgbClr val="DFE9E7"/>
        </a:solidFill>
        <a:ln>
          <a:solidFill>
            <a:srgbClr val="3D7F64"/>
          </a:solidFill>
        </a:ln>
      </dgm:spPr>
      <dgm:t>
        <a:bodyPr tIns="108000"/>
        <a:lstStyle/>
        <a:p>
          <a:pPr>
            <a:lnSpc>
              <a:spcPct val="100000"/>
            </a:lnSpc>
            <a:spcAft>
              <a:spcPts val="100"/>
            </a:spcAft>
          </a:pPr>
          <a:r>
            <a:rPr lang="en-IN" sz="1400" dirty="0" smtClean="0">
              <a:solidFill>
                <a:schemeClr val="tx1"/>
              </a:solidFill>
            </a:rPr>
            <a:t>Are parts of an architecture deliverable.</a:t>
          </a:r>
          <a:endParaRPr lang="en-IN" sz="1400" dirty="0">
            <a:solidFill>
              <a:schemeClr val="tx1"/>
            </a:solidFill>
          </a:endParaRPr>
        </a:p>
      </dgm:t>
    </dgm:pt>
    <dgm:pt modelId="{2B22FC0A-2C2C-4C33-A574-AE129F083987}" type="parTrans" cxnId="{B78EAA2F-5C0B-4732-9117-C6F07D691D67}">
      <dgm:prSet/>
      <dgm:spPr/>
      <dgm:t>
        <a:bodyPr/>
        <a:lstStyle/>
        <a:p>
          <a:endParaRPr lang="en-IN"/>
        </a:p>
      </dgm:t>
    </dgm:pt>
    <dgm:pt modelId="{0F40BBDB-C1B5-4470-A1E2-DC598C145D0E}" type="sibTrans" cxnId="{B78EAA2F-5C0B-4732-9117-C6F07D691D67}">
      <dgm:prSet/>
      <dgm:spPr/>
      <dgm:t>
        <a:bodyPr/>
        <a:lstStyle/>
        <a:p>
          <a:endParaRPr lang="en-IN"/>
        </a:p>
      </dgm:t>
    </dgm:pt>
    <dgm:pt modelId="{D7824ED1-52AC-4572-AA5B-0EFD18633C28}">
      <dgm:prSet/>
      <dgm:spPr>
        <a:solidFill>
          <a:srgbClr val="DFE9E7"/>
        </a:solidFill>
        <a:ln>
          <a:solidFill>
            <a:srgbClr val="3D7F64"/>
          </a:solidFill>
        </a:ln>
      </dgm:spPr>
      <dgm:t>
        <a:bodyPr tIns="108000"/>
        <a:lstStyle/>
        <a:p>
          <a:pPr>
            <a:lnSpc>
              <a:spcPct val="100000"/>
            </a:lnSpc>
            <a:spcAft>
              <a:spcPts val="100"/>
            </a:spcAft>
          </a:pPr>
          <a:r>
            <a:rPr lang="en-IN" sz="1400" dirty="0" smtClean="0">
              <a:solidFill>
                <a:schemeClr val="tx1"/>
              </a:solidFill>
            </a:rPr>
            <a:t>Are matrices, catalogs, or diagrams.</a:t>
          </a:r>
          <a:endParaRPr lang="en-IN" sz="1400" dirty="0">
            <a:solidFill>
              <a:schemeClr val="tx1"/>
            </a:solidFill>
          </a:endParaRPr>
        </a:p>
      </dgm:t>
    </dgm:pt>
    <dgm:pt modelId="{7DFF32C8-92EB-4631-B9D5-4A282967DB33}" type="parTrans" cxnId="{35A20879-21BF-4B13-A4D9-71F3CCC77FA4}">
      <dgm:prSet/>
      <dgm:spPr/>
      <dgm:t>
        <a:bodyPr/>
        <a:lstStyle/>
        <a:p>
          <a:endParaRPr lang="en-IN"/>
        </a:p>
      </dgm:t>
    </dgm:pt>
    <dgm:pt modelId="{3092D4B2-C900-40D9-A812-6DD8201F0307}" type="sibTrans" cxnId="{35A20879-21BF-4B13-A4D9-71F3CCC77FA4}">
      <dgm:prSet/>
      <dgm:spPr/>
      <dgm:t>
        <a:bodyPr/>
        <a:lstStyle/>
        <a:p>
          <a:endParaRPr lang="en-IN"/>
        </a:p>
      </dgm:t>
    </dgm:pt>
    <dgm:pt modelId="{240E04BD-E3B9-4736-8412-FC00D9785C38}">
      <dgm:prSet phldrT="[Text]"/>
      <dgm:spPr>
        <a:solidFill>
          <a:srgbClr val="DFE9E7"/>
        </a:solidFill>
        <a:ln>
          <a:solidFill>
            <a:srgbClr val="3D7F64"/>
          </a:solidFill>
        </a:ln>
      </dgm:spPr>
      <dgm:t>
        <a:bodyPr tIns="108000"/>
        <a:lstStyle/>
        <a:p>
          <a:pPr>
            <a:lnSpc>
              <a:spcPct val="100000"/>
            </a:lnSpc>
            <a:spcAft>
              <a:spcPts val="100"/>
            </a:spcAft>
          </a:pPr>
          <a:r>
            <a:rPr lang="en-IN" sz="1400" dirty="0" smtClean="0">
              <a:solidFill>
                <a:schemeClr val="tx1"/>
              </a:solidFill>
            </a:rPr>
            <a:t>Describe aspects of architecture.</a:t>
          </a:r>
          <a:endParaRPr lang="en-IN" sz="1400" dirty="0">
            <a:solidFill>
              <a:schemeClr val="tx1"/>
            </a:solidFill>
          </a:endParaRPr>
        </a:p>
      </dgm:t>
    </dgm:pt>
    <dgm:pt modelId="{0EE36509-89B9-4E47-841F-A58A07039AB0}" type="sibTrans" cxnId="{3658F929-EB27-4F38-8E6C-F89EA87FD73D}">
      <dgm:prSet/>
      <dgm:spPr/>
      <dgm:t>
        <a:bodyPr/>
        <a:lstStyle/>
        <a:p>
          <a:endParaRPr lang="en-IN"/>
        </a:p>
      </dgm:t>
    </dgm:pt>
    <dgm:pt modelId="{79D02373-3612-45B6-B1D2-92ADB291D96B}" type="parTrans" cxnId="{3658F929-EB27-4F38-8E6C-F89EA87FD73D}">
      <dgm:prSet/>
      <dgm:spPr/>
      <dgm:t>
        <a:bodyPr/>
        <a:lstStyle/>
        <a:p>
          <a:endParaRPr lang="en-IN"/>
        </a:p>
      </dgm:t>
    </dgm:pt>
    <dgm:pt modelId="{2E8DD71E-971C-4BD4-B378-82390F235414}">
      <dgm:prSet/>
      <dgm:spPr>
        <a:solidFill>
          <a:srgbClr val="DFE9E7"/>
        </a:solidFill>
        <a:ln>
          <a:solidFill>
            <a:srgbClr val="3D7F64"/>
          </a:solidFill>
        </a:ln>
      </dgm:spPr>
      <dgm:t>
        <a:bodyPr tIns="108000"/>
        <a:lstStyle/>
        <a:p>
          <a:pPr>
            <a:lnSpc>
              <a:spcPct val="120000"/>
            </a:lnSpc>
            <a:spcAft>
              <a:spcPts val="100"/>
            </a:spcAft>
          </a:pPr>
          <a:r>
            <a:rPr lang="en-IN" sz="1400" dirty="0" smtClean="0">
              <a:solidFill>
                <a:schemeClr val="tx1"/>
              </a:solidFill>
            </a:rPr>
            <a:t>Are parts of an architecture artifact. </a:t>
          </a:r>
          <a:endParaRPr lang="en-IN" sz="1400" dirty="0">
            <a:solidFill>
              <a:schemeClr val="tx1"/>
            </a:solidFill>
          </a:endParaRPr>
        </a:p>
      </dgm:t>
    </dgm:pt>
    <dgm:pt modelId="{965F72C9-41AA-45A7-8CC5-59D7A77DED47}" type="parTrans" cxnId="{F1CAF06E-5CEA-4847-80A6-22C22BBDCA13}">
      <dgm:prSet/>
      <dgm:spPr/>
      <dgm:t>
        <a:bodyPr/>
        <a:lstStyle/>
        <a:p>
          <a:endParaRPr lang="en-IN"/>
        </a:p>
      </dgm:t>
    </dgm:pt>
    <dgm:pt modelId="{5570F3C1-F9F7-4A8A-AB9B-6ED42DB2927F}" type="sibTrans" cxnId="{F1CAF06E-5CEA-4847-80A6-22C22BBDCA13}">
      <dgm:prSet/>
      <dgm:spPr/>
      <dgm:t>
        <a:bodyPr/>
        <a:lstStyle/>
        <a:p>
          <a:endParaRPr lang="en-IN"/>
        </a:p>
      </dgm:t>
    </dgm:pt>
    <dgm:pt modelId="{B798CFD7-76E8-43C7-98A9-6FAF9522F15F}">
      <dgm:prSet/>
      <dgm:spPr>
        <a:solidFill>
          <a:srgbClr val="DFE9E7"/>
        </a:solidFill>
        <a:ln>
          <a:solidFill>
            <a:srgbClr val="3D7F64"/>
          </a:solidFill>
        </a:ln>
      </dgm:spPr>
      <dgm:t>
        <a:bodyPr tIns="108000"/>
        <a:lstStyle/>
        <a:p>
          <a:pPr>
            <a:lnSpc>
              <a:spcPct val="120000"/>
            </a:lnSpc>
            <a:spcAft>
              <a:spcPts val="100"/>
            </a:spcAft>
          </a:pPr>
          <a:r>
            <a:rPr lang="en-IN" sz="1400" dirty="0" smtClean="0">
              <a:solidFill>
                <a:schemeClr val="tx1"/>
              </a:solidFill>
            </a:rPr>
            <a:t>Have two interpretations – as IT component and as the instantiation of a building block type in the content metamodel.</a:t>
          </a:r>
          <a:endParaRPr lang="en-IN" sz="1400" dirty="0">
            <a:solidFill>
              <a:schemeClr val="tx1"/>
            </a:solidFill>
          </a:endParaRPr>
        </a:p>
      </dgm:t>
    </dgm:pt>
    <dgm:pt modelId="{B77FA0E4-3627-41B9-B25F-7D80735F250D}" type="parTrans" cxnId="{0178F120-44FF-482F-87C9-2D41EA191F26}">
      <dgm:prSet/>
      <dgm:spPr/>
      <dgm:t>
        <a:bodyPr/>
        <a:lstStyle/>
        <a:p>
          <a:endParaRPr lang="en-IN"/>
        </a:p>
      </dgm:t>
    </dgm:pt>
    <dgm:pt modelId="{193431CF-C538-4DA0-9F8D-47422C615627}" type="sibTrans" cxnId="{0178F120-44FF-482F-87C9-2D41EA191F26}">
      <dgm:prSet/>
      <dgm:spPr/>
      <dgm:t>
        <a:bodyPr/>
        <a:lstStyle/>
        <a:p>
          <a:endParaRPr lang="en-IN"/>
        </a:p>
      </dgm:t>
    </dgm:pt>
    <dgm:pt modelId="{A09CC347-832C-4410-A929-96D30077D9D2}">
      <dgm:prSet/>
      <dgm:spPr>
        <a:solidFill>
          <a:srgbClr val="DFE9E7"/>
        </a:solidFill>
        <a:ln>
          <a:solidFill>
            <a:srgbClr val="3D7F64"/>
          </a:solidFill>
        </a:ln>
      </dgm:spPr>
      <dgm:t>
        <a:bodyPr tIns="108000"/>
        <a:lstStyle/>
        <a:p>
          <a:pPr>
            <a:lnSpc>
              <a:spcPct val="120000"/>
            </a:lnSpc>
            <a:spcAft>
              <a:spcPts val="100"/>
            </a:spcAft>
          </a:pPr>
          <a:r>
            <a:rPr lang="en-IN" sz="1400" dirty="0" smtClean="0">
              <a:solidFill>
                <a:schemeClr val="tx1"/>
              </a:solidFill>
            </a:rPr>
            <a:t>Have two types – architecture building blocks and solution building blocks.</a:t>
          </a:r>
          <a:endParaRPr lang="en-IN" sz="1400" dirty="0">
            <a:solidFill>
              <a:schemeClr val="tx1"/>
            </a:solidFill>
          </a:endParaRPr>
        </a:p>
      </dgm:t>
    </dgm:pt>
    <dgm:pt modelId="{CBD70FF0-167F-41BF-9EAE-06FF324B5801}" type="parTrans" cxnId="{501D13EC-A5EE-425C-A8A0-2073A2EBDA6B}">
      <dgm:prSet/>
      <dgm:spPr/>
      <dgm:t>
        <a:bodyPr/>
        <a:lstStyle/>
        <a:p>
          <a:endParaRPr lang="en-IN"/>
        </a:p>
      </dgm:t>
    </dgm:pt>
    <dgm:pt modelId="{9774813A-56B7-43BE-80D7-445E412B3611}" type="sibTrans" cxnId="{501D13EC-A5EE-425C-A8A0-2073A2EBDA6B}">
      <dgm:prSet/>
      <dgm:spPr/>
      <dgm:t>
        <a:bodyPr/>
        <a:lstStyle/>
        <a:p>
          <a:endParaRPr lang="en-IN"/>
        </a:p>
      </dgm:t>
    </dgm:pt>
    <dgm:pt modelId="{AC574580-F14A-457B-BD63-F2A605496644}" type="pres">
      <dgm:prSet presAssocID="{B3787007-C0BD-4C0F-8F33-D73E9CE4A95D}" presName="linear" presStyleCnt="0">
        <dgm:presLayoutVars>
          <dgm:dir/>
          <dgm:resizeHandles val="exact"/>
        </dgm:presLayoutVars>
      </dgm:prSet>
      <dgm:spPr/>
      <dgm:t>
        <a:bodyPr/>
        <a:lstStyle/>
        <a:p>
          <a:endParaRPr lang="en-IN"/>
        </a:p>
      </dgm:t>
    </dgm:pt>
    <dgm:pt modelId="{881A1A3C-B16D-4F06-8D45-C00FB88BAE55}" type="pres">
      <dgm:prSet presAssocID="{CDA76CF5-17AB-4D5A-BFD2-1821EC8B55F6}" presName="comp" presStyleCnt="0"/>
      <dgm:spPr/>
    </dgm:pt>
    <dgm:pt modelId="{D53A0C3B-F8A6-478B-B5E3-2A572262341B}" type="pres">
      <dgm:prSet presAssocID="{CDA76CF5-17AB-4D5A-BFD2-1821EC8B55F6}" presName="box" presStyleLbl="node1" presStyleIdx="0" presStyleCnt="3"/>
      <dgm:spPr/>
      <dgm:t>
        <a:bodyPr/>
        <a:lstStyle/>
        <a:p>
          <a:endParaRPr lang="en-IN"/>
        </a:p>
      </dgm:t>
    </dgm:pt>
    <dgm:pt modelId="{7C1DD3C4-B56E-4A4A-8C5C-52922583B980}" type="pres">
      <dgm:prSet presAssocID="{CDA76CF5-17AB-4D5A-BFD2-1821EC8B55F6}" presName="img" presStyleLbl="fgImgPlace1" presStyleIdx="0" presStyleCnt="3"/>
      <dgm:spPr>
        <a:noFill/>
        <a:ln>
          <a:noFill/>
        </a:ln>
      </dgm:spPr>
    </dgm:pt>
    <dgm:pt modelId="{AE65708E-80E5-41FB-A310-BAC400D52D05}" type="pres">
      <dgm:prSet presAssocID="{CDA76CF5-17AB-4D5A-BFD2-1821EC8B55F6}" presName="text" presStyleLbl="node1" presStyleIdx="0" presStyleCnt="3">
        <dgm:presLayoutVars>
          <dgm:bulletEnabled val="1"/>
        </dgm:presLayoutVars>
      </dgm:prSet>
      <dgm:spPr/>
      <dgm:t>
        <a:bodyPr/>
        <a:lstStyle/>
        <a:p>
          <a:endParaRPr lang="en-IN"/>
        </a:p>
      </dgm:t>
    </dgm:pt>
    <dgm:pt modelId="{A5DA6F04-ADD2-482A-BF00-AD0F79C5851D}" type="pres">
      <dgm:prSet presAssocID="{D6D2CA55-2C7F-447B-80F9-0FCCB85EF998}" presName="spacer" presStyleCnt="0"/>
      <dgm:spPr/>
    </dgm:pt>
    <dgm:pt modelId="{542DF04C-6387-4022-97B8-9C53F9282054}" type="pres">
      <dgm:prSet presAssocID="{123F50D3-8381-4A20-A89E-7BF768700DFE}" presName="comp" presStyleCnt="0"/>
      <dgm:spPr/>
    </dgm:pt>
    <dgm:pt modelId="{03BF00A8-1338-4931-92CB-9B69C4868508}" type="pres">
      <dgm:prSet presAssocID="{123F50D3-8381-4A20-A89E-7BF768700DFE}" presName="box" presStyleLbl="node1" presStyleIdx="1" presStyleCnt="3"/>
      <dgm:spPr/>
      <dgm:t>
        <a:bodyPr/>
        <a:lstStyle/>
        <a:p>
          <a:endParaRPr lang="en-IN"/>
        </a:p>
      </dgm:t>
    </dgm:pt>
    <dgm:pt modelId="{C3CE25BC-CCD4-45B6-B52B-FD2D4901A957}" type="pres">
      <dgm:prSet presAssocID="{123F50D3-8381-4A20-A89E-7BF768700DFE}" presName="img" presStyleLbl="fgImgPlace1" presStyleIdx="1" presStyleCnt="3"/>
      <dgm:spPr>
        <a:noFill/>
        <a:ln>
          <a:noFill/>
        </a:ln>
      </dgm:spPr>
    </dgm:pt>
    <dgm:pt modelId="{89CA010B-D3C3-4AFD-B445-A101301808C3}" type="pres">
      <dgm:prSet presAssocID="{123F50D3-8381-4A20-A89E-7BF768700DFE}" presName="text" presStyleLbl="node1" presStyleIdx="1" presStyleCnt="3">
        <dgm:presLayoutVars>
          <dgm:bulletEnabled val="1"/>
        </dgm:presLayoutVars>
      </dgm:prSet>
      <dgm:spPr/>
      <dgm:t>
        <a:bodyPr/>
        <a:lstStyle/>
        <a:p>
          <a:endParaRPr lang="en-IN"/>
        </a:p>
      </dgm:t>
    </dgm:pt>
    <dgm:pt modelId="{9CF81556-D78F-4543-A83E-A351880A5FAB}" type="pres">
      <dgm:prSet presAssocID="{AE682A15-5CDE-404E-8696-71A7D1E96B9D}" presName="spacer" presStyleCnt="0"/>
      <dgm:spPr/>
    </dgm:pt>
    <dgm:pt modelId="{7D9CDE4E-1106-40F8-9BC4-DE198236D0B4}" type="pres">
      <dgm:prSet presAssocID="{8EA11885-3D1B-408A-8009-89D9ACDD39B2}" presName="comp" presStyleCnt="0"/>
      <dgm:spPr/>
    </dgm:pt>
    <dgm:pt modelId="{9ED626E9-4B6D-476F-B7E3-CF51791D7B97}" type="pres">
      <dgm:prSet presAssocID="{8EA11885-3D1B-408A-8009-89D9ACDD39B2}" presName="box" presStyleLbl="node1" presStyleIdx="2" presStyleCnt="3"/>
      <dgm:spPr/>
      <dgm:t>
        <a:bodyPr/>
        <a:lstStyle/>
        <a:p>
          <a:endParaRPr lang="en-IN"/>
        </a:p>
      </dgm:t>
    </dgm:pt>
    <dgm:pt modelId="{509BF589-1CF6-48DB-9982-89E5482FA9A0}" type="pres">
      <dgm:prSet presAssocID="{8EA11885-3D1B-408A-8009-89D9ACDD39B2}" presName="img" presStyleLbl="fgImgPlace1" presStyleIdx="2" presStyleCnt="3"/>
      <dgm:spPr>
        <a:noFill/>
        <a:ln>
          <a:noFill/>
        </a:ln>
      </dgm:spPr>
    </dgm:pt>
    <dgm:pt modelId="{21939970-0D94-46A3-A708-63EAA98A6ADB}" type="pres">
      <dgm:prSet presAssocID="{8EA11885-3D1B-408A-8009-89D9ACDD39B2}" presName="text" presStyleLbl="node1" presStyleIdx="2" presStyleCnt="3">
        <dgm:presLayoutVars>
          <dgm:bulletEnabled val="1"/>
        </dgm:presLayoutVars>
      </dgm:prSet>
      <dgm:spPr/>
      <dgm:t>
        <a:bodyPr/>
        <a:lstStyle/>
        <a:p>
          <a:endParaRPr lang="en-IN"/>
        </a:p>
      </dgm:t>
    </dgm:pt>
  </dgm:ptLst>
  <dgm:cxnLst>
    <dgm:cxn modelId="{F7F5FCED-301E-3445-9AF5-354A8BD4FEE3}" type="presOf" srcId="{2E8DD71E-971C-4BD4-B378-82390F235414}" destId="{21939970-0D94-46A3-A708-63EAA98A6ADB}" srcOrd="1" destOrd="2" presId="urn:microsoft.com/office/officeart/2005/8/layout/vList4"/>
    <dgm:cxn modelId="{A731B1F1-53F8-8D4B-AE4C-5DCE18E1CA5C}" type="presOf" srcId="{FAEA5DCC-40FF-4E54-891F-40C64D0A8B49}" destId="{AE65708E-80E5-41FB-A310-BAC400D52D05}" srcOrd="1" destOrd="1" presId="urn:microsoft.com/office/officeart/2005/8/layout/vList4"/>
    <dgm:cxn modelId="{560EBF70-9492-E14D-BDCE-A9C3CFB007A0}" type="presOf" srcId="{123F50D3-8381-4A20-A89E-7BF768700DFE}" destId="{89CA010B-D3C3-4AFD-B445-A101301808C3}" srcOrd="1" destOrd="0" presId="urn:microsoft.com/office/officeart/2005/8/layout/vList4"/>
    <dgm:cxn modelId="{B78EAA2F-5C0B-4732-9117-C6F07D691D67}" srcId="{123F50D3-8381-4A20-A89E-7BF768700DFE}" destId="{BE438DC6-8F8D-4A61-9261-E7A7D1BC5F45}" srcOrd="1" destOrd="0" parTransId="{2B22FC0A-2C2C-4C33-A574-AE129F083987}" sibTransId="{0F40BBDB-C1B5-4470-A1E2-DC598C145D0E}"/>
    <dgm:cxn modelId="{69F12037-E66F-40BF-BE1A-90030623AD24}" srcId="{B3787007-C0BD-4C0F-8F33-D73E9CE4A95D}" destId="{CDA76CF5-17AB-4D5A-BFD2-1821EC8B55F6}" srcOrd="0" destOrd="0" parTransId="{BEE80146-A734-45EA-BC56-64DFEDD5877C}" sibTransId="{D6D2CA55-2C7F-447B-80F9-0FCCB85EF998}"/>
    <dgm:cxn modelId="{95C4B026-E606-4596-A376-8C87D306DA4F}" srcId="{8EA11885-3D1B-408A-8009-89D9ACDD39B2}" destId="{738BA80F-C8AD-48D7-8435-40C4FA16A650}" srcOrd="0" destOrd="0" parTransId="{4E7E3875-6E39-47D2-BC69-49821C2C1A58}" sibTransId="{7C4009E3-C462-4816-AC9F-43B8649D3B1E}"/>
    <dgm:cxn modelId="{C75EBAD4-CB40-6F49-A615-A8EEE5F33500}" type="presOf" srcId="{BE438DC6-8F8D-4A61-9261-E7A7D1BC5F45}" destId="{03BF00A8-1338-4931-92CB-9B69C4868508}" srcOrd="0" destOrd="2" presId="urn:microsoft.com/office/officeart/2005/8/layout/vList4"/>
    <dgm:cxn modelId="{61A5D77E-6A5E-A546-806E-790BFB4851A1}" type="presOf" srcId="{8EA11885-3D1B-408A-8009-89D9ACDD39B2}" destId="{9ED626E9-4B6D-476F-B7E3-CF51791D7B97}" srcOrd="0" destOrd="0" presId="urn:microsoft.com/office/officeart/2005/8/layout/vList4"/>
    <dgm:cxn modelId="{3658F929-EB27-4F38-8E6C-F89EA87FD73D}" srcId="{123F50D3-8381-4A20-A89E-7BF768700DFE}" destId="{240E04BD-E3B9-4736-8412-FC00D9785C38}" srcOrd="0" destOrd="0" parTransId="{79D02373-3612-45B6-B1D2-92ADB291D96B}" sibTransId="{0EE36509-89B9-4E47-841F-A58A07039AB0}"/>
    <dgm:cxn modelId="{0178F120-44FF-482F-87C9-2D41EA191F26}" srcId="{8EA11885-3D1B-408A-8009-89D9ACDD39B2}" destId="{B798CFD7-76E8-43C7-98A9-6FAF9522F15F}" srcOrd="2" destOrd="0" parTransId="{B77FA0E4-3627-41B9-B25F-7D80735F250D}" sibTransId="{193431CF-C538-4DA0-9F8D-47422C615627}"/>
    <dgm:cxn modelId="{F1CAF06E-5CEA-4847-80A6-22C22BBDCA13}" srcId="{8EA11885-3D1B-408A-8009-89D9ACDD39B2}" destId="{2E8DD71E-971C-4BD4-B378-82390F235414}" srcOrd="1" destOrd="0" parTransId="{965F72C9-41AA-45A7-8CC5-59D7A77DED47}" sibTransId="{5570F3C1-F9F7-4A8A-AB9B-6ED42DB2927F}"/>
    <dgm:cxn modelId="{2C42B6F1-0A0E-4B2F-B4CD-71AC4CE7184E}" srcId="{B3787007-C0BD-4C0F-8F33-D73E9CE4A95D}" destId="{123F50D3-8381-4A20-A89E-7BF768700DFE}" srcOrd="1" destOrd="0" parTransId="{5701284D-1814-4749-8F90-A44624E33726}" sibTransId="{AE682A15-5CDE-404E-8696-71A7D1E96B9D}"/>
    <dgm:cxn modelId="{DFF4D9B0-3462-4383-A355-E1B237954917}" srcId="{CDA76CF5-17AB-4D5A-BFD2-1821EC8B55F6}" destId="{CBDEE41D-2707-4E1A-9E74-8B8DDE42B87D}" srcOrd="1" destOrd="0" parTransId="{053859B6-8C99-4DEF-92CC-3D63168C56D3}" sibTransId="{E6B694B6-3EBA-416D-AB4A-6A63DE94C696}"/>
    <dgm:cxn modelId="{49A237FF-D547-0E44-B3E3-521B57FF40CB}" type="presOf" srcId="{BE438DC6-8F8D-4A61-9261-E7A7D1BC5F45}" destId="{89CA010B-D3C3-4AFD-B445-A101301808C3}" srcOrd="1" destOrd="2" presId="urn:microsoft.com/office/officeart/2005/8/layout/vList4"/>
    <dgm:cxn modelId="{501D13EC-A5EE-425C-A8A0-2073A2EBDA6B}" srcId="{8EA11885-3D1B-408A-8009-89D9ACDD39B2}" destId="{A09CC347-832C-4410-A929-96D30077D9D2}" srcOrd="3" destOrd="0" parTransId="{CBD70FF0-167F-41BF-9EAE-06FF324B5801}" sibTransId="{9774813A-56B7-43BE-80D7-445E412B3611}"/>
    <dgm:cxn modelId="{8D6B10DA-C20E-1942-B723-19FF1F87FD09}" type="presOf" srcId="{B3787007-C0BD-4C0F-8F33-D73E9CE4A95D}" destId="{AC574580-F14A-457B-BD63-F2A605496644}" srcOrd="0" destOrd="0" presId="urn:microsoft.com/office/officeart/2005/8/layout/vList4"/>
    <dgm:cxn modelId="{5F75D309-BA11-7642-A761-08E251BF27CA}" type="presOf" srcId="{CDA76CF5-17AB-4D5A-BFD2-1821EC8B55F6}" destId="{D53A0C3B-F8A6-478B-B5E3-2A572262341B}" srcOrd="0" destOrd="0" presId="urn:microsoft.com/office/officeart/2005/8/layout/vList4"/>
    <dgm:cxn modelId="{AD330783-59A0-794B-8137-5D3A55A0D8AD}" type="presOf" srcId="{CDA76CF5-17AB-4D5A-BFD2-1821EC8B55F6}" destId="{AE65708E-80E5-41FB-A310-BAC400D52D05}" srcOrd="1" destOrd="0" presId="urn:microsoft.com/office/officeart/2005/8/layout/vList4"/>
    <dgm:cxn modelId="{11D73DC0-334B-C749-B039-74D61416FD00}" type="presOf" srcId="{D7824ED1-52AC-4572-AA5B-0EFD18633C28}" destId="{89CA010B-D3C3-4AFD-B445-A101301808C3}" srcOrd="1" destOrd="3" presId="urn:microsoft.com/office/officeart/2005/8/layout/vList4"/>
    <dgm:cxn modelId="{3A33FEEA-CE89-924B-AE19-96F422D71150}" type="presOf" srcId="{FAEA5DCC-40FF-4E54-891F-40C64D0A8B49}" destId="{D53A0C3B-F8A6-478B-B5E3-2A572262341B}" srcOrd="0" destOrd="1" presId="urn:microsoft.com/office/officeart/2005/8/layout/vList4"/>
    <dgm:cxn modelId="{35A20879-21BF-4B13-A4D9-71F3CCC77FA4}" srcId="{123F50D3-8381-4A20-A89E-7BF768700DFE}" destId="{D7824ED1-52AC-4572-AA5B-0EFD18633C28}" srcOrd="2" destOrd="0" parTransId="{7DFF32C8-92EB-4631-B9D5-4A282967DB33}" sibTransId="{3092D4B2-C900-40D9-A812-6DD8201F0307}"/>
    <dgm:cxn modelId="{BE06C0D4-F67A-7047-8CEF-8DAE9107B553}" type="presOf" srcId="{A09CC347-832C-4410-A929-96D30077D9D2}" destId="{9ED626E9-4B6D-476F-B7E3-CF51791D7B97}" srcOrd="0" destOrd="4" presId="urn:microsoft.com/office/officeart/2005/8/layout/vList4"/>
    <dgm:cxn modelId="{319D07C9-1585-A24A-943F-23DCDCE07EC3}" type="presOf" srcId="{CBDEE41D-2707-4E1A-9E74-8B8DDE42B87D}" destId="{D53A0C3B-F8A6-478B-B5E3-2A572262341B}" srcOrd="0" destOrd="2" presId="urn:microsoft.com/office/officeart/2005/8/layout/vList4"/>
    <dgm:cxn modelId="{C763FCA8-3298-4B21-BBFA-D919F4C74425}" srcId="{CDA76CF5-17AB-4D5A-BFD2-1821EC8B55F6}" destId="{FAEA5DCC-40FF-4E54-891F-40C64D0A8B49}" srcOrd="0" destOrd="0" parTransId="{A59EE284-E2B8-4D03-8CA2-E3F26153B112}" sibTransId="{5E3B0BAD-C268-4FE1-8F56-797F8CAE2DF4}"/>
    <dgm:cxn modelId="{8F77D46B-B227-504D-AB33-F14F072B19D8}" type="presOf" srcId="{240E04BD-E3B9-4736-8412-FC00D9785C38}" destId="{89CA010B-D3C3-4AFD-B445-A101301808C3}" srcOrd="1" destOrd="1" presId="urn:microsoft.com/office/officeart/2005/8/layout/vList4"/>
    <dgm:cxn modelId="{C13559D4-D825-5046-B45C-87BFA39FD134}" type="presOf" srcId="{D7824ED1-52AC-4572-AA5B-0EFD18633C28}" destId="{03BF00A8-1338-4931-92CB-9B69C4868508}" srcOrd="0" destOrd="3" presId="urn:microsoft.com/office/officeart/2005/8/layout/vList4"/>
    <dgm:cxn modelId="{4124047C-F2B7-A844-929D-51D187B4FFBF}" type="presOf" srcId="{738BA80F-C8AD-48D7-8435-40C4FA16A650}" destId="{9ED626E9-4B6D-476F-B7E3-CF51791D7B97}" srcOrd="0" destOrd="1" presId="urn:microsoft.com/office/officeart/2005/8/layout/vList4"/>
    <dgm:cxn modelId="{FB4E145F-813E-1249-A57A-708CC8508791}" type="presOf" srcId="{CBDEE41D-2707-4E1A-9E74-8B8DDE42B87D}" destId="{AE65708E-80E5-41FB-A310-BAC400D52D05}" srcOrd="1" destOrd="2" presId="urn:microsoft.com/office/officeart/2005/8/layout/vList4"/>
    <dgm:cxn modelId="{A4087383-2D62-D149-9EF1-CAB9EA663387}" type="presOf" srcId="{2E8DD71E-971C-4BD4-B378-82390F235414}" destId="{9ED626E9-4B6D-476F-B7E3-CF51791D7B97}" srcOrd="0" destOrd="2" presId="urn:microsoft.com/office/officeart/2005/8/layout/vList4"/>
    <dgm:cxn modelId="{F0904893-27E0-484D-AF59-7586E5C119AD}" type="presOf" srcId="{123F50D3-8381-4A20-A89E-7BF768700DFE}" destId="{03BF00A8-1338-4931-92CB-9B69C4868508}" srcOrd="0" destOrd="0" presId="urn:microsoft.com/office/officeart/2005/8/layout/vList4"/>
    <dgm:cxn modelId="{CDBB5D0A-8A47-E642-9014-3C66310D55FA}" type="presOf" srcId="{738BA80F-C8AD-48D7-8435-40C4FA16A650}" destId="{21939970-0D94-46A3-A708-63EAA98A6ADB}" srcOrd="1" destOrd="1" presId="urn:microsoft.com/office/officeart/2005/8/layout/vList4"/>
    <dgm:cxn modelId="{0811535E-1828-6B40-B50E-51E8A13A9CF9}" type="presOf" srcId="{240E04BD-E3B9-4736-8412-FC00D9785C38}" destId="{03BF00A8-1338-4931-92CB-9B69C4868508}" srcOrd="0" destOrd="1" presId="urn:microsoft.com/office/officeart/2005/8/layout/vList4"/>
    <dgm:cxn modelId="{34E99CDE-EF20-DC4A-98F6-A06A940A804F}" type="presOf" srcId="{A09CC347-832C-4410-A929-96D30077D9D2}" destId="{21939970-0D94-46A3-A708-63EAA98A6ADB}" srcOrd="1" destOrd="4" presId="urn:microsoft.com/office/officeart/2005/8/layout/vList4"/>
    <dgm:cxn modelId="{12002467-5BA2-0045-AA96-EFF31BFA2413}" type="presOf" srcId="{8EA11885-3D1B-408A-8009-89D9ACDD39B2}" destId="{21939970-0D94-46A3-A708-63EAA98A6ADB}" srcOrd="1" destOrd="0" presId="urn:microsoft.com/office/officeart/2005/8/layout/vList4"/>
    <dgm:cxn modelId="{36041B17-0A7D-724F-8334-E48FDCB3B1B6}" type="presOf" srcId="{B798CFD7-76E8-43C7-98A9-6FAF9522F15F}" destId="{9ED626E9-4B6D-476F-B7E3-CF51791D7B97}" srcOrd="0" destOrd="3" presId="urn:microsoft.com/office/officeart/2005/8/layout/vList4"/>
    <dgm:cxn modelId="{F0A2502C-A9F3-B246-88BD-1008DFEEF44D}" type="presOf" srcId="{B798CFD7-76E8-43C7-98A9-6FAF9522F15F}" destId="{21939970-0D94-46A3-A708-63EAA98A6ADB}" srcOrd="1" destOrd="3" presId="urn:microsoft.com/office/officeart/2005/8/layout/vList4"/>
    <dgm:cxn modelId="{40B17D6C-071B-47E8-B7E4-83A88853BBCD}" srcId="{B3787007-C0BD-4C0F-8F33-D73E9CE4A95D}" destId="{8EA11885-3D1B-408A-8009-89D9ACDD39B2}" srcOrd="2" destOrd="0" parTransId="{FF1F0BD1-DA63-4A6C-9A20-B5DFE97D7C43}" sibTransId="{97D8657C-D85D-4FED-9859-911D8C387419}"/>
    <dgm:cxn modelId="{6AAAF802-EFFB-A844-B65A-E8CBF9B675E4}" type="presParOf" srcId="{AC574580-F14A-457B-BD63-F2A605496644}" destId="{881A1A3C-B16D-4F06-8D45-C00FB88BAE55}" srcOrd="0" destOrd="0" presId="urn:microsoft.com/office/officeart/2005/8/layout/vList4"/>
    <dgm:cxn modelId="{1DA4DDA3-2DE5-BC4B-9927-DBF9BB521A04}" type="presParOf" srcId="{881A1A3C-B16D-4F06-8D45-C00FB88BAE55}" destId="{D53A0C3B-F8A6-478B-B5E3-2A572262341B}" srcOrd="0" destOrd="0" presId="urn:microsoft.com/office/officeart/2005/8/layout/vList4"/>
    <dgm:cxn modelId="{02EFEFDB-90B4-A14E-88C9-CA32DD860C0F}" type="presParOf" srcId="{881A1A3C-B16D-4F06-8D45-C00FB88BAE55}" destId="{7C1DD3C4-B56E-4A4A-8C5C-52922583B980}" srcOrd="1" destOrd="0" presId="urn:microsoft.com/office/officeart/2005/8/layout/vList4"/>
    <dgm:cxn modelId="{D37568EA-F997-FA47-BE77-3D6916D6EDBB}" type="presParOf" srcId="{881A1A3C-B16D-4F06-8D45-C00FB88BAE55}" destId="{AE65708E-80E5-41FB-A310-BAC400D52D05}" srcOrd="2" destOrd="0" presId="urn:microsoft.com/office/officeart/2005/8/layout/vList4"/>
    <dgm:cxn modelId="{793F9718-11FA-8C48-A077-2CC31DF57519}" type="presParOf" srcId="{AC574580-F14A-457B-BD63-F2A605496644}" destId="{A5DA6F04-ADD2-482A-BF00-AD0F79C5851D}" srcOrd="1" destOrd="0" presId="urn:microsoft.com/office/officeart/2005/8/layout/vList4"/>
    <dgm:cxn modelId="{2DB66F74-9BCD-6D4B-A625-9CDE4F70476C}" type="presParOf" srcId="{AC574580-F14A-457B-BD63-F2A605496644}" destId="{542DF04C-6387-4022-97B8-9C53F9282054}" srcOrd="2" destOrd="0" presId="urn:microsoft.com/office/officeart/2005/8/layout/vList4"/>
    <dgm:cxn modelId="{156DCE23-06D0-084C-A85D-3E886414F159}" type="presParOf" srcId="{542DF04C-6387-4022-97B8-9C53F9282054}" destId="{03BF00A8-1338-4931-92CB-9B69C4868508}" srcOrd="0" destOrd="0" presId="urn:microsoft.com/office/officeart/2005/8/layout/vList4"/>
    <dgm:cxn modelId="{61E9B804-0F1F-3D4F-914D-0C6D1C4572E8}" type="presParOf" srcId="{542DF04C-6387-4022-97B8-9C53F9282054}" destId="{C3CE25BC-CCD4-45B6-B52B-FD2D4901A957}" srcOrd="1" destOrd="0" presId="urn:microsoft.com/office/officeart/2005/8/layout/vList4"/>
    <dgm:cxn modelId="{CA38FBA4-F285-8345-9642-41E702DE9A34}" type="presParOf" srcId="{542DF04C-6387-4022-97B8-9C53F9282054}" destId="{89CA010B-D3C3-4AFD-B445-A101301808C3}" srcOrd="2" destOrd="0" presId="urn:microsoft.com/office/officeart/2005/8/layout/vList4"/>
    <dgm:cxn modelId="{01D0301C-1777-8C41-B2BD-17346B649328}" type="presParOf" srcId="{AC574580-F14A-457B-BD63-F2A605496644}" destId="{9CF81556-D78F-4543-A83E-A351880A5FAB}" srcOrd="3" destOrd="0" presId="urn:microsoft.com/office/officeart/2005/8/layout/vList4"/>
    <dgm:cxn modelId="{21129F26-05A8-5344-BE11-C3D87EB37C57}" type="presParOf" srcId="{AC574580-F14A-457B-BD63-F2A605496644}" destId="{7D9CDE4E-1106-40F8-9BC4-DE198236D0B4}" srcOrd="4" destOrd="0" presId="urn:microsoft.com/office/officeart/2005/8/layout/vList4"/>
    <dgm:cxn modelId="{1F90D310-766A-E54D-BF7B-3C890FE49069}" type="presParOf" srcId="{7D9CDE4E-1106-40F8-9BC4-DE198236D0B4}" destId="{9ED626E9-4B6D-476F-B7E3-CF51791D7B97}" srcOrd="0" destOrd="0" presId="urn:microsoft.com/office/officeart/2005/8/layout/vList4"/>
    <dgm:cxn modelId="{23BD55A8-5565-1A46-854F-DD4F81F1B1E7}" type="presParOf" srcId="{7D9CDE4E-1106-40F8-9BC4-DE198236D0B4}" destId="{509BF589-1CF6-48DB-9982-89E5482FA9A0}" srcOrd="1" destOrd="0" presId="urn:microsoft.com/office/officeart/2005/8/layout/vList4"/>
    <dgm:cxn modelId="{D97C315A-D0EC-774D-8845-BE221ED1E77F}" type="presParOf" srcId="{7D9CDE4E-1106-40F8-9BC4-DE198236D0B4}" destId="{21939970-0D94-46A3-A708-63EAA98A6ADB}" srcOrd="2" destOrd="0" presId="urn:microsoft.com/office/officeart/2005/8/layout/vList4"/>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3A0C3B-F8A6-478B-B5E3-2A572262341B}">
      <dsp:nvSpPr>
        <dsp:cNvPr id="0" name=""/>
        <dsp:cNvSpPr/>
      </dsp:nvSpPr>
      <dsp:spPr>
        <a:xfrm>
          <a:off x="0" y="0"/>
          <a:ext cx="7950426" cy="1710673"/>
        </a:xfrm>
        <a:prstGeom prst="roundRect">
          <a:avLst>
            <a:gd name="adj" fmla="val 10000"/>
          </a:avLst>
        </a:prstGeom>
        <a:solidFill>
          <a:srgbClr val="DFE9E7"/>
        </a:solidFill>
        <a:ln w="25400" cap="flat" cmpd="sng" algn="ctr">
          <a:solidFill>
            <a:srgbClr val="3D7F64"/>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108000" rIns="60960" bIns="60960" numCol="1" spcCol="1270" anchor="t" anchorCtr="0">
          <a:noAutofit/>
        </a:bodyPr>
        <a:lstStyle/>
        <a:p>
          <a:pPr lvl="0" algn="l" defTabSz="711200">
            <a:lnSpc>
              <a:spcPct val="120000"/>
            </a:lnSpc>
            <a:spcBef>
              <a:spcPct val="0"/>
            </a:spcBef>
            <a:spcAft>
              <a:spcPts val="0"/>
            </a:spcAft>
          </a:pPr>
          <a:r>
            <a:rPr lang="en-US" sz="1600" kern="1200" dirty="0" smtClean="0">
              <a:solidFill>
                <a:schemeClr val="tx1"/>
              </a:solidFill>
            </a:rPr>
            <a:t>Deliverables</a:t>
          </a:r>
          <a:r>
            <a:rPr lang="en-US" sz="1800" kern="1200" dirty="0" smtClean="0">
              <a:solidFill>
                <a:schemeClr val="tx1"/>
              </a:solidFill>
            </a:rPr>
            <a:t>:</a:t>
          </a:r>
          <a:endParaRPr lang="en-IN" sz="1800" kern="1200" dirty="0">
            <a:solidFill>
              <a:schemeClr val="tx1"/>
            </a:solidFill>
          </a:endParaRPr>
        </a:p>
        <a:p>
          <a:pPr marL="114300" lvl="1" indent="-114300" algn="l" defTabSz="622300">
            <a:lnSpc>
              <a:spcPct val="100000"/>
            </a:lnSpc>
            <a:spcBef>
              <a:spcPct val="0"/>
            </a:spcBef>
            <a:spcAft>
              <a:spcPts val="100"/>
            </a:spcAft>
            <a:buChar char="••"/>
          </a:pPr>
          <a:r>
            <a:rPr lang="en-IN" sz="1400" kern="1200" dirty="0" smtClean="0">
              <a:solidFill>
                <a:schemeClr val="tx1"/>
              </a:solidFill>
            </a:rPr>
            <a:t>Specified by contracts.</a:t>
          </a:r>
          <a:endParaRPr lang="en-IN" sz="1400" kern="1200" dirty="0">
            <a:solidFill>
              <a:schemeClr val="tx1"/>
            </a:solidFill>
          </a:endParaRPr>
        </a:p>
        <a:p>
          <a:pPr marL="114300" lvl="1" indent="-114300" algn="l" defTabSz="622300">
            <a:lnSpc>
              <a:spcPct val="100000"/>
            </a:lnSpc>
            <a:spcBef>
              <a:spcPct val="0"/>
            </a:spcBef>
            <a:spcAft>
              <a:spcPts val="100"/>
            </a:spcAft>
            <a:buChar char="••"/>
          </a:pPr>
          <a:r>
            <a:rPr lang="en-IN" sz="1400" kern="1200" dirty="0" smtClean="0">
              <a:solidFill>
                <a:schemeClr val="tx1"/>
              </a:solidFill>
            </a:rPr>
            <a:t>Reviewed, agreed, and signed-off by stakeholders.</a:t>
          </a:r>
          <a:endParaRPr lang="en-IN" sz="1400" kern="1200" dirty="0">
            <a:solidFill>
              <a:schemeClr val="tx1"/>
            </a:solidFill>
          </a:endParaRPr>
        </a:p>
      </dsp:txBody>
      <dsp:txXfrm>
        <a:off x="1761152" y="0"/>
        <a:ext cx="6189273" cy="1710673"/>
      </dsp:txXfrm>
    </dsp:sp>
    <dsp:sp modelId="{7C1DD3C4-B56E-4A4A-8C5C-52922583B980}">
      <dsp:nvSpPr>
        <dsp:cNvPr id="0" name=""/>
        <dsp:cNvSpPr/>
      </dsp:nvSpPr>
      <dsp:spPr>
        <a:xfrm>
          <a:off x="171067" y="171067"/>
          <a:ext cx="1590085" cy="1368538"/>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dsp:style>
    </dsp:sp>
    <dsp:sp modelId="{03BF00A8-1338-4931-92CB-9B69C4868508}">
      <dsp:nvSpPr>
        <dsp:cNvPr id="0" name=""/>
        <dsp:cNvSpPr/>
      </dsp:nvSpPr>
      <dsp:spPr>
        <a:xfrm>
          <a:off x="0" y="1881740"/>
          <a:ext cx="7950426" cy="1710673"/>
        </a:xfrm>
        <a:prstGeom prst="roundRect">
          <a:avLst>
            <a:gd name="adj" fmla="val 10000"/>
          </a:avLst>
        </a:prstGeom>
        <a:solidFill>
          <a:srgbClr val="DFE9E7"/>
        </a:solidFill>
        <a:ln w="25400" cap="flat" cmpd="sng" algn="ctr">
          <a:solidFill>
            <a:srgbClr val="3D7F64"/>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108000" rIns="60960" bIns="60960" numCol="1" spcCol="1270" anchor="t" anchorCtr="0">
          <a:noAutofit/>
        </a:bodyPr>
        <a:lstStyle/>
        <a:p>
          <a:pPr lvl="0" algn="l" defTabSz="711200">
            <a:lnSpc>
              <a:spcPct val="120000"/>
            </a:lnSpc>
            <a:spcBef>
              <a:spcPct val="0"/>
            </a:spcBef>
            <a:spcAft>
              <a:spcPts val="0"/>
            </a:spcAft>
          </a:pPr>
          <a:r>
            <a:rPr lang="en-IN" sz="1600" kern="1200" dirty="0" smtClean="0">
              <a:solidFill>
                <a:schemeClr val="tx1"/>
              </a:solidFill>
            </a:rPr>
            <a:t>Artifacts:</a:t>
          </a:r>
          <a:endParaRPr lang="en-IN" sz="1600" kern="1200" dirty="0">
            <a:solidFill>
              <a:schemeClr val="tx1"/>
            </a:solidFill>
          </a:endParaRPr>
        </a:p>
        <a:p>
          <a:pPr marL="114300" lvl="1" indent="-114300" algn="l" defTabSz="622300">
            <a:lnSpc>
              <a:spcPct val="100000"/>
            </a:lnSpc>
            <a:spcBef>
              <a:spcPct val="0"/>
            </a:spcBef>
            <a:spcAft>
              <a:spcPts val="100"/>
            </a:spcAft>
            <a:buChar char="••"/>
          </a:pPr>
          <a:r>
            <a:rPr lang="en-IN" sz="1400" kern="1200" dirty="0" smtClean="0">
              <a:solidFill>
                <a:schemeClr val="tx1"/>
              </a:solidFill>
            </a:rPr>
            <a:t>Describe aspects of architecture.</a:t>
          </a:r>
          <a:endParaRPr lang="en-IN" sz="1400" kern="1200" dirty="0">
            <a:solidFill>
              <a:schemeClr val="tx1"/>
            </a:solidFill>
          </a:endParaRPr>
        </a:p>
        <a:p>
          <a:pPr marL="114300" lvl="1" indent="-114300" algn="l" defTabSz="622300">
            <a:lnSpc>
              <a:spcPct val="100000"/>
            </a:lnSpc>
            <a:spcBef>
              <a:spcPct val="0"/>
            </a:spcBef>
            <a:spcAft>
              <a:spcPts val="100"/>
            </a:spcAft>
            <a:buChar char="••"/>
          </a:pPr>
          <a:r>
            <a:rPr lang="en-IN" sz="1400" kern="1200" dirty="0" smtClean="0">
              <a:solidFill>
                <a:schemeClr val="tx1"/>
              </a:solidFill>
            </a:rPr>
            <a:t>Are parts of an architecture deliverable.</a:t>
          </a:r>
          <a:endParaRPr lang="en-IN" sz="1400" kern="1200" dirty="0">
            <a:solidFill>
              <a:schemeClr val="tx1"/>
            </a:solidFill>
          </a:endParaRPr>
        </a:p>
        <a:p>
          <a:pPr marL="114300" lvl="1" indent="-114300" algn="l" defTabSz="622300">
            <a:lnSpc>
              <a:spcPct val="100000"/>
            </a:lnSpc>
            <a:spcBef>
              <a:spcPct val="0"/>
            </a:spcBef>
            <a:spcAft>
              <a:spcPts val="100"/>
            </a:spcAft>
            <a:buChar char="••"/>
          </a:pPr>
          <a:r>
            <a:rPr lang="en-IN" sz="1400" kern="1200" dirty="0" smtClean="0">
              <a:solidFill>
                <a:schemeClr val="tx1"/>
              </a:solidFill>
            </a:rPr>
            <a:t>Are matrices, catalogs, or diagrams.</a:t>
          </a:r>
          <a:endParaRPr lang="en-IN" sz="1400" kern="1200" dirty="0">
            <a:solidFill>
              <a:schemeClr val="tx1"/>
            </a:solidFill>
          </a:endParaRPr>
        </a:p>
      </dsp:txBody>
      <dsp:txXfrm>
        <a:off x="1761152" y="1881740"/>
        <a:ext cx="6189273" cy="1710673"/>
      </dsp:txXfrm>
    </dsp:sp>
    <dsp:sp modelId="{C3CE25BC-CCD4-45B6-B52B-FD2D4901A957}">
      <dsp:nvSpPr>
        <dsp:cNvPr id="0" name=""/>
        <dsp:cNvSpPr/>
      </dsp:nvSpPr>
      <dsp:spPr>
        <a:xfrm>
          <a:off x="171067" y="2052807"/>
          <a:ext cx="1590085" cy="1368538"/>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dsp:style>
    </dsp:sp>
    <dsp:sp modelId="{9ED626E9-4B6D-476F-B7E3-CF51791D7B97}">
      <dsp:nvSpPr>
        <dsp:cNvPr id="0" name=""/>
        <dsp:cNvSpPr/>
      </dsp:nvSpPr>
      <dsp:spPr>
        <a:xfrm>
          <a:off x="0" y="3763480"/>
          <a:ext cx="7950426" cy="1710673"/>
        </a:xfrm>
        <a:prstGeom prst="roundRect">
          <a:avLst>
            <a:gd name="adj" fmla="val 10000"/>
          </a:avLst>
        </a:prstGeom>
        <a:solidFill>
          <a:srgbClr val="DFE9E7"/>
        </a:solidFill>
        <a:ln w="25400" cap="flat" cmpd="sng" algn="ctr">
          <a:solidFill>
            <a:srgbClr val="3D7F64"/>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108000" rIns="60960" bIns="60960" numCol="1" spcCol="1270" anchor="t" anchorCtr="0">
          <a:noAutofit/>
        </a:bodyPr>
        <a:lstStyle/>
        <a:p>
          <a:pPr lvl="0" algn="l" defTabSz="711200">
            <a:lnSpc>
              <a:spcPct val="100000"/>
            </a:lnSpc>
            <a:spcBef>
              <a:spcPct val="0"/>
            </a:spcBef>
            <a:spcAft>
              <a:spcPts val="0"/>
            </a:spcAft>
          </a:pPr>
          <a:r>
            <a:rPr lang="en-IN" sz="1600" kern="1200" dirty="0" smtClean="0">
              <a:solidFill>
                <a:schemeClr val="tx1"/>
              </a:solidFill>
            </a:rPr>
            <a:t>Building Blocks:</a:t>
          </a:r>
          <a:endParaRPr lang="en-IN" sz="1600" kern="1200" dirty="0">
            <a:solidFill>
              <a:schemeClr val="tx1"/>
            </a:solidFill>
          </a:endParaRPr>
        </a:p>
        <a:p>
          <a:pPr marL="114300" lvl="1" indent="-114300" algn="l" defTabSz="622300">
            <a:lnSpc>
              <a:spcPct val="120000"/>
            </a:lnSpc>
            <a:spcBef>
              <a:spcPct val="0"/>
            </a:spcBef>
            <a:spcAft>
              <a:spcPts val="100"/>
            </a:spcAft>
            <a:buChar char="••"/>
          </a:pPr>
          <a:r>
            <a:rPr lang="en-IN" sz="1400" kern="1200" dirty="0" smtClean="0">
              <a:solidFill>
                <a:schemeClr val="tx1"/>
              </a:solidFill>
            </a:rPr>
            <a:t>Are the most elementary components.</a:t>
          </a:r>
          <a:endParaRPr lang="en-IN" sz="1400" kern="1200" dirty="0">
            <a:solidFill>
              <a:schemeClr val="tx1"/>
            </a:solidFill>
          </a:endParaRPr>
        </a:p>
        <a:p>
          <a:pPr marL="114300" lvl="1" indent="-114300" algn="l" defTabSz="622300">
            <a:lnSpc>
              <a:spcPct val="120000"/>
            </a:lnSpc>
            <a:spcBef>
              <a:spcPct val="0"/>
            </a:spcBef>
            <a:spcAft>
              <a:spcPts val="100"/>
            </a:spcAft>
            <a:buChar char="••"/>
          </a:pPr>
          <a:r>
            <a:rPr lang="en-IN" sz="1400" kern="1200" dirty="0" smtClean="0">
              <a:solidFill>
                <a:schemeClr val="tx1"/>
              </a:solidFill>
            </a:rPr>
            <a:t>Are parts of an architecture artifact. </a:t>
          </a:r>
          <a:endParaRPr lang="en-IN" sz="1400" kern="1200" dirty="0">
            <a:solidFill>
              <a:schemeClr val="tx1"/>
            </a:solidFill>
          </a:endParaRPr>
        </a:p>
        <a:p>
          <a:pPr marL="114300" lvl="1" indent="-114300" algn="l" defTabSz="622300">
            <a:lnSpc>
              <a:spcPct val="120000"/>
            </a:lnSpc>
            <a:spcBef>
              <a:spcPct val="0"/>
            </a:spcBef>
            <a:spcAft>
              <a:spcPts val="100"/>
            </a:spcAft>
            <a:buChar char="••"/>
          </a:pPr>
          <a:r>
            <a:rPr lang="en-IN" sz="1400" kern="1200" dirty="0" smtClean="0">
              <a:solidFill>
                <a:schemeClr val="tx1"/>
              </a:solidFill>
            </a:rPr>
            <a:t>Have two interpretations – as IT component and as the instantiation of a building block type in the content metamodel.</a:t>
          </a:r>
          <a:endParaRPr lang="en-IN" sz="1400" kern="1200" dirty="0">
            <a:solidFill>
              <a:schemeClr val="tx1"/>
            </a:solidFill>
          </a:endParaRPr>
        </a:p>
        <a:p>
          <a:pPr marL="114300" lvl="1" indent="-114300" algn="l" defTabSz="622300">
            <a:lnSpc>
              <a:spcPct val="120000"/>
            </a:lnSpc>
            <a:spcBef>
              <a:spcPct val="0"/>
            </a:spcBef>
            <a:spcAft>
              <a:spcPts val="100"/>
            </a:spcAft>
            <a:buChar char="••"/>
          </a:pPr>
          <a:r>
            <a:rPr lang="en-IN" sz="1400" kern="1200" dirty="0" smtClean="0">
              <a:solidFill>
                <a:schemeClr val="tx1"/>
              </a:solidFill>
            </a:rPr>
            <a:t>Have two types – architecture building blocks and solution building blocks.</a:t>
          </a:r>
          <a:endParaRPr lang="en-IN" sz="1400" kern="1200" dirty="0">
            <a:solidFill>
              <a:schemeClr val="tx1"/>
            </a:solidFill>
          </a:endParaRPr>
        </a:p>
      </dsp:txBody>
      <dsp:txXfrm>
        <a:off x="1761152" y="3763480"/>
        <a:ext cx="6189273" cy="1710673"/>
      </dsp:txXfrm>
    </dsp:sp>
    <dsp:sp modelId="{509BF589-1CF6-48DB-9982-89E5482FA9A0}">
      <dsp:nvSpPr>
        <dsp:cNvPr id="0" name=""/>
        <dsp:cNvSpPr/>
      </dsp:nvSpPr>
      <dsp:spPr>
        <a:xfrm>
          <a:off x="171067" y="3934548"/>
          <a:ext cx="1590085" cy="1368538"/>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wrap="square" lIns="96661" tIns="48331" rIns="96661" bIns="48331" numCol="1" anchor="t" anchorCtr="0" compatLnSpc="1">
            <a:prstTxWarp prst="textNoShape">
              <a:avLst/>
            </a:prstTxWarp>
          </a:bodyPr>
          <a:lstStyle>
            <a:lvl1pPr>
              <a:defRPr sz="1300">
                <a:latin typeface="Arial" charset="0"/>
              </a:defRPr>
            </a:lvl1pPr>
          </a:lstStyle>
          <a:p>
            <a:pPr>
              <a:defRPr/>
            </a:pPr>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wrap="square" lIns="96661" tIns="48331" rIns="96661" bIns="48331" numCol="1" anchor="t" anchorCtr="0" compatLnSpc="1">
            <a:prstTxWarp prst="textNoShape">
              <a:avLst/>
            </a:prstTxWarp>
          </a:bodyPr>
          <a:lstStyle>
            <a:lvl1pPr algn="r">
              <a:defRPr sz="1300">
                <a:latin typeface="Arial" charset="0"/>
              </a:defRPr>
            </a:lvl1pPr>
          </a:lstStyle>
          <a:p>
            <a:pPr>
              <a:defRPr/>
            </a:pPr>
            <a:fld id="{AC7F39A4-E525-496C-B475-2954D47F81ED}" type="datetimeFigureOut">
              <a:rPr lang="en-US"/>
              <a:pPr>
                <a:defRPr/>
              </a:pPr>
              <a:t>4/3/2015</a:t>
            </a:fld>
            <a:endParaRPr lang="en-US"/>
          </a:p>
        </p:txBody>
      </p:sp>
      <p:sp>
        <p:nvSpPr>
          <p:cNvPr id="4" name="Footer Placeholder 3"/>
          <p:cNvSpPr>
            <a:spLocks noGrp="1"/>
          </p:cNvSpPr>
          <p:nvPr>
            <p:ph type="ftr" sz="quarter" idx="2"/>
          </p:nvPr>
        </p:nvSpPr>
        <p:spPr>
          <a:xfrm>
            <a:off x="0" y="9120188"/>
            <a:ext cx="3170238" cy="479425"/>
          </a:xfrm>
          <a:prstGeom prst="rect">
            <a:avLst/>
          </a:prstGeom>
        </p:spPr>
        <p:txBody>
          <a:bodyPr vert="horz" wrap="square" lIns="96661" tIns="48331" rIns="96661" bIns="48331" numCol="1" anchor="b" anchorCtr="0" compatLnSpc="1">
            <a:prstTxWarp prst="textNoShape">
              <a:avLst/>
            </a:prstTxWarp>
          </a:bodyPr>
          <a:lstStyle>
            <a:lvl1pPr>
              <a:defRPr sz="1300">
                <a:latin typeface="Arial" charset="0"/>
              </a:defRPr>
            </a:lvl1pPr>
          </a:lstStyle>
          <a:p>
            <a:pPr>
              <a:defRPr/>
            </a:pPr>
            <a:endParaRPr lang="en-US"/>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wrap="square" lIns="96661" tIns="48331" rIns="96661" bIns="48331" numCol="1" anchor="b" anchorCtr="0" compatLnSpc="1">
            <a:prstTxWarp prst="textNoShape">
              <a:avLst/>
            </a:prstTxWarp>
          </a:bodyPr>
          <a:lstStyle>
            <a:lvl1pPr algn="r">
              <a:defRPr sz="1300">
                <a:latin typeface="Arial" charset="0"/>
              </a:defRPr>
            </a:lvl1pPr>
          </a:lstStyle>
          <a:p>
            <a:pPr>
              <a:defRPr/>
            </a:pPr>
            <a:fld id="{121E4944-285E-4FE8-97FC-B213CC96A185}" type="slidenum">
              <a:rPr lang="en-US"/>
              <a:pPr>
                <a:defRPr/>
              </a:pPr>
              <a:t>‹#›</a:t>
            </a:fld>
            <a:endParaRPr lang="en-US"/>
          </a:p>
        </p:txBody>
      </p:sp>
    </p:spTree>
    <p:extLst>
      <p:ext uri="{BB962C8B-B14F-4D97-AF65-F5344CB8AC3E}">
        <p14:creationId xmlns:p14="http://schemas.microsoft.com/office/powerpoint/2010/main" val="249696115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wrap="square" lIns="96661" tIns="48331" rIns="96661" bIns="48331" numCol="1" anchor="t" anchorCtr="0" compatLnSpc="1">
            <a:prstTxWarp prst="textNoShape">
              <a:avLst/>
            </a:prstTxWarp>
          </a:bodyPr>
          <a:lstStyle>
            <a:lvl1pPr>
              <a:defRPr sz="1300">
                <a:latin typeface="Calibri" pitchFamily="34" charset="0"/>
              </a:defRPr>
            </a:lvl1pPr>
          </a:lstStyle>
          <a:p>
            <a:pPr>
              <a:defRPr/>
            </a:pPr>
            <a:endParaRPr lang="en-US"/>
          </a:p>
        </p:txBody>
      </p:sp>
      <p:sp>
        <p:nvSpPr>
          <p:cNvPr id="3" name="Date Placeholder 2"/>
          <p:cNvSpPr>
            <a:spLocks noGrp="1"/>
          </p:cNvSpPr>
          <p:nvPr>
            <p:ph type="dt" idx="1"/>
          </p:nvPr>
        </p:nvSpPr>
        <p:spPr>
          <a:xfrm>
            <a:off x="4143375" y="0"/>
            <a:ext cx="3170238" cy="479425"/>
          </a:xfrm>
          <a:prstGeom prst="rect">
            <a:avLst/>
          </a:prstGeom>
        </p:spPr>
        <p:txBody>
          <a:bodyPr vert="horz" wrap="square" lIns="96661" tIns="48331" rIns="96661" bIns="48331" numCol="1" anchor="t" anchorCtr="0" compatLnSpc="1">
            <a:prstTxWarp prst="textNoShape">
              <a:avLst/>
            </a:prstTxWarp>
          </a:bodyPr>
          <a:lstStyle>
            <a:lvl1pPr algn="r">
              <a:defRPr sz="1300">
                <a:latin typeface="Calibri" pitchFamily="34" charset="0"/>
              </a:defRPr>
            </a:lvl1pPr>
          </a:lstStyle>
          <a:p>
            <a:pPr>
              <a:defRPr/>
            </a:pPr>
            <a:fld id="{6AE10D7D-9F5D-4BBD-B38A-C1FA2C528AC6}" type="datetimeFigureOut">
              <a:rPr lang="en-US"/>
              <a:pPr>
                <a:defRPr/>
              </a:pPr>
              <a:t>4/3/2015</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pPr lvl="0"/>
            <a:endParaRPr lang="en-US" noProof="0" smtClean="0"/>
          </a:p>
        </p:txBody>
      </p:sp>
      <p:sp>
        <p:nvSpPr>
          <p:cNvPr id="5" name="Notes Placeholder 4"/>
          <p:cNvSpPr>
            <a:spLocks noGrp="1"/>
          </p:cNvSpPr>
          <p:nvPr>
            <p:ph type="body" sz="quarter" idx="3"/>
          </p:nvPr>
        </p:nvSpPr>
        <p:spPr>
          <a:xfrm>
            <a:off x="731838" y="4560888"/>
            <a:ext cx="5851525" cy="4319587"/>
          </a:xfrm>
          <a:prstGeom prst="rect">
            <a:avLst/>
          </a:prstGeom>
        </p:spPr>
        <p:txBody>
          <a:bodyPr vert="horz" lIns="96661" tIns="48331" rIns="96661" bIns="48331" rtlCol="0">
            <a:normAutofit/>
          </a:body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p>
        </p:txBody>
      </p:sp>
      <p:sp>
        <p:nvSpPr>
          <p:cNvPr id="6" name="Footer Placeholder 5"/>
          <p:cNvSpPr>
            <a:spLocks noGrp="1"/>
          </p:cNvSpPr>
          <p:nvPr>
            <p:ph type="ftr" sz="quarter" idx="4"/>
          </p:nvPr>
        </p:nvSpPr>
        <p:spPr>
          <a:xfrm>
            <a:off x="0" y="9120188"/>
            <a:ext cx="3170238" cy="479425"/>
          </a:xfrm>
          <a:prstGeom prst="rect">
            <a:avLst/>
          </a:prstGeom>
        </p:spPr>
        <p:txBody>
          <a:bodyPr vert="horz" wrap="square" lIns="96661" tIns="48331" rIns="96661" bIns="48331" numCol="1" anchor="b" anchorCtr="0" compatLnSpc="1">
            <a:prstTxWarp prst="textNoShape">
              <a:avLst/>
            </a:prstTxWarp>
          </a:bodyPr>
          <a:lstStyle>
            <a:lvl1pPr>
              <a:defRPr sz="1300">
                <a:latin typeface="Calibri" pitchFamily="34" charset="0"/>
              </a:defRPr>
            </a:lvl1pPr>
          </a:lstStyle>
          <a:p>
            <a:pPr>
              <a:defRPr/>
            </a:pPr>
            <a:endParaRPr lang="en-US"/>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wrap="square" lIns="96661" tIns="48331" rIns="96661" bIns="48331" numCol="1" anchor="b" anchorCtr="0" compatLnSpc="1">
            <a:prstTxWarp prst="textNoShape">
              <a:avLst/>
            </a:prstTxWarp>
          </a:bodyPr>
          <a:lstStyle>
            <a:lvl1pPr algn="r">
              <a:defRPr sz="1300">
                <a:latin typeface="Calibri" pitchFamily="34" charset="0"/>
              </a:defRPr>
            </a:lvl1pPr>
          </a:lstStyle>
          <a:p>
            <a:pPr>
              <a:defRPr/>
            </a:pPr>
            <a:fld id="{E63FB834-11D4-4FEA-AF83-0ACE60CB9A73}" type="slidenum">
              <a:rPr lang="en-US"/>
              <a:pPr>
                <a:defRPr/>
              </a:pPr>
              <a:t>‹#›</a:t>
            </a:fld>
            <a:endParaRPr lang="en-US"/>
          </a:p>
        </p:txBody>
      </p:sp>
    </p:spTree>
    <p:extLst>
      <p:ext uri="{BB962C8B-B14F-4D97-AF65-F5344CB8AC3E}">
        <p14:creationId xmlns:p14="http://schemas.microsoft.com/office/powerpoint/2010/main" val="182465315"/>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Tree>
    <p:extLst>
      <p:ext uri="{BB962C8B-B14F-4D97-AF65-F5344CB8AC3E}">
        <p14:creationId xmlns:p14="http://schemas.microsoft.com/office/powerpoint/2010/main" val="556726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10274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102743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grpSp>
        <p:nvGrpSpPr>
          <p:cNvPr id="9" name="Group 8"/>
          <p:cNvGrpSpPr/>
          <p:nvPr userDrawn="1"/>
        </p:nvGrpSpPr>
        <p:grpSpPr>
          <a:xfrm>
            <a:off x="0" y="0"/>
            <a:ext cx="9144000" cy="6858000"/>
            <a:chOff x="0" y="0"/>
            <a:chExt cx="9144000" cy="685800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1" name="Picture 10"/>
            <p:cNvPicPr>
              <a:picLocks noChangeAspect="1"/>
            </p:cNvPicPr>
            <p:nvPr userDrawn="1"/>
          </p:nvPicPr>
          <p:blipFill rotWithShape="1">
            <a:blip r:embed="rId3" cstate="print">
              <a:extLst>
                <a:ext uri="{28A0092B-C50C-407E-A947-70E740481C1C}">
                  <a14:useLocalDpi xmlns:a14="http://schemas.microsoft.com/office/drawing/2010/main" val="0"/>
                </a:ext>
              </a:extLst>
            </a:blip>
            <a:srcRect l="4394" t="8520" r="3340" b="3381"/>
            <a:stretch/>
          </p:blipFill>
          <p:spPr>
            <a:xfrm>
              <a:off x="1437140" y="1636053"/>
              <a:ext cx="2825400" cy="1027628"/>
            </a:xfrm>
            <a:prstGeom prst="rect">
              <a:avLst/>
            </a:prstGeom>
          </p:spPr>
        </p:pic>
      </p:grpSp>
      <p:sp>
        <p:nvSpPr>
          <p:cNvPr id="35" name="TextBox 34"/>
          <p:cNvSpPr txBox="1">
            <a:spLocks noChangeArrowheads="1"/>
          </p:cNvSpPr>
          <p:nvPr userDrawn="1"/>
        </p:nvSpPr>
        <p:spPr bwMode="auto">
          <a:xfrm>
            <a:off x="0" y="4964397"/>
            <a:ext cx="9144000" cy="769441"/>
          </a:xfrm>
          <a:prstGeom prst="rect">
            <a:avLst/>
          </a:prstGeom>
          <a:solidFill>
            <a:srgbClr val="087E62"/>
          </a:solidFill>
          <a:ln>
            <a:noFill/>
          </a:ln>
          <a:extLst/>
        </p:spPr>
        <p:txBody>
          <a:bodyPr wrap="square" anchor="ctr">
            <a:spAutoFit/>
          </a:bodyPr>
          <a:lstStyle>
            <a:lvl1pPr eaLnBrk="0" hangingPunct="0">
              <a:defRPr sz="2400">
                <a:solidFill>
                  <a:srgbClr val="CF0E30"/>
                </a:solidFill>
                <a:latin typeface="Arial" pitchFamily="34" charset="0"/>
                <a:ea typeface="ＭＳ Ｐゴシック" pitchFamily="34" charset="-128"/>
              </a:defRPr>
            </a:lvl1pPr>
            <a:lvl2pPr marL="742950" indent="-285750" eaLnBrk="0" hangingPunct="0">
              <a:defRPr sz="2400">
                <a:solidFill>
                  <a:srgbClr val="CF0E30"/>
                </a:solidFill>
                <a:latin typeface="Arial" pitchFamily="34" charset="0"/>
                <a:ea typeface="ＭＳ Ｐゴシック" pitchFamily="34" charset="-128"/>
              </a:defRPr>
            </a:lvl2pPr>
            <a:lvl3pPr marL="1143000" indent="-228600" eaLnBrk="0" hangingPunct="0">
              <a:defRPr sz="2400">
                <a:solidFill>
                  <a:srgbClr val="CF0E30"/>
                </a:solidFill>
                <a:latin typeface="Arial" pitchFamily="34" charset="0"/>
                <a:ea typeface="ＭＳ Ｐゴシック" pitchFamily="34" charset="-128"/>
              </a:defRPr>
            </a:lvl3pPr>
            <a:lvl4pPr marL="1600200" indent="-228600" eaLnBrk="0" hangingPunct="0">
              <a:defRPr sz="2400">
                <a:solidFill>
                  <a:srgbClr val="CF0E30"/>
                </a:solidFill>
                <a:latin typeface="Arial" pitchFamily="34" charset="0"/>
                <a:ea typeface="ＭＳ Ｐゴシック" pitchFamily="34" charset="-128"/>
              </a:defRPr>
            </a:lvl4pPr>
            <a:lvl5pPr marL="2057400" indent="-228600" eaLnBrk="0" hangingPunct="0">
              <a:defRPr sz="2400">
                <a:solidFill>
                  <a:srgbClr val="CF0E30"/>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rgbClr val="CF0E30"/>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rgbClr val="CF0E30"/>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rgbClr val="CF0E30"/>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rgbClr val="CF0E30"/>
                </a:solidFill>
                <a:latin typeface="Arial" pitchFamily="34" charset="0"/>
                <a:ea typeface="ＭＳ Ｐゴシック" pitchFamily="34" charset="-128"/>
              </a:defRPr>
            </a:lvl9pPr>
          </a:lstStyle>
          <a:p>
            <a:pPr algn="ctr" eaLnBrk="1" hangingPunct="1">
              <a:defRPr/>
            </a:pPr>
            <a:endParaRPr lang="en-US" sz="1100" dirty="0" smtClean="0">
              <a:solidFill>
                <a:schemeClr val="bg1"/>
              </a:solidFill>
            </a:endParaRPr>
          </a:p>
          <a:p>
            <a:pPr algn="ctr" eaLnBrk="1" hangingPunct="1">
              <a:defRPr/>
            </a:pPr>
            <a:r>
              <a:rPr lang="en-US" sz="2100" dirty="0" smtClean="0">
                <a:solidFill>
                  <a:schemeClr val="bg1"/>
                </a:solidFill>
              </a:rPr>
              <a:t>Artifacts and Deliverables</a:t>
            </a:r>
          </a:p>
          <a:p>
            <a:pPr algn="ctr" eaLnBrk="1" hangingPunct="1">
              <a:defRPr/>
            </a:pPr>
            <a:endParaRPr lang="en-US" sz="1100" dirty="0" smtClean="0">
              <a:solidFill>
                <a:schemeClr val="bg1"/>
              </a:solidFill>
            </a:endParaRPr>
          </a:p>
        </p:txBody>
      </p:sp>
      <p:sp>
        <p:nvSpPr>
          <p:cNvPr id="37" name="Rectangle 14"/>
          <p:cNvSpPr>
            <a:spLocks noChangeArrowheads="1"/>
          </p:cNvSpPr>
          <p:nvPr userDrawn="1"/>
        </p:nvSpPr>
        <p:spPr bwMode="auto">
          <a:xfrm>
            <a:off x="2254250" y="6126049"/>
            <a:ext cx="50355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sz="800" dirty="0" smtClean="0">
                <a:solidFill>
                  <a:srgbClr val="404040"/>
                </a:solidFill>
              </a:rPr>
              <a:t>TOGAF is </a:t>
            </a:r>
            <a:r>
              <a:rPr lang="en-US" sz="800" dirty="0">
                <a:solidFill>
                  <a:srgbClr val="404040"/>
                </a:solidFill>
              </a:rPr>
              <a:t>a registered trademark of The Open Group in the United States and other </a:t>
            </a:r>
            <a:r>
              <a:rPr lang="en-US" sz="800" dirty="0" smtClean="0">
                <a:solidFill>
                  <a:srgbClr val="404040"/>
                </a:solidFill>
              </a:rPr>
              <a:t>countries.</a:t>
            </a:r>
            <a:endParaRPr lang="en-US" sz="800" dirty="0">
              <a:solidFill>
                <a:srgbClr val="404040"/>
              </a:solidFill>
            </a:endParaRPr>
          </a:p>
          <a:p>
            <a:pPr algn="ctr"/>
            <a:r>
              <a:rPr lang="en-IN" sz="800" dirty="0">
                <a:solidFill>
                  <a:srgbClr val="404040"/>
                </a:solidFill>
              </a:rPr>
              <a:t>Copyright © </a:t>
            </a:r>
            <a:r>
              <a:rPr lang="en-IN" sz="800" dirty="0" smtClean="0">
                <a:solidFill>
                  <a:srgbClr val="404040"/>
                </a:solidFill>
              </a:rPr>
              <a:t>2013, </a:t>
            </a:r>
            <a:r>
              <a:rPr lang="en-IN" sz="800" dirty="0">
                <a:solidFill>
                  <a:srgbClr val="404040"/>
                </a:solidFill>
              </a:rPr>
              <a:t>ITpreneurs Nederland </a:t>
            </a:r>
            <a:r>
              <a:rPr lang="en-IN" sz="800" dirty="0" smtClean="0">
                <a:solidFill>
                  <a:srgbClr val="404040"/>
                </a:solidFill>
              </a:rPr>
              <a:t>B.V</a:t>
            </a:r>
            <a:r>
              <a:rPr lang="en-IN" sz="800" dirty="0">
                <a:solidFill>
                  <a:srgbClr val="404040"/>
                </a:solidFill>
              </a:rPr>
              <a:t>. All rights reserved.</a:t>
            </a:r>
          </a:p>
        </p:txBody>
      </p:sp>
      <p:sp>
        <p:nvSpPr>
          <p:cNvPr id="8" name="Rectangle 7"/>
          <p:cNvSpPr/>
          <p:nvPr userDrawn="1"/>
        </p:nvSpPr>
        <p:spPr>
          <a:xfrm>
            <a:off x="8182280" y="4537695"/>
            <a:ext cx="920445" cy="246221"/>
          </a:xfrm>
          <a:prstGeom prst="rect">
            <a:avLst/>
          </a:prstGeom>
        </p:spPr>
        <p:txBody>
          <a:bodyPr wrap="none">
            <a:spAutoFit/>
          </a:bodyPr>
          <a:lstStyle/>
          <a:p>
            <a:pPr algn="r" eaLnBrk="1" hangingPunct="1">
              <a:defRPr/>
            </a:pPr>
            <a:r>
              <a:rPr lang="en-IN" sz="1000" dirty="0" smtClean="0">
                <a:solidFill>
                  <a:schemeClr val="bg1">
                    <a:lumMod val="50000"/>
                  </a:schemeClr>
                </a:solidFill>
              </a:rPr>
              <a:t>release 2.1.1</a:t>
            </a:r>
          </a:p>
        </p:txBody>
      </p:sp>
      <p:sp>
        <p:nvSpPr>
          <p:cNvPr id="12" name="TextBox 11"/>
          <p:cNvSpPr txBox="1">
            <a:spLocks noChangeArrowheads="1"/>
          </p:cNvSpPr>
          <p:nvPr userDrawn="1"/>
        </p:nvSpPr>
        <p:spPr bwMode="auto">
          <a:xfrm>
            <a:off x="4300984" y="1950309"/>
            <a:ext cx="47160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rgbClr val="CF0E30"/>
                </a:solidFill>
                <a:latin typeface="Arial" pitchFamily="34" charset="0"/>
                <a:ea typeface="ＭＳ Ｐゴシック" pitchFamily="34" charset="-128"/>
              </a:defRPr>
            </a:lvl1pPr>
            <a:lvl2pPr marL="742950" indent="-285750" eaLnBrk="0" hangingPunct="0">
              <a:defRPr sz="2400">
                <a:solidFill>
                  <a:srgbClr val="CF0E30"/>
                </a:solidFill>
                <a:latin typeface="Arial" pitchFamily="34" charset="0"/>
                <a:ea typeface="ＭＳ Ｐゴシック" pitchFamily="34" charset="-128"/>
              </a:defRPr>
            </a:lvl2pPr>
            <a:lvl3pPr marL="1143000" indent="-228600" eaLnBrk="0" hangingPunct="0">
              <a:defRPr sz="2400">
                <a:solidFill>
                  <a:srgbClr val="CF0E30"/>
                </a:solidFill>
                <a:latin typeface="Arial" pitchFamily="34" charset="0"/>
                <a:ea typeface="ＭＳ Ｐゴシック" pitchFamily="34" charset="-128"/>
              </a:defRPr>
            </a:lvl3pPr>
            <a:lvl4pPr marL="1600200" indent="-228600" eaLnBrk="0" hangingPunct="0">
              <a:defRPr sz="2400">
                <a:solidFill>
                  <a:srgbClr val="CF0E30"/>
                </a:solidFill>
                <a:latin typeface="Arial" pitchFamily="34" charset="0"/>
                <a:ea typeface="ＭＳ Ｐゴシック" pitchFamily="34" charset="-128"/>
              </a:defRPr>
            </a:lvl4pPr>
            <a:lvl5pPr marL="2057400" indent="-228600" eaLnBrk="0" hangingPunct="0">
              <a:defRPr sz="2400">
                <a:solidFill>
                  <a:srgbClr val="CF0E30"/>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rgbClr val="CF0E30"/>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rgbClr val="CF0E30"/>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rgbClr val="CF0E30"/>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rgbClr val="CF0E30"/>
                </a:solidFill>
                <a:latin typeface="Arial" pitchFamily="34" charset="0"/>
                <a:ea typeface="ＭＳ Ｐゴシック" pitchFamily="34" charset="-128"/>
              </a:defRPr>
            </a:lvl9pPr>
          </a:lstStyle>
          <a:p>
            <a:pPr>
              <a:spcAft>
                <a:spcPts val="0"/>
              </a:spcAft>
              <a:defRPr/>
            </a:pPr>
            <a:r>
              <a:rPr lang="en-US" sz="2000" b="1" dirty="0" smtClean="0">
                <a:solidFill>
                  <a:schemeClr val="tx1"/>
                </a:solidFill>
              </a:rPr>
              <a:t>TOGAF</a:t>
            </a:r>
            <a:r>
              <a:rPr lang="en-US" sz="2000" b="1" baseline="30000" dirty="0" smtClean="0">
                <a:solidFill>
                  <a:schemeClr val="tx1"/>
                </a:solidFill>
                <a:latin typeface="Arial"/>
                <a:cs typeface="Arial"/>
                <a:sym typeface="Symbol"/>
              </a:rPr>
              <a:t>®</a:t>
            </a:r>
            <a:r>
              <a:rPr lang="en-US" sz="2000" b="1" dirty="0" smtClean="0">
                <a:solidFill>
                  <a:schemeClr val="tx1"/>
                </a:solidFill>
              </a:rPr>
              <a:t> 9 </a:t>
            </a:r>
            <a:r>
              <a:rPr lang="en-IN" sz="2000" b="1" dirty="0" smtClean="0">
                <a:solidFill>
                  <a:schemeClr val="tx1"/>
                </a:solidFill>
              </a:rPr>
              <a:t>Level 1 and 2 Combined</a:t>
            </a:r>
            <a:endParaRPr lang="en-US" sz="3600" b="1" dirty="0" smtClean="0">
              <a:solidFill>
                <a:schemeClr val="tx1"/>
              </a:solidFill>
            </a:endParaRPr>
          </a:p>
        </p:txBody>
      </p:sp>
    </p:spTree>
    <p:extLst>
      <p:ext uri="{BB962C8B-B14F-4D97-AF65-F5344CB8AC3E}">
        <p14:creationId xmlns:p14="http://schemas.microsoft.com/office/powerpoint/2010/main" val="1725595116"/>
      </p:ext>
    </p:extLst>
  </p:cSld>
  <p:clrMapOvr>
    <a:masterClrMapping/>
  </p:clrMapOvr>
  <p:transition/>
  <p:timing>
    <p:tnLst>
      <p:par>
        <p:cTn id="1" dur="indefinite" restart="never" nodeType="tmRoot"/>
      </p:par>
    </p:tn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5_First Tab_Slide_with Left Tab_2">
    <p:spTree>
      <p:nvGrpSpPr>
        <p:cNvPr id="1" name=""/>
        <p:cNvGrpSpPr/>
        <p:nvPr/>
      </p:nvGrpSpPr>
      <p:grpSpPr>
        <a:xfrm>
          <a:off x="0" y="0"/>
          <a:ext cx="0" cy="0"/>
          <a:chOff x="0" y="0"/>
          <a:chExt cx="0" cy="0"/>
        </a:xfrm>
      </p:grpSpPr>
      <p:sp>
        <p:nvSpPr>
          <p:cNvPr id="4" name="Text Placeholder 1"/>
          <p:cNvSpPr>
            <a:spLocks noGrp="1"/>
          </p:cNvSpPr>
          <p:nvPr>
            <p:ph idx="1"/>
          </p:nvPr>
        </p:nvSpPr>
        <p:spPr>
          <a:xfrm>
            <a:off x="457511" y="987990"/>
            <a:ext cx="8229600" cy="5312141"/>
          </a:xfrm>
          <a:prstGeom prst="rect">
            <a:avLst/>
          </a:prstGeom>
        </p:spPr>
        <p:txBody>
          <a:bodyPr vert="horz" lIns="91440" tIns="45720" rIns="91440" bIns="45720" rtlCol="0">
            <a:normAutofit/>
          </a:bodyPr>
          <a:lstStyle>
            <a:lvl1pPr>
              <a:defRPr sz="2000"/>
            </a:lvl1pPr>
            <a:lvl2pPr marL="0" indent="0">
              <a:buFont typeface="Wingdings 3" pitchFamily="18" charset="2"/>
              <a:buNone/>
              <a:defRPr sz="1800"/>
            </a:lvl2pPr>
            <a:lvl3pPr marL="461963" indent="-274638">
              <a:buFont typeface="Wingdings 3" pitchFamily="18" charset="2"/>
              <a:buChar char=""/>
              <a:defRPr sz="1600"/>
            </a:lvl3pPr>
            <a:lvl4pPr marL="738188" indent="-277813">
              <a:buFont typeface="Wingdings 3" pitchFamily="18" charset="2"/>
              <a:buChar char=""/>
              <a:defRPr sz="1400"/>
            </a:lvl4pPr>
            <a:lvl5pPr marL="973138" indent="-242888" defTabSz="896938">
              <a:buFont typeface="Wingdings 3" pitchFamily="18" charset="2"/>
              <a:buChar char=""/>
              <a:tabLst/>
              <a:defRPr sz="12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2" name="Title 1"/>
          <p:cNvSpPr>
            <a:spLocks noGrp="1"/>
          </p:cNvSpPr>
          <p:nvPr>
            <p:ph type="title"/>
          </p:nvPr>
        </p:nvSpPr>
        <p:spPr/>
        <p:txBody>
          <a:bodyPr/>
          <a:lstStyle/>
          <a:p>
            <a:r>
              <a:rPr lang="en-US" smtClean="0"/>
              <a:t>Click to edit Master title style</a:t>
            </a:r>
            <a:endParaRPr lang="en-IN" dirty="0"/>
          </a:p>
        </p:txBody>
      </p:sp>
    </p:spTree>
    <p:extLst>
      <p:ext uri="{BB962C8B-B14F-4D97-AF65-F5344CB8AC3E}">
        <p14:creationId xmlns:p14="http://schemas.microsoft.com/office/powerpoint/2010/main" val="2919746110"/>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_First Tab_Slide_with Left Tab_2">
    <p:spTree>
      <p:nvGrpSpPr>
        <p:cNvPr id="1" name=""/>
        <p:cNvGrpSpPr/>
        <p:nvPr/>
      </p:nvGrpSpPr>
      <p:grpSpPr>
        <a:xfrm>
          <a:off x="0" y="0"/>
          <a:ext cx="0" cy="0"/>
          <a:chOff x="0" y="0"/>
          <a:chExt cx="0" cy="0"/>
        </a:xfrm>
      </p:grpSpPr>
      <p:sp>
        <p:nvSpPr>
          <p:cNvPr id="4" name="Text Placeholder 1"/>
          <p:cNvSpPr>
            <a:spLocks noGrp="1"/>
          </p:cNvSpPr>
          <p:nvPr>
            <p:ph idx="1"/>
          </p:nvPr>
        </p:nvSpPr>
        <p:spPr>
          <a:xfrm>
            <a:off x="457511" y="987990"/>
            <a:ext cx="8229600" cy="5312141"/>
          </a:xfrm>
          <a:prstGeom prst="rect">
            <a:avLst/>
          </a:prstGeom>
        </p:spPr>
        <p:txBody>
          <a:bodyPr vert="horz" lIns="91440" tIns="45720" rIns="91440" bIns="45720" rtlCol="0">
            <a:normAutofit/>
          </a:bodyPr>
          <a:lstStyle>
            <a:lvl1pPr>
              <a:defRPr sz="2000"/>
            </a:lvl1pPr>
            <a:lvl2pPr marL="0" indent="0">
              <a:buFont typeface="Wingdings 3" pitchFamily="18" charset="2"/>
              <a:buNone/>
              <a:defRPr sz="1800"/>
            </a:lvl2pPr>
            <a:lvl3pPr marL="461963" indent="-274638">
              <a:buFont typeface="Wingdings 3" pitchFamily="18" charset="2"/>
              <a:buChar char=""/>
              <a:defRPr sz="1600"/>
            </a:lvl3pPr>
            <a:lvl4pPr marL="749300" indent="-277813">
              <a:buFont typeface="Wingdings 3" pitchFamily="18" charset="2"/>
              <a:buChar char=""/>
              <a:defRPr sz="1400"/>
            </a:lvl4pPr>
            <a:lvl5pPr marL="984250" indent="-242888" defTabSz="896938">
              <a:buFont typeface="Wingdings 3" pitchFamily="18" charset="2"/>
              <a:buChar char=""/>
              <a:tabLst/>
              <a:defRPr sz="12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2" name="Title 1"/>
          <p:cNvSpPr>
            <a:spLocks noGrp="1"/>
          </p:cNvSpPr>
          <p:nvPr>
            <p:ph type="title"/>
          </p:nvPr>
        </p:nvSpPr>
        <p:spPr/>
        <p:txBody>
          <a:bodyPr/>
          <a:lstStyle/>
          <a:p>
            <a:r>
              <a:rPr lang="en-US" dirty="0" smtClean="0"/>
              <a:t>Click to edit Master title style</a:t>
            </a:r>
            <a:endParaRPr lang="en-IN" dirty="0"/>
          </a:p>
        </p:txBody>
      </p:sp>
    </p:spTree>
    <p:extLst>
      <p:ext uri="{BB962C8B-B14F-4D97-AF65-F5344CB8AC3E}">
        <p14:creationId xmlns:p14="http://schemas.microsoft.com/office/powerpoint/2010/main" val="2919746110"/>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el en inhou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76200"/>
            <a:ext cx="8229600" cy="812800"/>
          </a:xfrm>
          <a:prstGeom prst="rect">
            <a:avLst/>
          </a:prstGeom>
        </p:spPr>
        <p:txBody>
          <a:bodyPr>
            <a:normAutofit/>
          </a:bodyPr>
          <a:lstStyle>
            <a:lvl1pPr>
              <a:defRPr sz="2800"/>
            </a:lvl1pPr>
          </a:lstStyle>
          <a:p>
            <a:r>
              <a:rPr lang="en-US" dirty="0" smtClean="0"/>
              <a:t>Click to edit Master title style</a:t>
            </a:r>
            <a:endParaRPr lang="en-US" dirty="0"/>
          </a:p>
        </p:txBody>
      </p:sp>
      <p:sp>
        <p:nvSpPr>
          <p:cNvPr id="3" name="Content Placeholder 2"/>
          <p:cNvSpPr>
            <a:spLocks noGrp="1"/>
          </p:cNvSpPr>
          <p:nvPr>
            <p:ph idx="1"/>
          </p:nvPr>
        </p:nvSpPr>
        <p:spPr>
          <a:xfrm>
            <a:off x="457200" y="1049867"/>
            <a:ext cx="8229600" cy="5312833"/>
          </a:xfrm>
          <a:prstGeom prst="rect">
            <a:avLst/>
          </a:prstGeo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12"/>
          </p:nvPr>
        </p:nvSpPr>
        <p:spPr>
          <a:xfrm>
            <a:off x="6553200" y="6483351"/>
            <a:ext cx="2133600" cy="365125"/>
          </a:xfrm>
          <a:prstGeom prst="rect">
            <a:avLst/>
          </a:prstGeom>
        </p:spPr>
        <p:txBody>
          <a:bodyPr/>
          <a:lstStyle/>
          <a:p>
            <a:fld id="{2066355A-084C-D24E-9AD2-7E4FC41EA627}" type="slidenum">
              <a:rPr lang="en-US" smtClean="0"/>
              <a:t>‹#›</a:t>
            </a:fld>
            <a:endParaRPr lang="en-US"/>
          </a:p>
        </p:txBody>
      </p:sp>
      <p:cxnSp>
        <p:nvCxnSpPr>
          <p:cNvPr id="7" name="Rechte verbindingslijn 9"/>
          <p:cNvCxnSpPr/>
          <p:nvPr userDrawn="1"/>
        </p:nvCxnSpPr>
        <p:spPr>
          <a:xfrm>
            <a:off x="457200" y="965200"/>
            <a:ext cx="8229600" cy="0"/>
          </a:xfrm>
          <a:prstGeom prst="line">
            <a:avLst/>
          </a:prstGeom>
          <a:ln>
            <a:solidFill>
              <a:srgbClr val="EFA82F"/>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909606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extBox 2"/>
          <p:cNvSpPr txBox="1"/>
          <p:nvPr userDrawn="1"/>
        </p:nvSpPr>
        <p:spPr>
          <a:xfrm>
            <a:off x="3303270" y="2910980"/>
            <a:ext cx="5840730" cy="477054"/>
          </a:xfrm>
          <a:prstGeom prst="rect">
            <a:avLst/>
          </a:prstGeom>
          <a:noFill/>
        </p:spPr>
        <p:txBody>
          <a:bodyPr wrap="square" rtlCol="0">
            <a:spAutoFit/>
          </a:bodyPr>
          <a:lstStyle/>
          <a:p>
            <a:pPr algn="ctr"/>
            <a:r>
              <a:rPr lang="en-US" sz="2500" b="1" dirty="0" smtClean="0"/>
              <a:t>End of the Module</a:t>
            </a:r>
          </a:p>
        </p:txBody>
      </p:sp>
    </p:spTree>
    <p:extLst>
      <p:ext uri="{BB962C8B-B14F-4D97-AF65-F5344CB8AC3E}">
        <p14:creationId xmlns:p14="http://schemas.microsoft.com/office/powerpoint/2010/main" val="3655336223"/>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el 2 kolom ">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049867"/>
            <a:ext cx="4038600" cy="5287433"/>
          </a:xfrm>
          <a:prstGeom prst="rect">
            <a:avLst/>
          </a:prstGeom>
        </p:spPr>
        <p:txBody>
          <a:bodyPr/>
          <a:lstStyle>
            <a:lvl1pPr>
              <a:defRPr sz="20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1049867"/>
            <a:ext cx="4038600" cy="5287433"/>
          </a:xfrm>
          <a:prstGeom prst="rect">
            <a:avLst/>
          </a:prstGeom>
        </p:spPr>
        <p:txBody>
          <a:bodyPr/>
          <a:lstStyle>
            <a:lvl1pPr>
              <a:defRPr sz="20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Slide Number Placeholder 6"/>
          <p:cNvSpPr>
            <a:spLocks noGrp="1"/>
          </p:cNvSpPr>
          <p:nvPr>
            <p:ph type="sldNum" sz="quarter" idx="12"/>
          </p:nvPr>
        </p:nvSpPr>
        <p:spPr>
          <a:xfrm>
            <a:off x="6553200" y="6483351"/>
            <a:ext cx="2133600" cy="365125"/>
          </a:xfrm>
          <a:prstGeom prst="rect">
            <a:avLst/>
          </a:prstGeom>
        </p:spPr>
        <p:txBody>
          <a:bodyPr/>
          <a:lstStyle/>
          <a:p>
            <a:fld id="{2066355A-084C-D24E-9AD2-7E4FC41EA627}" type="slidenum">
              <a:rPr lang="en-US" smtClean="0"/>
              <a:t>‹#›</a:t>
            </a:fld>
            <a:endParaRPr lang="en-US"/>
          </a:p>
        </p:txBody>
      </p:sp>
      <p:sp>
        <p:nvSpPr>
          <p:cNvPr id="8" name="Title 1"/>
          <p:cNvSpPr>
            <a:spLocks noGrp="1"/>
          </p:cNvSpPr>
          <p:nvPr>
            <p:ph type="title" hasCustomPrompt="1"/>
          </p:nvPr>
        </p:nvSpPr>
        <p:spPr>
          <a:xfrm>
            <a:off x="457200" y="76200"/>
            <a:ext cx="8229600" cy="812800"/>
          </a:xfrm>
          <a:prstGeom prst="rect">
            <a:avLst/>
          </a:prstGeom>
        </p:spPr>
        <p:txBody>
          <a:bodyPr>
            <a:normAutofit/>
          </a:bodyPr>
          <a:lstStyle>
            <a:lvl1pPr>
              <a:defRPr sz="2800"/>
            </a:lvl1pPr>
          </a:lstStyle>
          <a:p>
            <a:r>
              <a:rPr lang="en-US" dirty="0" smtClean="0"/>
              <a:t>Click to edit Master title style</a:t>
            </a:r>
            <a:endParaRPr lang="en-US" dirty="0"/>
          </a:p>
        </p:txBody>
      </p:sp>
      <p:cxnSp>
        <p:nvCxnSpPr>
          <p:cNvPr id="9" name="Rechte verbindingslijn 9"/>
          <p:cNvCxnSpPr/>
          <p:nvPr userDrawn="1"/>
        </p:nvCxnSpPr>
        <p:spPr>
          <a:xfrm>
            <a:off x="457200" y="965200"/>
            <a:ext cx="8229600" cy="0"/>
          </a:xfrm>
          <a:prstGeom prst="line">
            <a:avLst/>
          </a:prstGeom>
          <a:ln>
            <a:solidFill>
              <a:srgbClr val="EFA82F"/>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18162587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0"/>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265" y="-12700"/>
            <a:ext cx="9160933" cy="6870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Slide Number Placeholder 5"/>
          <p:cNvSpPr txBox="1">
            <a:spLocks/>
          </p:cNvSpPr>
          <p:nvPr userDrawn="1"/>
        </p:nvSpPr>
        <p:spPr>
          <a:xfrm>
            <a:off x="8654817" y="6546850"/>
            <a:ext cx="539750" cy="365125"/>
          </a:xfrm>
          <a:prstGeom prst="rect">
            <a:avLst/>
          </a:prstGeom>
        </p:spPr>
        <p:txBody>
          <a:bodyPr/>
          <a:lstStyle>
            <a:lvl1pPr eaLnBrk="0" hangingPunct="0">
              <a:defRPr sz="2400">
                <a:solidFill>
                  <a:srgbClr val="CF0E30"/>
                </a:solidFill>
                <a:latin typeface="Arial" pitchFamily="34" charset="0"/>
                <a:ea typeface="ＭＳ Ｐゴシック" pitchFamily="34" charset="-128"/>
              </a:defRPr>
            </a:lvl1pPr>
            <a:lvl2pPr marL="742950" indent="-285750" eaLnBrk="0" hangingPunct="0">
              <a:defRPr sz="2400">
                <a:solidFill>
                  <a:srgbClr val="CF0E30"/>
                </a:solidFill>
                <a:latin typeface="Arial" pitchFamily="34" charset="0"/>
                <a:ea typeface="ＭＳ Ｐゴシック" pitchFamily="34" charset="-128"/>
              </a:defRPr>
            </a:lvl2pPr>
            <a:lvl3pPr marL="1143000" indent="-228600" eaLnBrk="0" hangingPunct="0">
              <a:defRPr sz="2400">
                <a:solidFill>
                  <a:srgbClr val="CF0E30"/>
                </a:solidFill>
                <a:latin typeface="Arial" pitchFamily="34" charset="0"/>
                <a:ea typeface="ＭＳ Ｐゴシック" pitchFamily="34" charset="-128"/>
              </a:defRPr>
            </a:lvl3pPr>
            <a:lvl4pPr marL="1600200" indent="-228600" eaLnBrk="0" hangingPunct="0">
              <a:defRPr sz="2400">
                <a:solidFill>
                  <a:srgbClr val="CF0E30"/>
                </a:solidFill>
                <a:latin typeface="Arial" pitchFamily="34" charset="0"/>
                <a:ea typeface="ＭＳ Ｐゴシック" pitchFamily="34" charset="-128"/>
              </a:defRPr>
            </a:lvl4pPr>
            <a:lvl5pPr marL="2057400" indent="-228600" eaLnBrk="0" hangingPunct="0">
              <a:defRPr sz="2400">
                <a:solidFill>
                  <a:srgbClr val="CF0E30"/>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rgbClr val="CF0E30"/>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rgbClr val="CF0E30"/>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rgbClr val="CF0E30"/>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rgbClr val="CF0E30"/>
                </a:solidFill>
                <a:latin typeface="Arial" pitchFamily="34" charset="0"/>
                <a:ea typeface="ＭＳ Ｐゴシック" pitchFamily="34" charset="-128"/>
              </a:defRPr>
            </a:lvl9pPr>
          </a:lstStyle>
          <a:p>
            <a:pPr algn="ctr" eaLnBrk="1" hangingPunct="1">
              <a:defRPr/>
            </a:pPr>
            <a:fld id="{62319A88-D272-4631-A808-E02014FA8E4F}" type="slidenum">
              <a:rPr lang="en-US" sz="1100" smtClean="0">
                <a:solidFill>
                  <a:schemeClr val="tx1"/>
                </a:solidFill>
              </a:rPr>
              <a:pPr algn="ctr" eaLnBrk="1" hangingPunct="1">
                <a:defRPr/>
              </a:pPr>
              <a:t>‹#›</a:t>
            </a:fld>
            <a:endParaRPr lang="en-US" sz="1100" dirty="0" smtClean="0">
              <a:solidFill>
                <a:schemeClr val="tx1"/>
              </a:solidFill>
            </a:endParaRPr>
          </a:p>
        </p:txBody>
      </p:sp>
      <p:cxnSp>
        <p:nvCxnSpPr>
          <p:cNvPr id="5" name="Straight Connector 4"/>
          <p:cNvCxnSpPr/>
          <p:nvPr/>
        </p:nvCxnSpPr>
        <p:spPr>
          <a:xfrm>
            <a:off x="1830047" y="334963"/>
            <a:ext cx="7338531" cy="0"/>
          </a:xfrm>
          <a:prstGeom prst="line">
            <a:avLst/>
          </a:prstGeom>
          <a:ln>
            <a:solidFill>
              <a:srgbClr val="71BB9D"/>
            </a:solidFill>
          </a:ln>
        </p:spPr>
        <p:style>
          <a:lnRef idx="1">
            <a:schemeClr val="accent1"/>
          </a:lnRef>
          <a:fillRef idx="0">
            <a:schemeClr val="accent1"/>
          </a:fillRef>
          <a:effectRef idx="0">
            <a:schemeClr val="accent1"/>
          </a:effectRef>
          <a:fontRef idx="minor">
            <a:schemeClr val="tx1"/>
          </a:fontRef>
        </p:style>
      </p:cxnSp>
      <p:sp>
        <p:nvSpPr>
          <p:cNvPr id="11" name="Title Placeholder 2"/>
          <p:cNvSpPr>
            <a:spLocks noGrp="1"/>
          </p:cNvSpPr>
          <p:nvPr>
            <p:ph type="title"/>
          </p:nvPr>
        </p:nvSpPr>
        <p:spPr>
          <a:xfrm>
            <a:off x="1840902" y="389574"/>
            <a:ext cx="6425896" cy="248558"/>
          </a:xfrm>
          <a:prstGeom prst="rect">
            <a:avLst/>
          </a:prstGeom>
        </p:spPr>
        <p:txBody>
          <a:bodyPr vert="horz" lIns="91440" tIns="45720" rIns="91440" bIns="45720" rtlCol="0" anchor="ctr">
            <a:noAutofit/>
          </a:bodyPr>
          <a:lstStyle/>
          <a:p>
            <a:r>
              <a:rPr lang="en-US" smtClean="0"/>
              <a:t>Click to edit Master title style</a:t>
            </a:r>
            <a:endParaRPr lang="en-IN" dirty="0"/>
          </a:p>
        </p:txBody>
      </p:sp>
      <p:sp>
        <p:nvSpPr>
          <p:cNvPr id="21" name="TextBox 8"/>
          <p:cNvSpPr txBox="1">
            <a:spLocks noChangeArrowheads="1"/>
          </p:cNvSpPr>
          <p:nvPr/>
        </p:nvSpPr>
        <p:spPr bwMode="auto">
          <a:xfrm>
            <a:off x="1849978" y="17463"/>
            <a:ext cx="6711950"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CF0E30"/>
                </a:solidFill>
                <a:latin typeface="Arial" pitchFamily="34" charset="0"/>
                <a:ea typeface="ＭＳ Ｐゴシック" pitchFamily="34" charset="-128"/>
              </a:defRPr>
            </a:lvl1pPr>
            <a:lvl2pPr marL="742950" indent="-285750" eaLnBrk="0" hangingPunct="0">
              <a:defRPr sz="2400">
                <a:solidFill>
                  <a:srgbClr val="CF0E30"/>
                </a:solidFill>
                <a:latin typeface="Arial" pitchFamily="34" charset="0"/>
                <a:ea typeface="ＭＳ Ｐゴシック" pitchFamily="34" charset="-128"/>
              </a:defRPr>
            </a:lvl2pPr>
            <a:lvl3pPr marL="1143000" indent="-228600" eaLnBrk="0" hangingPunct="0">
              <a:defRPr sz="2400">
                <a:solidFill>
                  <a:srgbClr val="CF0E30"/>
                </a:solidFill>
                <a:latin typeface="Arial" pitchFamily="34" charset="0"/>
                <a:ea typeface="ＭＳ Ｐゴシック" pitchFamily="34" charset="-128"/>
              </a:defRPr>
            </a:lvl3pPr>
            <a:lvl4pPr marL="1600200" indent="-228600" eaLnBrk="0" hangingPunct="0">
              <a:defRPr sz="2400">
                <a:solidFill>
                  <a:srgbClr val="CF0E30"/>
                </a:solidFill>
                <a:latin typeface="Arial" pitchFamily="34" charset="0"/>
                <a:ea typeface="ＭＳ Ｐゴシック" pitchFamily="34" charset="-128"/>
              </a:defRPr>
            </a:lvl4pPr>
            <a:lvl5pPr marL="2057400" indent="-228600" eaLnBrk="0" hangingPunct="0">
              <a:defRPr sz="2400">
                <a:solidFill>
                  <a:srgbClr val="CF0E30"/>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rgbClr val="CF0E30"/>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rgbClr val="CF0E30"/>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rgbClr val="CF0E30"/>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rgbClr val="CF0E30"/>
                </a:solidFill>
                <a:latin typeface="Arial" pitchFamily="34" charset="0"/>
                <a:ea typeface="ＭＳ Ｐゴシック" pitchFamily="34" charset="-128"/>
              </a:defRPr>
            </a:lvl9pPr>
          </a:lstStyle>
          <a:p>
            <a:pPr eaLnBrk="1" hangingPunct="1">
              <a:defRPr/>
            </a:pPr>
            <a:r>
              <a:rPr lang="en-US" sz="1700" b="1" dirty="0" smtClean="0">
                <a:solidFill>
                  <a:schemeClr val="bg1"/>
                </a:solidFill>
              </a:rPr>
              <a:t>Artifacts</a:t>
            </a:r>
            <a:r>
              <a:rPr lang="en-US" sz="1700" b="1" baseline="0" dirty="0" smtClean="0">
                <a:solidFill>
                  <a:schemeClr val="bg1"/>
                </a:solidFill>
              </a:rPr>
              <a:t> and Deliverables</a:t>
            </a:r>
            <a:endParaRPr lang="en-IN" sz="1700" b="1" dirty="0" smtClean="0">
              <a:solidFill>
                <a:schemeClr val="bg1"/>
              </a:solidFill>
            </a:endParaRPr>
          </a:p>
        </p:txBody>
      </p:sp>
      <p:sp>
        <p:nvSpPr>
          <p:cNvPr id="10" name="Rectangle 3"/>
          <p:cNvSpPr>
            <a:spLocks noChangeArrowheads="1"/>
          </p:cNvSpPr>
          <p:nvPr userDrawn="1"/>
        </p:nvSpPr>
        <p:spPr bwMode="auto">
          <a:xfrm>
            <a:off x="327" y="6601510"/>
            <a:ext cx="625792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p>
            <a:pPr>
              <a:lnSpc>
                <a:spcPts val="800"/>
              </a:lnSpc>
              <a:defRPr/>
            </a:pPr>
            <a:r>
              <a:rPr lang="en-US" sz="800" kern="100" spc="10" dirty="0">
                <a:solidFill>
                  <a:schemeClr val="tx1">
                    <a:lumMod val="85000"/>
                    <a:lumOff val="15000"/>
                  </a:schemeClr>
                </a:solidFill>
                <a:latin typeface="Arial" pitchFamily="34" charset="0"/>
                <a:cs typeface="Arial" pitchFamily="34" charset="0"/>
              </a:rPr>
              <a:t>Copyright © </a:t>
            </a:r>
            <a:r>
              <a:rPr lang="en-US" sz="800" kern="100" spc="10" dirty="0" smtClean="0">
                <a:solidFill>
                  <a:schemeClr val="tx1">
                    <a:lumMod val="85000"/>
                    <a:lumOff val="15000"/>
                  </a:schemeClr>
                </a:solidFill>
                <a:latin typeface="Arial" pitchFamily="34" charset="0"/>
                <a:cs typeface="Arial" pitchFamily="34" charset="0"/>
              </a:rPr>
              <a:t>2013, </a:t>
            </a:r>
            <a:r>
              <a:rPr lang="en-US" sz="800" kern="100" spc="10" dirty="0">
                <a:solidFill>
                  <a:schemeClr val="tx1">
                    <a:lumMod val="85000"/>
                    <a:lumOff val="15000"/>
                  </a:schemeClr>
                </a:solidFill>
                <a:latin typeface="Arial" pitchFamily="34" charset="0"/>
                <a:cs typeface="Arial" pitchFamily="34" charset="0"/>
              </a:rPr>
              <a:t>ITpreneurs Nederland </a:t>
            </a:r>
            <a:r>
              <a:rPr lang="en-US" sz="800" kern="100" spc="10" dirty="0" smtClean="0">
                <a:solidFill>
                  <a:schemeClr val="tx1">
                    <a:lumMod val="85000"/>
                    <a:lumOff val="15000"/>
                  </a:schemeClr>
                </a:solidFill>
                <a:latin typeface="Arial" pitchFamily="34" charset="0"/>
                <a:cs typeface="Arial" pitchFamily="34" charset="0"/>
              </a:rPr>
              <a:t>B.V</a:t>
            </a:r>
            <a:r>
              <a:rPr lang="en-US" sz="800" kern="100" spc="10" dirty="0">
                <a:solidFill>
                  <a:schemeClr val="tx1">
                    <a:lumMod val="85000"/>
                    <a:lumOff val="15000"/>
                  </a:schemeClr>
                </a:solidFill>
                <a:latin typeface="Arial" pitchFamily="34" charset="0"/>
                <a:cs typeface="Arial" pitchFamily="34" charset="0"/>
              </a:rPr>
              <a:t>. All rights reserved.</a:t>
            </a:r>
          </a:p>
        </p:txBody>
      </p:sp>
      <p:pic>
        <p:nvPicPr>
          <p:cNvPr id="14" name="Picture 1"/>
          <p:cNvPicPr>
            <a:picLocks noChangeAspect="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3157138" y="6581785"/>
            <a:ext cx="211646" cy="203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Placeholder 1"/>
          <p:cNvSpPr>
            <a:spLocks noGrp="1"/>
          </p:cNvSpPr>
          <p:nvPr>
            <p:ph type="body" idx="1"/>
          </p:nvPr>
        </p:nvSpPr>
        <p:spPr>
          <a:xfrm>
            <a:off x="465900" y="985345"/>
            <a:ext cx="8229600" cy="5098874"/>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cSld>
  <p:clrMap bg1="lt1" tx1="dk1" bg2="lt2" tx2="dk2" accent1="accent1" accent2="accent2" accent3="accent3" accent4="accent4" accent5="accent5" accent6="accent6" hlink="hlink" folHlink="folHlink"/>
  <p:sldLayoutIdLst>
    <p:sldLayoutId id="2147487377" r:id="rId1"/>
    <p:sldLayoutId id="2147487378" r:id="rId2"/>
    <p:sldLayoutId id="2147487367" r:id="rId3"/>
    <p:sldLayoutId id="2147487379" r:id="rId4"/>
    <p:sldLayoutId id="2147487384" r:id="rId5"/>
    <p:sldLayoutId id="2147487383" r:id="rId6"/>
  </p:sldLayoutIdLst>
  <p:timing>
    <p:tnLst>
      <p:par>
        <p:cTn id="1" dur="indefinite" restart="never" nodeType="tmRoot"/>
      </p:par>
    </p:tnLst>
  </p:timing>
  <p:txStyles>
    <p:titleStyle>
      <a:lvl1pPr algn="l" rtl="0" eaLnBrk="1" fontAlgn="base" hangingPunct="1">
        <a:spcBef>
          <a:spcPct val="0"/>
        </a:spcBef>
        <a:spcAft>
          <a:spcPct val="0"/>
        </a:spcAft>
        <a:defRPr lang="en-IN" sz="1400" kern="1200" dirty="0">
          <a:solidFill>
            <a:schemeClr val="bg1"/>
          </a:solidFill>
          <a:latin typeface="Arial" pitchFamily="34" charset="0"/>
          <a:ea typeface="ＭＳ Ｐゴシック" pitchFamily="34" charset="-128"/>
          <a:cs typeface="+mn-cs"/>
        </a:defRPr>
      </a:lvl1pPr>
      <a:lvl2pPr algn="ctr" rtl="0" eaLnBrk="1" fontAlgn="base" hangingPunct="1">
        <a:spcBef>
          <a:spcPct val="0"/>
        </a:spcBef>
        <a:spcAft>
          <a:spcPct val="0"/>
        </a:spcAft>
        <a:defRPr sz="4400">
          <a:solidFill>
            <a:schemeClr val="tx1"/>
          </a:solidFill>
          <a:latin typeface="Arial" charset="0"/>
        </a:defRPr>
      </a:lvl2pPr>
      <a:lvl3pPr algn="ctr" rtl="0" eaLnBrk="1" fontAlgn="base" hangingPunct="1">
        <a:spcBef>
          <a:spcPct val="0"/>
        </a:spcBef>
        <a:spcAft>
          <a:spcPct val="0"/>
        </a:spcAft>
        <a:defRPr sz="4400">
          <a:solidFill>
            <a:schemeClr val="tx1"/>
          </a:solidFill>
          <a:latin typeface="Arial" charset="0"/>
        </a:defRPr>
      </a:lvl3pPr>
      <a:lvl4pPr algn="ctr" rtl="0" eaLnBrk="1" fontAlgn="base" hangingPunct="1">
        <a:spcBef>
          <a:spcPct val="0"/>
        </a:spcBef>
        <a:spcAft>
          <a:spcPct val="0"/>
        </a:spcAft>
        <a:defRPr sz="4400">
          <a:solidFill>
            <a:schemeClr val="tx1"/>
          </a:solidFill>
          <a:latin typeface="Arial" charset="0"/>
        </a:defRPr>
      </a:lvl4pPr>
      <a:lvl5pPr algn="ctr" rtl="0" eaLnBrk="1" fontAlgn="base" hangingPunct="1">
        <a:spcBef>
          <a:spcPct val="0"/>
        </a:spcBef>
        <a:spcAft>
          <a:spcPct val="0"/>
        </a:spcAft>
        <a:defRPr sz="4400">
          <a:solidFill>
            <a:schemeClr val="tx1"/>
          </a:solidFill>
          <a:latin typeface="Arial"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0" indent="0" algn="l" rtl="0" eaLnBrk="1" fontAlgn="base" hangingPunct="1">
        <a:lnSpc>
          <a:spcPct val="120000"/>
        </a:lnSpc>
        <a:spcBef>
          <a:spcPct val="20000"/>
        </a:spcBef>
        <a:spcAft>
          <a:spcPct val="0"/>
        </a:spcAft>
        <a:buFont typeface="Arial" charset="0"/>
        <a:buNone/>
        <a:defRPr sz="2000" b="1" i="0" kern="1200">
          <a:solidFill>
            <a:schemeClr val="tx1"/>
          </a:solidFill>
          <a:latin typeface="Arial" pitchFamily="34" charset="0"/>
          <a:ea typeface="+mn-ea"/>
          <a:cs typeface="Arial" pitchFamily="34" charset="0"/>
        </a:defRPr>
      </a:lvl1pPr>
      <a:lvl2pPr marL="0" indent="0" algn="l" rtl="0" eaLnBrk="1" fontAlgn="base" hangingPunct="1">
        <a:lnSpc>
          <a:spcPct val="120000"/>
        </a:lnSpc>
        <a:spcBef>
          <a:spcPts val="300"/>
        </a:spcBef>
        <a:spcAft>
          <a:spcPts val="300"/>
        </a:spcAft>
        <a:buFont typeface="Arial" pitchFamily="34" charset="0"/>
        <a:buNone/>
        <a:defRPr sz="1800" kern="1200">
          <a:solidFill>
            <a:schemeClr val="tx1"/>
          </a:solidFill>
          <a:latin typeface="Arial" pitchFamily="34" charset="0"/>
          <a:ea typeface="+mn-ea"/>
          <a:cs typeface="Arial" pitchFamily="34" charset="0"/>
        </a:defRPr>
      </a:lvl2pPr>
      <a:lvl3pPr marL="455613" indent="-285750" algn="l" rtl="0" eaLnBrk="1" fontAlgn="base" hangingPunct="1">
        <a:lnSpc>
          <a:spcPct val="120000"/>
        </a:lnSpc>
        <a:spcBef>
          <a:spcPts val="300"/>
        </a:spcBef>
        <a:spcAft>
          <a:spcPts val="300"/>
        </a:spcAft>
        <a:buFont typeface="Wingdings 3" pitchFamily="18" charset="2"/>
        <a:buChar char=""/>
        <a:defRPr sz="1600" kern="1200">
          <a:solidFill>
            <a:schemeClr val="tx1"/>
          </a:solidFill>
          <a:latin typeface="Arial" pitchFamily="34" charset="0"/>
          <a:ea typeface="+mn-ea"/>
          <a:cs typeface="Arial" pitchFamily="34" charset="0"/>
        </a:defRPr>
      </a:lvl3pPr>
      <a:lvl4pPr marL="704850" indent="-250825" algn="l" defTabSz="892175" rtl="0" eaLnBrk="1" fontAlgn="base" hangingPunct="1">
        <a:lnSpc>
          <a:spcPct val="120000"/>
        </a:lnSpc>
        <a:spcBef>
          <a:spcPts val="300"/>
        </a:spcBef>
        <a:spcAft>
          <a:spcPts val="300"/>
        </a:spcAft>
        <a:buFont typeface="Wingdings 3" pitchFamily="18" charset="2"/>
        <a:buChar char=""/>
        <a:defRPr sz="1400" kern="1200">
          <a:solidFill>
            <a:schemeClr val="tx1"/>
          </a:solidFill>
          <a:latin typeface="Arial" pitchFamily="34" charset="0"/>
          <a:ea typeface="+mn-ea"/>
          <a:cs typeface="Arial" pitchFamily="34" charset="0"/>
        </a:defRPr>
      </a:lvl4pPr>
      <a:lvl5pPr marL="928688" indent="-228600" algn="l" defTabSz="892175" rtl="0" eaLnBrk="1" fontAlgn="base" hangingPunct="1">
        <a:spcBef>
          <a:spcPct val="20000"/>
        </a:spcBef>
        <a:spcAft>
          <a:spcPct val="0"/>
        </a:spcAft>
        <a:buFont typeface="Wingdings 3" pitchFamily="18" charset="2"/>
        <a:buChar char=""/>
        <a:defRPr sz="12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diagramLayout" Target="../diagrams/layout1.xml"/><Relationship Id="rId7" Type="http://schemas.openxmlformats.org/officeDocument/2006/relationships/image" Target="../media/image6.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510" y="987990"/>
            <a:ext cx="8487707" cy="5551958"/>
          </a:xfrm>
        </p:spPr>
        <p:txBody>
          <a:bodyPr>
            <a:normAutofit/>
          </a:bodyPr>
          <a:lstStyle/>
          <a:p>
            <a:pPr lvl="1"/>
            <a:r>
              <a:rPr lang="en-US" dirty="0" smtClean="0"/>
              <a:t>At </a:t>
            </a:r>
            <a:r>
              <a:rPr lang="en-US" dirty="0"/>
              <a:t>the end of this module, you will be able to:</a:t>
            </a:r>
          </a:p>
          <a:p>
            <a:pPr lvl="2"/>
            <a:r>
              <a:rPr lang="en-US" dirty="0"/>
              <a:t>Describe and explain the most important </a:t>
            </a:r>
            <a:r>
              <a:rPr lang="en-US" dirty="0" smtClean="0"/>
              <a:t>artifacts</a:t>
            </a:r>
            <a:r>
              <a:rPr lang="en-US" dirty="0"/>
              <a:t>.</a:t>
            </a:r>
          </a:p>
          <a:p>
            <a:pPr lvl="2"/>
            <a:r>
              <a:rPr lang="en-US" dirty="0"/>
              <a:t>Describe the deliverables and their contents.</a:t>
            </a:r>
          </a:p>
        </p:txBody>
      </p:sp>
      <p:sp>
        <p:nvSpPr>
          <p:cNvPr id="3" name="Title 2"/>
          <p:cNvSpPr>
            <a:spLocks noGrp="1"/>
          </p:cNvSpPr>
          <p:nvPr>
            <p:ph type="title"/>
          </p:nvPr>
        </p:nvSpPr>
        <p:spPr/>
        <p:txBody>
          <a:bodyPr/>
          <a:lstStyle/>
          <a:p>
            <a:r>
              <a:rPr lang="en-IN" dirty="0"/>
              <a:t>Learning Objectives</a:t>
            </a:r>
          </a:p>
        </p:txBody>
      </p:sp>
    </p:spTree>
    <p:extLst>
      <p:ext uri="{BB962C8B-B14F-4D97-AF65-F5344CB8AC3E}">
        <p14:creationId xmlns:p14="http://schemas.microsoft.com/office/powerpoint/2010/main" val="3317048176"/>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Core Concepts: Deliverables, </a:t>
            </a:r>
            <a:r>
              <a:rPr lang="en-IN" dirty="0" err="1"/>
              <a:t>Artifacts</a:t>
            </a:r>
            <a:r>
              <a:rPr lang="en-IN" dirty="0"/>
              <a:t>, and Building Blocks</a:t>
            </a:r>
          </a:p>
        </p:txBody>
      </p:sp>
      <p:graphicFrame>
        <p:nvGraphicFramePr>
          <p:cNvPr id="2" name="Diagram 1"/>
          <p:cNvGraphicFramePr/>
          <p:nvPr>
            <p:extLst>
              <p:ext uri="{D42A27DB-BD31-4B8C-83A1-F6EECF244321}">
                <p14:modId xmlns:p14="http://schemas.microsoft.com/office/powerpoint/2010/main" val="318992666"/>
              </p:ext>
            </p:extLst>
          </p:nvPr>
        </p:nvGraphicFramePr>
        <p:xfrm>
          <a:off x="555399" y="955675"/>
          <a:ext cx="7950426" cy="54741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0" name="Group 9"/>
          <p:cNvGrpSpPr/>
          <p:nvPr/>
        </p:nvGrpSpPr>
        <p:grpSpPr>
          <a:xfrm>
            <a:off x="739613" y="1145652"/>
            <a:ext cx="1545700" cy="1286686"/>
            <a:chOff x="1526012" y="5307593"/>
            <a:chExt cx="1355085" cy="1421914"/>
          </a:xfrm>
          <a:effectLst>
            <a:outerShdw blurRad="63500" sx="102000" sy="102000" algn="ctr" rotWithShape="0">
              <a:prstClr val="black">
                <a:alpha val="40000"/>
              </a:prstClr>
            </a:outerShdw>
          </a:effectLst>
        </p:grpSpPr>
        <p:pic>
          <p:nvPicPr>
            <p:cNvPr id="11" name="Picture 4" descr="E:\VSTF\Media development library\Visualizations Library\shutterstock_71809852.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526012" y="5307593"/>
              <a:ext cx="1355085" cy="1421914"/>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13" name="Rectangle 12"/>
            <p:cNvSpPr/>
            <p:nvPr/>
          </p:nvSpPr>
          <p:spPr>
            <a:xfrm>
              <a:off x="1784863" y="5573669"/>
              <a:ext cx="837382" cy="408148"/>
            </a:xfrm>
            <a:prstGeom prst="rect">
              <a:avLst/>
            </a:prstGeom>
          </p:spPr>
          <p:txBody>
            <a:bodyPr wrap="square">
              <a:spAutoFit/>
            </a:bodyPr>
            <a:lstStyle/>
            <a:p>
              <a:r>
                <a:rPr lang="en-IN" sz="600" dirty="0">
                  <a:solidFill>
                    <a:schemeClr val="bg1">
                      <a:lumMod val="50000"/>
                    </a:schemeClr>
                  </a:solidFill>
                  <a:latin typeface="Allegretto Script One" pitchFamily="66" charset="0"/>
                </a:rPr>
                <a:t>Specified by contracts.</a:t>
              </a:r>
            </a:p>
            <a:p>
              <a:r>
                <a:rPr lang="en-IN" sz="600" dirty="0">
                  <a:solidFill>
                    <a:schemeClr val="bg1">
                      <a:lumMod val="50000"/>
                    </a:schemeClr>
                  </a:solidFill>
                  <a:latin typeface="Allegretto Script One" pitchFamily="66" charset="0"/>
                </a:rPr>
                <a:t>Reviewed, Agreed, and Signed-off by stakeholders.</a:t>
              </a:r>
            </a:p>
          </p:txBody>
        </p:sp>
      </p:grpSp>
      <p:pic>
        <p:nvPicPr>
          <p:cNvPr id="16" name="Picture 2" descr="E:\VSTF\Media development library\Visualizations Library\shutterstock_93354688.jpg"/>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13225" t="8097" r="12947" b="6651"/>
          <a:stretch/>
        </p:blipFill>
        <p:spPr bwMode="auto">
          <a:xfrm>
            <a:off x="747529" y="2988143"/>
            <a:ext cx="1529869" cy="1324942"/>
          </a:xfrm>
          <a:prstGeom prst="rect">
            <a:avLst/>
          </a:prstGeom>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2" name="Picture 3" descr="E:\VSTF\Media development library\Visualizations Library\shutterstock_9521389(1).jpg"/>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r="37213"/>
          <a:stretch/>
        </p:blipFill>
        <p:spPr bwMode="auto">
          <a:xfrm>
            <a:off x="748571" y="4864755"/>
            <a:ext cx="1532468" cy="1305912"/>
          </a:xfrm>
          <a:prstGeom prst="rect">
            <a:avLst/>
          </a:prstGeom>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5036023"/>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7563198" y="2792599"/>
            <a:ext cx="1375900" cy="2039007"/>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dirty="0" smtClean="0">
                <a:solidFill>
                  <a:schemeClr val="tx1"/>
                </a:solidFill>
              </a:rPr>
              <a:t>Technology Architecture</a:t>
            </a:r>
            <a:endParaRPr lang="en-US" sz="1400" dirty="0">
              <a:solidFill>
                <a:schemeClr val="tx1"/>
              </a:solidFill>
            </a:endParaRPr>
          </a:p>
        </p:txBody>
      </p:sp>
      <p:grpSp>
        <p:nvGrpSpPr>
          <p:cNvPr id="22" name="Group 21"/>
          <p:cNvGrpSpPr/>
          <p:nvPr/>
        </p:nvGrpSpPr>
        <p:grpSpPr>
          <a:xfrm>
            <a:off x="239635" y="1068902"/>
            <a:ext cx="8692055" cy="1639614"/>
            <a:chOff x="178675" y="977462"/>
            <a:chExt cx="8692055" cy="1639614"/>
          </a:xfrm>
        </p:grpSpPr>
        <p:sp>
          <p:nvSpPr>
            <p:cNvPr id="2" name="Rectangle 1"/>
            <p:cNvSpPr/>
            <p:nvPr/>
          </p:nvSpPr>
          <p:spPr>
            <a:xfrm>
              <a:off x="178675" y="977462"/>
              <a:ext cx="8692055" cy="1639614"/>
            </a:xfrm>
            <a:prstGeom prst="rect">
              <a:avLst/>
            </a:prstGeom>
            <a:solidFill>
              <a:srgbClr val="D0DEDB"/>
            </a:solidFill>
            <a:ln>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dirty="0" smtClean="0">
                  <a:solidFill>
                    <a:schemeClr val="tx1"/>
                  </a:solidFill>
                </a:rPr>
                <a:t>Architecture Principles, Vision, and Requirements </a:t>
              </a:r>
              <a:endParaRPr lang="en-US" sz="1400" dirty="0">
                <a:solidFill>
                  <a:schemeClr val="tx1"/>
                </a:solidFill>
              </a:endParaRPr>
            </a:p>
          </p:txBody>
        </p:sp>
        <p:sp>
          <p:nvSpPr>
            <p:cNvPr id="5" name="Rectangle 4"/>
            <p:cNvSpPr/>
            <p:nvPr/>
          </p:nvSpPr>
          <p:spPr>
            <a:xfrm>
              <a:off x="262757" y="1341943"/>
              <a:ext cx="1555531" cy="493986"/>
            </a:xfrm>
            <a:prstGeom prst="rect">
              <a:avLst/>
            </a:prstGeom>
            <a:solidFill>
              <a:srgbClr val="E1EBE9"/>
            </a:solidFill>
            <a:ln>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Preliminary</a:t>
              </a:r>
            </a:p>
          </p:txBody>
        </p:sp>
        <p:sp>
          <p:nvSpPr>
            <p:cNvPr id="8" name="Rectangle 7"/>
            <p:cNvSpPr/>
            <p:nvPr/>
          </p:nvSpPr>
          <p:spPr>
            <a:xfrm>
              <a:off x="1912881" y="1341943"/>
              <a:ext cx="6894787" cy="493986"/>
            </a:xfrm>
            <a:prstGeom prst="rect">
              <a:avLst/>
            </a:prstGeom>
            <a:solidFill>
              <a:srgbClr val="E1EBE9"/>
            </a:solidFill>
            <a:ln>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Architecture </a:t>
              </a:r>
              <a:r>
                <a:rPr lang="en-US" sz="1400" dirty="0" smtClean="0">
                  <a:solidFill>
                    <a:schemeClr val="tx1"/>
                  </a:solidFill>
                </a:rPr>
                <a:t>Vision</a:t>
              </a:r>
              <a:endParaRPr lang="en-US" sz="1400" dirty="0">
                <a:solidFill>
                  <a:schemeClr val="tx1"/>
                </a:solidFill>
              </a:endParaRPr>
            </a:p>
          </p:txBody>
        </p:sp>
        <p:sp>
          <p:nvSpPr>
            <p:cNvPr id="9" name="Rectangle 8"/>
            <p:cNvSpPr/>
            <p:nvPr/>
          </p:nvSpPr>
          <p:spPr>
            <a:xfrm>
              <a:off x="252248" y="1974066"/>
              <a:ext cx="8555420" cy="493986"/>
            </a:xfrm>
            <a:prstGeom prst="rect">
              <a:avLst/>
            </a:prstGeom>
            <a:solidFill>
              <a:srgbClr val="E1EBE9"/>
            </a:solidFill>
            <a:ln>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Architecture </a:t>
              </a:r>
              <a:r>
                <a:rPr lang="en-US" sz="1400" dirty="0" smtClean="0">
                  <a:solidFill>
                    <a:schemeClr val="tx1"/>
                  </a:solidFill>
                </a:rPr>
                <a:t>Requirements </a:t>
              </a:r>
              <a:endParaRPr lang="en-US" sz="1400" dirty="0">
                <a:solidFill>
                  <a:schemeClr val="tx1"/>
                </a:solidFill>
              </a:endParaRPr>
            </a:p>
          </p:txBody>
        </p:sp>
      </p:grpSp>
      <p:grpSp>
        <p:nvGrpSpPr>
          <p:cNvPr id="24" name="Group 23"/>
          <p:cNvGrpSpPr/>
          <p:nvPr/>
        </p:nvGrpSpPr>
        <p:grpSpPr>
          <a:xfrm>
            <a:off x="239636" y="2792599"/>
            <a:ext cx="3605047" cy="2039007"/>
            <a:chOff x="178676" y="2701159"/>
            <a:chExt cx="3605047" cy="2039007"/>
          </a:xfrm>
        </p:grpSpPr>
        <p:sp>
          <p:nvSpPr>
            <p:cNvPr id="16" name="Rectangle 15"/>
            <p:cNvSpPr/>
            <p:nvPr/>
          </p:nvSpPr>
          <p:spPr>
            <a:xfrm>
              <a:off x="178676" y="2701159"/>
              <a:ext cx="3605047" cy="2039007"/>
            </a:xfrm>
            <a:prstGeom prst="rect">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dirty="0" smtClean="0">
                  <a:solidFill>
                    <a:schemeClr val="tx1"/>
                  </a:solidFill>
                </a:rPr>
                <a:t>Business Architecture</a:t>
              </a:r>
              <a:endParaRPr lang="en-US" sz="1400" dirty="0">
                <a:solidFill>
                  <a:schemeClr val="tx1"/>
                </a:solidFill>
              </a:endParaRPr>
            </a:p>
          </p:txBody>
        </p:sp>
        <p:sp>
          <p:nvSpPr>
            <p:cNvPr id="6" name="Rectangle 5"/>
            <p:cNvSpPr/>
            <p:nvPr/>
          </p:nvSpPr>
          <p:spPr>
            <a:xfrm>
              <a:off x="231228" y="3069022"/>
              <a:ext cx="3499944" cy="451945"/>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Motivation</a:t>
              </a:r>
              <a:endParaRPr lang="en-US" sz="1400" dirty="0">
                <a:solidFill>
                  <a:schemeClr val="tx1"/>
                </a:solidFill>
              </a:endParaRPr>
            </a:p>
          </p:txBody>
        </p:sp>
        <p:sp>
          <p:nvSpPr>
            <p:cNvPr id="12" name="Rectangle 11"/>
            <p:cNvSpPr/>
            <p:nvPr/>
          </p:nvSpPr>
          <p:spPr>
            <a:xfrm>
              <a:off x="231228" y="3615559"/>
              <a:ext cx="3499944" cy="451945"/>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Organization</a:t>
              </a:r>
              <a:endParaRPr lang="en-US" sz="1400" dirty="0">
                <a:solidFill>
                  <a:schemeClr val="tx1"/>
                </a:solidFill>
              </a:endParaRPr>
            </a:p>
          </p:txBody>
        </p:sp>
        <p:sp>
          <p:nvSpPr>
            <p:cNvPr id="14" name="Rectangle 13"/>
            <p:cNvSpPr/>
            <p:nvPr/>
          </p:nvSpPr>
          <p:spPr>
            <a:xfrm>
              <a:off x="231228" y="4162096"/>
              <a:ext cx="3499944" cy="451945"/>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Function</a:t>
              </a:r>
              <a:endParaRPr lang="en-US" sz="1400" dirty="0">
                <a:solidFill>
                  <a:schemeClr val="tx1"/>
                </a:solidFill>
              </a:endParaRPr>
            </a:p>
          </p:txBody>
        </p:sp>
      </p:grpSp>
      <p:grpSp>
        <p:nvGrpSpPr>
          <p:cNvPr id="25" name="Group 24"/>
          <p:cNvGrpSpPr/>
          <p:nvPr/>
        </p:nvGrpSpPr>
        <p:grpSpPr>
          <a:xfrm>
            <a:off x="3960297" y="2792599"/>
            <a:ext cx="3489434" cy="2039007"/>
            <a:chOff x="3867807" y="2701159"/>
            <a:chExt cx="3489434" cy="2039007"/>
          </a:xfrm>
        </p:grpSpPr>
        <p:sp>
          <p:nvSpPr>
            <p:cNvPr id="20" name="Rectangle 19"/>
            <p:cNvSpPr/>
            <p:nvPr/>
          </p:nvSpPr>
          <p:spPr>
            <a:xfrm>
              <a:off x="3867807" y="2701159"/>
              <a:ext cx="3489434" cy="2039007"/>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dirty="0" smtClean="0">
                  <a:solidFill>
                    <a:schemeClr val="tx1"/>
                  </a:solidFill>
                </a:rPr>
                <a:t>Information Systems Architecture</a:t>
              </a:r>
              <a:endParaRPr lang="en-US" sz="1400" dirty="0">
                <a:solidFill>
                  <a:schemeClr val="tx1"/>
                </a:solidFill>
              </a:endParaRPr>
            </a:p>
          </p:txBody>
        </p:sp>
        <p:sp>
          <p:nvSpPr>
            <p:cNvPr id="7" name="Rectangle 6"/>
            <p:cNvSpPr/>
            <p:nvPr/>
          </p:nvSpPr>
          <p:spPr>
            <a:xfrm>
              <a:off x="3951890" y="3111062"/>
              <a:ext cx="1576551" cy="1460939"/>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dirty="0" smtClean="0">
                  <a:solidFill>
                    <a:schemeClr val="tx1"/>
                  </a:solidFill>
                </a:rPr>
                <a:t>Data</a:t>
              </a:r>
              <a:endParaRPr lang="en-US" sz="1400" dirty="0">
                <a:solidFill>
                  <a:schemeClr val="tx1"/>
                </a:solidFill>
              </a:endParaRPr>
            </a:p>
          </p:txBody>
        </p:sp>
        <p:sp>
          <p:nvSpPr>
            <p:cNvPr id="15" name="Rectangle 14"/>
            <p:cNvSpPr/>
            <p:nvPr/>
          </p:nvSpPr>
          <p:spPr>
            <a:xfrm>
              <a:off x="5644055" y="3111062"/>
              <a:ext cx="1576551" cy="1460939"/>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dirty="0" smtClean="0">
                  <a:solidFill>
                    <a:schemeClr val="tx1"/>
                  </a:solidFill>
                </a:rPr>
                <a:t>Application</a:t>
              </a:r>
              <a:endParaRPr lang="en-US" sz="1400" dirty="0">
                <a:solidFill>
                  <a:schemeClr val="tx1"/>
                </a:solidFill>
              </a:endParaRPr>
            </a:p>
          </p:txBody>
        </p:sp>
      </p:grpSp>
      <p:grpSp>
        <p:nvGrpSpPr>
          <p:cNvPr id="23" name="Group 22"/>
          <p:cNvGrpSpPr/>
          <p:nvPr/>
        </p:nvGrpSpPr>
        <p:grpSpPr>
          <a:xfrm>
            <a:off x="239636" y="4936709"/>
            <a:ext cx="8692055" cy="1061545"/>
            <a:chOff x="178676" y="4845269"/>
            <a:chExt cx="8692055" cy="1061545"/>
          </a:xfrm>
        </p:grpSpPr>
        <p:sp>
          <p:nvSpPr>
            <p:cNvPr id="19" name="Rectangle 18"/>
            <p:cNvSpPr/>
            <p:nvPr/>
          </p:nvSpPr>
          <p:spPr>
            <a:xfrm>
              <a:off x="178676" y="4845269"/>
              <a:ext cx="8692055" cy="1061545"/>
            </a:xfrm>
            <a:prstGeom prst="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dirty="0">
                  <a:solidFill>
                    <a:schemeClr val="tx1"/>
                  </a:solidFill>
                </a:rPr>
                <a:t>Architecture </a:t>
              </a:r>
              <a:r>
                <a:rPr lang="en-US" sz="1400" dirty="0" smtClean="0">
                  <a:solidFill>
                    <a:schemeClr val="tx1"/>
                  </a:solidFill>
                </a:rPr>
                <a:t>Realization</a:t>
              </a:r>
              <a:endParaRPr lang="en-US" sz="1400" dirty="0">
                <a:solidFill>
                  <a:schemeClr val="tx1"/>
                </a:solidFill>
              </a:endParaRPr>
            </a:p>
          </p:txBody>
        </p:sp>
        <p:sp>
          <p:nvSpPr>
            <p:cNvPr id="17" name="Rectangle 16"/>
            <p:cNvSpPr/>
            <p:nvPr/>
          </p:nvSpPr>
          <p:spPr>
            <a:xfrm>
              <a:off x="273269" y="5213980"/>
              <a:ext cx="4183119" cy="497140"/>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Opportunities, Solutions, and Migration Planning</a:t>
              </a:r>
              <a:endParaRPr lang="en-US" sz="1400" dirty="0">
                <a:solidFill>
                  <a:schemeClr val="tx1"/>
                </a:solidFill>
              </a:endParaRPr>
            </a:p>
          </p:txBody>
        </p:sp>
        <p:sp>
          <p:nvSpPr>
            <p:cNvPr id="18" name="Rectangle 17"/>
            <p:cNvSpPr/>
            <p:nvPr/>
          </p:nvSpPr>
          <p:spPr>
            <a:xfrm>
              <a:off x="4593022" y="5213980"/>
              <a:ext cx="4183119" cy="497140"/>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Implementation Governance</a:t>
              </a:r>
              <a:endParaRPr lang="en-US" sz="1400" dirty="0">
                <a:solidFill>
                  <a:schemeClr val="tx1"/>
                </a:solidFill>
              </a:endParaRPr>
            </a:p>
          </p:txBody>
        </p:sp>
      </p:grpSp>
      <p:sp>
        <p:nvSpPr>
          <p:cNvPr id="27" name="Title 2"/>
          <p:cNvSpPr txBox="1">
            <a:spLocks/>
          </p:cNvSpPr>
          <p:nvPr/>
        </p:nvSpPr>
        <p:spPr>
          <a:xfrm>
            <a:off x="1840902" y="389574"/>
            <a:ext cx="6425896" cy="248558"/>
          </a:xfrm>
          <a:prstGeom prst="rect">
            <a:avLst/>
          </a:prstGeom>
        </p:spPr>
        <p:txBody>
          <a:bodyPr vert="horz" lIns="91440" tIns="45720" rIns="91440" bIns="45720" rtlCol="0" anchor="ctr">
            <a:noAutofit/>
          </a:bodyPr>
          <a:lstStyle>
            <a:lvl1pPr algn="l" rtl="0" eaLnBrk="1" fontAlgn="base" hangingPunct="1">
              <a:spcBef>
                <a:spcPct val="0"/>
              </a:spcBef>
              <a:spcAft>
                <a:spcPct val="0"/>
              </a:spcAft>
              <a:defRPr lang="en-IN" sz="1400" kern="1200" dirty="0">
                <a:solidFill>
                  <a:schemeClr val="bg1"/>
                </a:solidFill>
                <a:latin typeface="Arial" pitchFamily="34" charset="0"/>
                <a:ea typeface="ＭＳ Ｐゴシック" pitchFamily="34" charset="-128"/>
                <a:cs typeface="+mn-cs"/>
              </a:defRPr>
            </a:lvl1pPr>
            <a:lvl2pPr algn="ctr" rtl="0" eaLnBrk="1" fontAlgn="base" hangingPunct="1">
              <a:spcBef>
                <a:spcPct val="0"/>
              </a:spcBef>
              <a:spcAft>
                <a:spcPct val="0"/>
              </a:spcAft>
              <a:defRPr sz="4400">
                <a:solidFill>
                  <a:schemeClr val="tx1"/>
                </a:solidFill>
                <a:latin typeface="Arial" charset="0"/>
              </a:defRPr>
            </a:lvl2pPr>
            <a:lvl3pPr algn="ctr" rtl="0" eaLnBrk="1" fontAlgn="base" hangingPunct="1">
              <a:spcBef>
                <a:spcPct val="0"/>
              </a:spcBef>
              <a:spcAft>
                <a:spcPct val="0"/>
              </a:spcAft>
              <a:defRPr sz="4400">
                <a:solidFill>
                  <a:schemeClr val="tx1"/>
                </a:solidFill>
                <a:latin typeface="Arial" charset="0"/>
              </a:defRPr>
            </a:lvl3pPr>
            <a:lvl4pPr algn="ctr" rtl="0" eaLnBrk="1" fontAlgn="base" hangingPunct="1">
              <a:spcBef>
                <a:spcPct val="0"/>
              </a:spcBef>
              <a:spcAft>
                <a:spcPct val="0"/>
              </a:spcAft>
              <a:defRPr sz="4400">
                <a:solidFill>
                  <a:schemeClr val="tx1"/>
                </a:solidFill>
                <a:latin typeface="Arial" charset="0"/>
              </a:defRPr>
            </a:lvl4pPr>
            <a:lvl5pPr algn="ctr" rtl="0" eaLnBrk="1" fontAlgn="base" hangingPunct="1">
              <a:spcBef>
                <a:spcPct val="0"/>
              </a:spcBef>
              <a:spcAft>
                <a:spcPct val="0"/>
              </a:spcAft>
              <a:defRPr sz="4400">
                <a:solidFill>
                  <a:schemeClr val="tx1"/>
                </a:solidFill>
                <a:latin typeface="Arial"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IN" dirty="0" smtClean="0"/>
              <a:t>Artifacts</a:t>
            </a:r>
            <a:endParaRPr lang="en-IN" dirty="0"/>
          </a:p>
        </p:txBody>
      </p:sp>
      <p:sp>
        <p:nvSpPr>
          <p:cNvPr id="28" name="Rectangle 27"/>
          <p:cNvSpPr/>
          <p:nvPr/>
        </p:nvSpPr>
        <p:spPr>
          <a:xfrm>
            <a:off x="2821" y="6265333"/>
            <a:ext cx="2962671" cy="230832"/>
          </a:xfrm>
          <a:prstGeom prst="rect">
            <a:avLst/>
          </a:prstGeom>
        </p:spPr>
        <p:txBody>
          <a:bodyPr wrap="none">
            <a:spAutoFit/>
          </a:bodyPr>
          <a:lstStyle/>
          <a:p>
            <a:r>
              <a:rPr lang="en-IN" sz="900" dirty="0"/>
              <a:t>Source: </a:t>
            </a:r>
            <a:r>
              <a:rPr lang="en-IN" sz="900" i="1" dirty="0"/>
              <a:t>TOGAF</a:t>
            </a:r>
            <a:r>
              <a:rPr lang="en-IN" sz="900" i="1" baseline="30000" dirty="0"/>
              <a:t>®</a:t>
            </a:r>
            <a:r>
              <a:rPr lang="en-IN" sz="900" i="1" dirty="0"/>
              <a:t> Version 9.1</a:t>
            </a:r>
            <a:r>
              <a:rPr lang="en-IN" sz="900" dirty="0"/>
              <a:t>, The Open Group, </a:t>
            </a:r>
            <a:r>
              <a:rPr lang="en-IN" sz="900" dirty="0" smtClean="0"/>
              <a:t>2011</a:t>
            </a:r>
            <a:endParaRPr lang="en-IN" sz="900" dirty="0"/>
          </a:p>
        </p:txBody>
      </p:sp>
    </p:spTree>
    <p:extLst>
      <p:ext uri="{BB962C8B-B14F-4D97-AF65-F5344CB8AC3E}">
        <p14:creationId xmlns:p14="http://schemas.microsoft.com/office/powerpoint/2010/main" val="2485482785"/>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p:cNvSpPr/>
          <p:nvPr/>
        </p:nvSpPr>
        <p:spPr>
          <a:xfrm>
            <a:off x="3441226" y="840883"/>
            <a:ext cx="2337272" cy="5617181"/>
          </a:xfrm>
          <a:prstGeom prst="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Business Architecture</a:t>
            </a:r>
            <a:endParaRPr lang="en-US" sz="800" b="1" dirty="0">
              <a:solidFill>
                <a:schemeClr val="tx1"/>
              </a:solidFill>
            </a:endParaRPr>
          </a:p>
        </p:txBody>
      </p:sp>
      <p:sp>
        <p:nvSpPr>
          <p:cNvPr id="28" name="Rectangle 27"/>
          <p:cNvSpPr/>
          <p:nvPr/>
        </p:nvSpPr>
        <p:spPr>
          <a:xfrm>
            <a:off x="3517198" y="1087849"/>
            <a:ext cx="2185327" cy="1788701"/>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Catalogs</a:t>
            </a:r>
          </a:p>
        </p:txBody>
      </p:sp>
      <p:sp>
        <p:nvSpPr>
          <p:cNvPr id="29" name="Rectangle 28"/>
          <p:cNvSpPr/>
          <p:nvPr/>
        </p:nvSpPr>
        <p:spPr>
          <a:xfrm>
            <a:off x="3517198" y="3000453"/>
            <a:ext cx="2185327" cy="683801"/>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Matrices</a:t>
            </a:r>
            <a:endParaRPr lang="en-US" sz="800" b="1" dirty="0">
              <a:solidFill>
                <a:schemeClr val="tx1"/>
              </a:solidFill>
            </a:endParaRPr>
          </a:p>
        </p:txBody>
      </p:sp>
      <p:sp>
        <p:nvSpPr>
          <p:cNvPr id="30" name="Rectangle 29"/>
          <p:cNvSpPr/>
          <p:nvPr/>
        </p:nvSpPr>
        <p:spPr>
          <a:xfrm>
            <a:off x="3517198" y="3803394"/>
            <a:ext cx="2185327" cy="1121951"/>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Core Diagrams</a:t>
            </a:r>
            <a:endParaRPr lang="en-US" sz="800" b="1" dirty="0">
              <a:solidFill>
                <a:schemeClr val="tx1"/>
              </a:solidFill>
            </a:endParaRPr>
          </a:p>
        </p:txBody>
      </p:sp>
      <p:sp>
        <p:nvSpPr>
          <p:cNvPr id="31" name="Rectangle 30"/>
          <p:cNvSpPr/>
          <p:nvPr/>
        </p:nvSpPr>
        <p:spPr>
          <a:xfrm>
            <a:off x="3616532" y="4228904"/>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Business Service/Information Diagram</a:t>
            </a:r>
          </a:p>
        </p:txBody>
      </p:sp>
      <p:sp>
        <p:nvSpPr>
          <p:cNvPr id="32" name="Rectangle 31"/>
          <p:cNvSpPr/>
          <p:nvPr/>
        </p:nvSpPr>
        <p:spPr>
          <a:xfrm>
            <a:off x="3616532" y="4446790"/>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Functional Decomposition Diagram</a:t>
            </a:r>
          </a:p>
        </p:txBody>
      </p:sp>
      <p:sp>
        <p:nvSpPr>
          <p:cNvPr id="33" name="Rectangle 32"/>
          <p:cNvSpPr/>
          <p:nvPr/>
        </p:nvSpPr>
        <p:spPr>
          <a:xfrm>
            <a:off x="3517198" y="5044486"/>
            <a:ext cx="2185327" cy="132774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Extension Diagrams</a:t>
            </a:r>
            <a:endParaRPr lang="en-US" sz="800" b="1" dirty="0">
              <a:solidFill>
                <a:schemeClr val="tx1"/>
              </a:solidFill>
            </a:endParaRPr>
          </a:p>
        </p:txBody>
      </p:sp>
      <p:sp>
        <p:nvSpPr>
          <p:cNvPr id="34" name="Rectangle 33"/>
          <p:cNvSpPr/>
          <p:nvPr/>
        </p:nvSpPr>
        <p:spPr>
          <a:xfrm>
            <a:off x="3616532" y="5469995"/>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Business Use-Case Diagram</a:t>
            </a:r>
          </a:p>
        </p:txBody>
      </p:sp>
      <p:sp>
        <p:nvSpPr>
          <p:cNvPr id="35" name="Rectangle 34"/>
          <p:cNvSpPr/>
          <p:nvPr/>
        </p:nvSpPr>
        <p:spPr>
          <a:xfrm>
            <a:off x="3616532" y="6123653"/>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Event Diagram</a:t>
            </a:r>
          </a:p>
        </p:txBody>
      </p:sp>
      <p:sp>
        <p:nvSpPr>
          <p:cNvPr id="44" name="Rectangle 43"/>
          <p:cNvSpPr/>
          <p:nvPr/>
        </p:nvSpPr>
        <p:spPr>
          <a:xfrm>
            <a:off x="3616532" y="1295473"/>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Organization/Actor Catalog</a:t>
            </a:r>
          </a:p>
        </p:txBody>
      </p:sp>
      <p:sp>
        <p:nvSpPr>
          <p:cNvPr id="45" name="Rectangle 44"/>
          <p:cNvSpPr/>
          <p:nvPr/>
        </p:nvSpPr>
        <p:spPr>
          <a:xfrm>
            <a:off x="3616532" y="3425963"/>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Actor/Role Matrix</a:t>
            </a:r>
          </a:p>
        </p:txBody>
      </p:sp>
      <p:sp>
        <p:nvSpPr>
          <p:cNvPr id="46" name="Rectangle 45"/>
          <p:cNvSpPr/>
          <p:nvPr/>
        </p:nvSpPr>
        <p:spPr>
          <a:xfrm>
            <a:off x="3616532" y="1515145"/>
            <a:ext cx="1986661" cy="175614"/>
          </a:xfrm>
          <a:prstGeom prst="rect">
            <a:avLst/>
          </a:prstGeom>
          <a:solidFill>
            <a:srgbClr val="3D7F6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spc="-10" dirty="0">
                <a:solidFill>
                  <a:schemeClr val="bg1"/>
                </a:solidFill>
              </a:rPr>
              <a:t>Driver/Goal/Objective Catalog</a:t>
            </a:r>
          </a:p>
        </p:txBody>
      </p:sp>
      <p:sp>
        <p:nvSpPr>
          <p:cNvPr id="47" name="Rectangle 46"/>
          <p:cNvSpPr/>
          <p:nvPr/>
        </p:nvSpPr>
        <p:spPr>
          <a:xfrm>
            <a:off x="3616532" y="5252109"/>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Goal/Objective/Service Diagram</a:t>
            </a:r>
          </a:p>
        </p:txBody>
      </p:sp>
      <p:sp>
        <p:nvSpPr>
          <p:cNvPr id="63" name="Rectangle 62"/>
          <p:cNvSpPr/>
          <p:nvPr/>
        </p:nvSpPr>
        <p:spPr>
          <a:xfrm>
            <a:off x="3616532" y="4011018"/>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Business Footprint Diagram</a:t>
            </a:r>
          </a:p>
        </p:txBody>
      </p:sp>
      <p:sp>
        <p:nvSpPr>
          <p:cNvPr id="64" name="Rectangle 63"/>
          <p:cNvSpPr/>
          <p:nvPr/>
        </p:nvSpPr>
        <p:spPr>
          <a:xfrm>
            <a:off x="3616532" y="2613503"/>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Contract/Measure Catalog</a:t>
            </a:r>
          </a:p>
        </p:txBody>
      </p:sp>
      <p:sp>
        <p:nvSpPr>
          <p:cNvPr id="65" name="Rectangle 64"/>
          <p:cNvSpPr/>
          <p:nvPr/>
        </p:nvSpPr>
        <p:spPr>
          <a:xfrm>
            <a:off x="3616532" y="1954489"/>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Business Service/Function Catalog</a:t>
            </a:r>
          </a:p>
        </p:txBody>
      </p:sp>
      <p:sp>
        <p:nvSpPr>
          <p:cNvPr id="66" name="Rectangle 65"/>
          <p:cNvSpPr/>
          <p:nvPr/>
        </p:nvSpPr>
        <p:spPr>
          <a:xfrm>
            <a:off x="3616532" y="2174161"/>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Location Catalog</a:t>
            </a:r>
          </a:p>
        </p:txBody>
      </p:sp>
      <p:sp>
        <p:nvSpPr>
          <p:cNvPr id="67" name="Rectangle 66"/>
          <p:cNvSpPr/>
          <p:nvPr/>
        </p:nvSpPr>
        <p:spPr>
          <a:xfrm>
            <a:off x="3616532" y="2393833"/>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Process/Event/Control/Product Catalog</a:t>
            </a:r>
          </a:p>
        </p:txBody>
      </p:sp>
      <p:sp>
        <p:nvSpPr>
          <p:cNvPr id="68" name="Rectangle 67"/>
          <p:cNvSpPr/>
          <p:nvPr/>
        </p:nvSpPr>
        <p:spPr>
          <a:xfrm>
            <a:off x="3616532" y="3208077"/>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Business Interaction Matrix</a:t>
            </a:r>
          </a:p>
        </p:txBody>
      </p:sp>
      <p:sp>
        <p:nvSpPr>
          <p:cNvPr id="69" name="Rectangle 68"/>
          <p:cNvSpPr/>
          <p:nvPr/>
        </p:nvSpPr>
        <p:spPr>
          <a:xfrm>
            <a:off x="3616532" y="4446790"/>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Functional Decomposition Diagram</a:t>
            </a:r>
          </a:p>
        </p:txBody>
      </p:sp>
      <p:sp>
        <p:nvSpPr>
          <p:cNvPr id="70" name="Rectangle 69"/>
          <p:cNvSpPr/>
          <p:nvPr/>
        </p:nvSpPr>
        <p:spPr>
          <a:xfrm>
            <a:off x="3616532" y="5687881"/>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Organization Decomposition Diagram</a:t>
            </a:r>
          </a:p>
        </p:txBody>
      </p:sp>
      <p:sp>
        <p:nvSpPr>
          <p:cNvPr id="71" name="Rectangle 70"/>
          <p:cNvSpPr/>
          <p:nvPr/>
        </p:nvSpPr>
        <p:spPr>
          <a:xfrm>
            <a:off x="3616532" y="1731245"/>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Role Catalog</a:t>
            </a:r>
          </a:p>
        </p:txBody>
      </p:sp>
      <p:sp>
        <p:nvSpPr>
          <p:cNvPr id="72" name="Rectangle 71"/>
          <p:cNvSpPr/>
          <p:nvPr/>
        </p:nvSpPr>
        <p:spPr>
          <a:xfrm>
            <a:off x="3616532" y="5905767"/>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Process Flow Diagram</a:t>
            </a:r>
          </a:p>
        </p:txBody>
      </p:sp>
      <p:sp>
        <p:nvSpPr>
          <p:cNvPr id="3" name="Title 2"/>
          <p:cNvSpPr>
            <a:spLocks noGrp="1"/>
          </p:cNvSpPr>
          <p:nvPr>
            <p:ph type="title"/>
          </p:nvPr>
        </p:nvSpPr>
        <p:spPr/>
        <p:txBody>
          <a:bodyPr/>
          <a:lstStyle/>
          <a:p>
            <a:r>
              <a:rPr lang="en-IN" dirty="0"/>
              <a:t>Business Architecture </a:t>
            </a:r>
            <a:r>
              <a:rPr lang="en-IN" dirty="0" err="1"/>
              <a:t>Artifacts</a:t>
            </a:r>
            <a:endParaRPr lang="en-US" dirty="0"/>
          </a:p>
        </p:txBody>
      </p:sp>
      <p:sp>
        <p:nvSpPr>
          <p:cNvPr id="20" name="Rectangle 19"/>
          <p:cNvSpPr/>
          <p:nvPr/>
        </p:nvSpPr>
        <p:spPr>
          <a:xfrm>
            <a:off x="2821" y="6265333"/>
            <a:ext cx="2962671" cy="230832"/>
          </a:xfrm>
          <a:prstGeom prst="rect">
            <a:avLst/>
          </a:prstGeom>
        </p:spPr>
        <p:txBody>
          <a:bodyPr wrap="none">
            <a:spAutoFit/>
          </a:bodyPr>
          <a:lstStyle/>
          <a:p>
            <a:r>
              <a:rPr lang="en-IN" sz="900" dirty="0"/>
              <a:t>Source: </a:t>
            </a:r>
            <a:r>
              <a:rPr lang="en-IN" sz="900" i="1" dirty="0"/>
              <a:t>TOGAF</a:t>
            </a:r>
            <a:r>
              <a:rPr lang="en-IN" sz="900" i="1" baseline="30000" dirty="0"/>
              <a:t>®</a:t>
            </a:r>
            <a:r>
              <a:rPr lang="en-IN" sz="900" i="1" dirty="0"/>
              <a:t> Version 9.1</a:t>
            </a:r>
            <a:r>
              <a:rPr lang="en-IN" sz="900" dirty="0"/>
              <a:t>, The Open Group, </a:t>
            </a:r>
            <a:r>
              <a:rPr lang="en-IN" sz="900" dirty="0" smtClean="0"/>
              <a:t>2011</a:t>
            </a:r>
            <a:endParaRPr lang="en-IN" sz="900" dirty="0"/>
          </a:p>
        </p:txBody>
      </p:sp>
      <p:sp>
        <p:nvSpPr>
          <p:cNvPr id="52" name="Rectangle 51"/>
          <p:cNvSpPr/>
          <p:nvPr/>
        </p:nvSpPr>
        <p:spPr>
          <a:xfrm>
            <a:off x="3616532" y="4664676"/>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Product Lifecycle Diagram</a:t>
            </a:r>
          </a:p>
        </p:txBody>
      </p:sp>
    </p:spTree>
    <p:extLst>
      <p:ext uri="{BB962C8B-B14F-4D97-AF65-F5344CB8AC3E}">
        <p14:creationId xmlns:p14="http://schemas.microsoft.com/office/powerpoint/2010/main" val="2946643479"/>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jdelijke aanduiding voor inhoud 2"/>
          <p:cNvSpPr>
            <a:spLocks noGrp="1"/>
          </p:cNvSpPr>
          <p:nvPr>
            <p:ph idx="1"/>
          </p:nvPr>
        </p:nvSpPr>
        <p:spPr>
          <a:xfrm>
            <a:off x="457511" y="987990"/>
            <a:ext cx="6135446" cy="5312141"/>
          </a:xfrm>
        </p:spPr>
        <p:txBody>
          <a:bodyPr>
            <a:normAutofit/>
          </a:bodyPr>
          <a:lstStyle/>
          <a:p>
            <a:r>
              <a:rPr lang="nl-NL" sz="1800" b="0" dirty="0"/>
              <a:t>Driver/Goal/Objective Catalog</a:t>
            </a:r>
            <a:endParaRPr lang="en-US" sz="1800" b="0" dirty="0"/>
          </a:p>
          <a:p>
            <a:pPr lvl="2"/>
            <a:r>
              <a:rPr lang="en-US" b="0" dirty="0"/>
              <a:t>The purpose of the Driver/Goal/Objective catalog is to provide a cross-organizational reference of how an organization meets its drivers in practical terms through goals, objectives, and (optionally) measures.</a:t>
            </a:r>
          </a:p>
          <a:p>
            <a:pPr lvl="2"/>
            <a:r>
              <a:rPr lang="en-US" b="0" dirty="0"/>
              <a:t>Publishing a definitive breakdown of drivers, goals, and objectives allows change initiatives within the enterprise to identify synergies across the organization, which in turn allow stakeholders to be identified and related change initiatives to be aligned or consolidated.</a:t>
            </a:r>
          </a:p>
        </p:txBody>
      </p:sp>
      <p:sp>
        <p:nvSpPr>
          <p:cNvPr id="86017" name="Titel 1"/>
          <p:cNvSpPr>
            <a:spLocks noGrp="1"/>
          </p:cNvSpPr>
          <p:nvPr>
            <p:ph type="title"/>
          </p:nvPr>
        </p:nvSpPr>
        <p:spPr/>
        <p:txBody>
          <a:bodyPr/>
          <a:lstStyle/>
          <a:p>
            <a:r>
              <a:rPr lang="nl-NL"/>
              <a:t>Driver/Goal/Objective Catalog</a:t>
            </a:r>
          </a:p>
        </p:txBody>
      </p:sp>
      <p:sp>
        <p:nvSpPr>
          <p:cNvPr id="6" name="Rectangle 5"/>
          <p:cNvSpPr/>
          <p:nvPr/>
        </p:nvSpPr>
        <p:spPr>
          <a:xfrm>
            <a:off x="6699042" y="829839"/>
            <a:ext cx="2337272" cy="5617181"/>
          </a:xfrm>
          <a:prstGeom prst="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Business Architecture</a:t>
            </a:r>
            <a:endParaRPr lang="en-US" sz="800" b="1" dirty="0">
              <a:solidFill>
                <a:schemeClr val="tx1"/>
              </a:solidFill>
            </a:endParaRPr>
          </a:p>
        </p:txBody>
      </p:sp>
      <p:sp>
        <p:nvSpPr>
          <p:cNvPr id="7" name="Rectangle 6"/>
          <p:cNvSpPr/>
          <p:nvPr/>
        </p:nvSpPr>
        <p:spPr>
          <a:xfrm>
            <a:off x="6775014" y="1076805"/>
            <a:ext cx="2185327" cy="1788701"/>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Catalogs</a:t>
            </a:r>
          </a:p>
        </p:txBody>
      </p:sp>
      <p:sp>
        <p:nvSpPr>
          <p:cNvPr id="8" name="Rectangle 7"/>
          <p:cNvSpPr/>
          <p:nvPr/>
        </p:nvSpPr>
        <p:spPr>
          <a:xfrm>
            <a:off x="6775014" y="2989409"/>
            <a:ext cx="2185327" cy="683801"/>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Matrices</a:t>
            </a:r>
            <a:endParaRPr lang="en-US" sz="800" b="1" dirty="0">
              <a:solidFill>
                <a:schemeClr val="tx1"/>
              </a:solidFill>
            </a:endParaRPr>
          </a:p>
        </p:txBody>
      </p:sp>
      <p:sp>
        <p:nvSpPr>
          <p:cNvPr id="9" name="Rectangle 8"/>
          <p:cNvSpPr/>
          <p:nvPr/>
        </p:nvSpPr>
        <p:spPr>
          <a:xfrm>
            <a:off x="6775014" y="3792350"/>
            <a:ext cx="2185327" cy="1121951"/>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Core Diagrams</a:t>
            </a:r>
            <a:endParaRPr lang="en-US" sz="800" b="1" dirty="0">
              <a:solidFill>
                <a:schemeClr val="tx1"/>
              </a:solidFill>
            </a:endParaRPr>
          </a:p>
        </p:txBody>
      </p:sp>
      <p:sp>
        <p:nvSpPr>
          <p:cNvPr id="10" name="Rectangle 9"/>
          <p:cNvSpPr/>
          <p:nvPr/>
        </p:nvSpPr>
        <p:spPr>
          <a:xfrm>
            <a:off x="6874348" y="4217860"/>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Business Service/Information Diagram</a:t>
            </a:r>
          </a:p>
        </p:txBody>
      </p:sp>
      <p:sp>
        <p:nvSpPr>
          <p:cNvPr id="11" name="Rectangle 10"/>
          <p:cNvSpPr/>
          <p:nvPr/>
        </p:nvSpPr>
        <p:spPr>
          <a:xfrm>
            <a:off x="6874348" y="4435746"/>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Functional Decomposition Diagram</a:t>
            </a:r>
          </a:p>
        </p:txBody>
      </p:sp>
      <p:sp>
        <p:nvSpPr>
          <p:cNvPr id="12" name="Rectangle 11"/>
          <p:cNvSpPr/>
          <p:nvPr/>
        </p:nvSpPr>
        <p:spPr>
          <a:xfrm>
            <a:off x="6775014" y="5033442"/>
            <a:ext cx="2185327" cy="132774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Extension Diagrams</a:t>
            </a:r>
            <a:endParaRPr lang="en-US" sz="800" b="1" dirty="0">
              <a:solidFill>
                <a:schemeClr val="tx1"/>
              </a:solidFill>
            </a:endParaRPr>
          </a:p>
        </p:txBody>
      </p:sp>
      <p:sp>
        <p:nvSpPr>
          <p:cNvPr id="13" name="Rectangle 12"/>
          <p:cNvSpPr/>
          <p:nvPr/>
        </p:nvSpPr>
        <p:spPr>
          <a:xfrm>
            <a:off x="6874348" y="5458951"/>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Business Use-Case Diagram</a:t>
            </a:r>
          </a:p>
        </p:txBody>
      </p:sp>
      <p:sp>
        <p:nvSpPr>
          <p:cNvPr id="14" name="Rectangle 13"/>
          <p:cNvSpPr/>
          <p:nvPr/>
        </p:nvSpPr>
        <p:spPr>
          <a:xfrm>
            <a:off x="6874348" y="6112609"/>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Event Diagram</a:t>
            </a:r>
          </a:p>
        </p:txBody>
      </p:sp>
      <p:sp>
        <p:nvSpPr>
          <p:cNvPr id="15" name="Rectangle 14"/>
          <p:cNvSpPr/>
          <p:nvPr/>
        </p:nvSpPr>
        <p:spPr>
          <a:xfrm>
            <a:off x="6874348" y="1284429"/>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Organization/Actor Catalog</a:t>
            </a:r>
          </a:p>
        </p:txBody>
      </p:sp>
      <p:sp>
        <p:nvSpPr>
          <p:cNvPr id="16" name="Rectangle 15"/>
          <p:cNvSpPr/>
          <p:nvPr/>
        </p:nvSpPr>
        <p:spPr>
          <a:xfrm>
            <a:off x="6874348" y="3414919"/>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Actor/Role Matrix</a:t>
            </a:r>
          </a:p>
        </p:txBody>
      </p:sp>
      <p:sp>
        <p:nvSpPr>
          <p:cNvPr id="17" name="Rectangle 16"/>
          <p:cNvSpPr/>
          <p:nvPr/>
        </p:nvSpPr>
        <p:spPr>
          <a:xfrm>
            <a:off x="6874348" y="1504101"/>
            <a:ext cx="1986661" cy="175614"/>
          </a:xfrm>
          <a:prstGeom prst="rect">
            <a:avLst/>
          </a:prstGeom>
          <a:solidFill>
            <a:srgbClr val="3D7F6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spc="-10" dirty="0">
                <a:solidFill>
                  <a:schemeClr val="bg1"/>
                </a:solidFill>
              </a:rPr>
              <a:t>Driver/Goal/Objective Catalog</a:t>
            </a:r>
          </a:p>
        </p:txBody>
      </p:sp>
      <p:sp>
        <p:nvSpPr>
          <p:cNvPr id="18" name="Rectangle 17"/>
          <p:cNvSpPr/>
          <p:nvPr/>
        </p:nvSpPr>
        <p:spPr>
          <a:xfrm>
            <a:off x="6874348" y="5241065"/>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Goal/Objective/Service Diagram</a:t>
            </a:r>
          </a:p>
        </p:txBody>
      </p:sp>
      <p:sp>
        <p:nvSpPr>
          <p:cNvPr id="19" name="Rectangle 18"/>
          <p:cNvSpPr/>
          <p:nvPr/>
        </p:nvSpPr>
        <p:spPr>
          <a:xfrm>
            <a:off x="6874348" y="3999974"/>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Business Footprint Diagram</a:t>
            </a:r>
          </a:p>
        </p:txBody>
      </p:sp>
      <p:sp>
        <p:nvSpPr>
          <p:cNvPr id="20" name="Rectangle 19"/>
          <p:cNvSpPr/>
          <p:nvPr/>
        </p:nvSpPr>
        <p:spPr>
          <a:xfrm>
            <a:off x="6874348" y="2602459"/>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Contract/Measure Catalog</a:t>
            </a:r>
          </a:p>
        </p:txBody>
      </p:sp>
      <p:sp>
        <p:nvSpPr>
          <p:cNvPr id="21" name="Rectangle 20"/>
          <p:cNvSpPr/>
          <p:nvPr/>
        </p:nvSpPr>
        <p:spPr>
          <a:xfrm>
            <a:off x="6874348" y="1943445"/>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Business Service/Function Catalog</a:t>
            </a:r>
          </a:p>
        </p:txBody>
      </p:sp>
      <p:sp>
        <p:nvSpPr>
          <p:cNvPr id="22" name="Rectangle 21"/>
          <p:cNvSpPr/>
          <p:nvPr/>
        </p:nvSpPr>
        <p:spPr>
          <a:xfrm>
            <a:off x="6874348" y="2163117"/>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Location Catalog</a:t>
            </a:r>
          </a:p>
        </p:txBody>
      </p:sp>
      <p:sp>
        <p:nvSpPr>
          <p:cNvPr id="23" name="Rectangle 22"/>
          <p:cNvSpPr/>
          <p:nvPr/>
        </p:nvSpPr>
        <p:spPr>
          <a:xfrm>
            <a:off x="6874348" y="2382789"/>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Process/Event/Control/Product Catalog</a:t>
            </a:r>
          </a:p>
        </p:txBody>
      </p:sp>
      <p:sp>
        <p:nvSpPr>
          <p:cNvPr id="24" name="Rectangle 23"/>
          <p:cNvSpPr/>
          <p:nvPr/>
        </p:nvSpPr>
        <p:spPr>
          <a:xfrm>
            <a:off x="6874348" y="3197033"/>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Business Interaction Matrix</a:t>
            </a:r>
          </a:p>
        </p:txBody>
      </p:sp>
      <p:sp>
        <p:nvSpPr>
          <p:cNvPr id="25" name="Rectangle 24"/>
          <p:cNvSpPr/>
          <p:nvPr/>
        </p:nvSpPr>
        <p:spPr>
          <a:xfrm>
            <a:off x="6874348" y="4435746"/>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Functional Decomposition Diagram</a:t>
            </a:r>
          </a:p>
        </p:txBody>
      </p:sp>
      <p:sp>
        <p:nvSpPr>
          <p:cNvPr id="26" name="Rectangle 25"/>
          <p:cNvSpPr/>
          <p:nvPr/>
        </p:nvSpPr>
        <p:spPr>
          <a:xfrm>
            <a:off x="6874348" y="5676837"/>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Organization Decomposition Diagram</a:t>
            </a:r>
          </a:p>
        </p:txBody>
      </p:sp>
      <p:sp>
        <p:nvSpPr>
          <p:cNvPr id="27" name="Rectangle 26"/>
          <p:cNvSpPr/>
          <p:nvPr/>
        </p:nvSpPr>
        <p:spPr>
          <a:xfrm>
            <a:off x="6874348" y="1720201"/>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Role Catalog</a:t>
            </a:r>
          </a:p>
        </p:txBody>
      </p:sp>
      <p:sp>
        <p:nvSpPr>
          <p:cNvPr id="28" name="Rectangle 27"/>
          <p:cNvSpPr/>
          <p:nvPr/>
        </p:nvSpPr>
        <p:spPr>
          <a:xfrm>
            <a:off x="6874348" y="5894723"/>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Process Flow Diagram</a:t>
            </a:r>
          </a:p>
        </p:txBody>
      </p:sp>
      <p:sp>
        <p:nvSpPr>
          <p:cNvPr id="29" name="Rectangle 28"/>
          <p:cNvSpPr/>
          <p:nvPr/>
        </p:nvSpPr>
        <p:spPr>
          <a:xfrm>
            <a:off x="6874348" y="4653632"/>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Product Lifecycle Diagram</a:t>
            </a:r>
          </a:p>
        </p:txBody>
      </p:sp>
    </p:spTree>
    <p:extLst>
      <p:ext uri="{BB962C8B-B14F-4D97-AF65-F5344CB8AC3E}">
        <p14:creationId xmlns:p14="http://schemas.microsoft.com/office/powerpoint/2010/main" val="4101244893"/>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4"/>
          <p:cNvSpPr>
            <a:spLocks noGrp="1"/>
          </p:cNvSpPr>
          <p:nvPr>
            <p:ph type="title"/>
          </p:nvPr>
        </p:nvSpPr>
        <p:spPr/>
        <p:txBody>
          <a:bodyPr/>
          <a:lstStyle/>
          <a:p>
            <a:r>
              <a:rPr lang="nl-NL"/>
              <a:t>Driver/Goal/Objective Catalog</a:t>
            </a:r>
            <a:endParaRPr lang="en-US"/>
          </a:p>
        </p:txBody>
      </p:sp>
      <p:sp>
        <p:nvSpPr>
          <p:cNvPr id="6" name="Content Placeholder 1"/>
          <p:cNvSpPr txBox="1">
            <a:spLocks/>
          </p:cNvSpPr>
          <p:nvPr/>
        </p:nvSpPr>
        <p:spPr>
          <a:xfrm>
            <a:off x="462996" y="997065"/>
            <a:ext cx="8366679" cy="4436609"/>
          </a:xfrm>
          <a:prstGeom prst="rect">
            <a:avLst/>
          </a:prstGeom>
          <a:noFill/>
        </p:spPr>
        <p:txBody>
          <a:bodyPr>
            <a:noAutofit/>
          </a:bodyPr>
          <a:lstStyle>
            <a:lvl1pPr marL="0" indent="0" algn="l" rtl="0" eaLnBrk="1" fontAlgn="base" hangingPunct="1">
              <a:lnSpc>
                <a:spcPct val="120000"/>
              </a:lnSpc>
              <a:spcBef>
                <a:spcPct val="20000"/>
              </a:spcBef>
              <a:spcAft>
                <a:spcPct val="0"/>
              </a:spcAft>
              <a:buFont typeface="Arial" charset="0"/>
              <a:buNone/>
              <a:defRPr sz="2000" b="1" i="0" kern="1200">
                <a:solidFill>
                  <a:schemeClr val="tx1"/>
                </a:solidFill>
                <a:latin typeface="Arial" pitchFamily="34" charset="0"/>
                <a:ea typeface="+mn-ea"/>
                <a:cs typeface="Arial" pitchFamily="34" charset="0"/>
              </a:defRPr>
            </a:lvl1pPr>
            <a:lvl2pPr marL="0" indent="0" algn="l" rtl="0" eaLnBrk="1" fontAlgn="base" hangingPunct="1">
              <a:lnSpc>
                <a:spcPct val="120000"/>
              </a:lnSpc>
              <a:spcBef>
                <a:spcPts val="300"/>
              </a:spcBef>
              <a:spcAft>
                <a:spcPts val="300"/>
              </a:spcAft>
              <a:buFont typeface="Arial" pitchFamily="34" charset="0"/>
              <a:buNone/>
              <a:defRPr sz="1800" kern="1200">
                <a:solidFill>
                  <a:schemeClr val="tx1"/>
                </a:solidFill>
                <a:latin typeface="Arial" pitchFamily="34" charset="0"/>
                <a:ea typeface="+mn-ea"/>
                <a:cs typeface="Arial" pitchFamily="34" charset="0"/>
              </a:defRPr>
            </a:lvl2pPr>
            <a:lvl3pPr marL="455613" indent="-285750" algn="l" rtl="0" eaLnBrk="1" fontAlgn="base" hangingPunct="1">
              <a:lnSpc>
                <a:spcPct val="120000"/>
              </a:lnSpc>
              <a:spcBef>
                <a:spcPts val="300"/>
              </a:spcBef>
              <a:spcAft>
                <a:spcPts val="300"/>
              </a:spcAft>
              <a:buFont typeface="Wingdings 3" pitchFamily="18" charset="2"/>
              <a:buChar char=""/>
              <a:defRPr sz="1600" kern="1200">
                <a:solidFill>
                  <a:schemeClr val="tx1"/>
                </a:solidFill>
                <a:latin typeface="Arial" pitchFamily="34" charset="0"/>
                <a:ea typeface="+mn-ea"/>
                <a:cs typeface="Arial" pitchFamily="34" charset="0"/>
              </a:defRPr>
            </a:lvl3pPr>
            <a:lvl4pPr marL="704850" indent="-250825" algn="l" defTabSz="892175" rtl="0" eaLnBrk="1" fontAlgn="base" hangingPunct="1">
              <a:lnSpc>
                <a:spcPct val="120000"/>
              </a:lnSpc>
              <a:spcBef>
                <a:spcPts val="300"/>
              </a:spcBef>
              <a:spcAft>
                <a:spcPts val="300"/>
              </a:spcAft>
              <a:buFont typeface="Wingdings 3" pitchFamily="18" charset="2"/>
              <a:buChar char=""/>
              <a:defRPr sz="1400" kern="1200">
                <a:solidFill>
                  <a:schemeClr val="tx1"/>
                </a:solidFill>
                <a:latin typeface="Arial" pitchFamily="34" charset="0"/>
                <a:ea typeface="+mn-ea"/>
                <a:cs typeface="Arial" pitchFamily="34" charset="0"/>
              </a:defRPr>
            </a:lvl4pPr>
            <a:lvl5pPr marL="928688" indent="-228600" algn="l" defTabSz="892175" rtl="0" eaLnBrk="1" fontAlgn="base" hangingPunct="1">
              <a:spcBef>
                <a:spcPct val="20000"/>
              </a:spcBef>
              <a:spcAft>
                <a:spcPct val="0"/>
              </a:spcAft>
              <a:buFont typeface="Wingdings 3" pitchFamily="18" charset="2"/>
              <a:buChar char=""/>
              <a:defRPr sz="12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Tx/>
              <a:buNone/>
              <a:defRPr/>
            </a:pPr>
            <a:r>
              <a:rPr lang="en-US" sz="1800" b="0" dirty="0" smtClean="0"/>
              <a:t>Goals</a:t>
            </a:r>
          </a:p>
          <a:p>
            <a:pPr lvl="2">
              <a:lnSpc>
                <a:spcPct val="100000"/>
              </a:lnSpc>
              <a:spcBef>
                <a:spcPts val="10"/>
              </a:spcBef>
              <a:spcAft>
                <a:spcPts val="10"/>
              </a:spcAft>
              <a:defRPr/>
            </a:pPr>
            <a:r>
              <a:rPr lang="en-US" b="0" dirty="0"/>
              <a:t>Increase the quality of our education and the success of our </a:t>
            </a:r>
            <a:r>
              <a:rPr lang="en-US" b="0" dirty="0" smtClean="0"/>
              <a:t>students.</a:t>
            </a:r>
            <a:endParaRPr lang="nl-NL" b="0" dirty="0"/>
          </a:p>
          <a:p>
            <a:pPr lvl="2">
              <a:lnSpc>
                <a:spcPct val="100000"/>
              </a:lnSpc>
              <a:spcBef>
                <a:spcPts val="10"/>
              </a:spcBef>
              <a:spcAft>
                <a:spcPts val="10"/>
              </a:spcAft>
              <a:defRPr/>
            </a:pPr>
            <a:r>
              <a:rPr lang="en-US" b="0" dirty="0"/>
              <a:t>Strengthen our cooperation with other higher education institutions develop joint </a:t>
            </a:r>
            <a:r>
              <a:rPr lang="en-US" b="0" dirty="0" smtClean="0"/>
              <a:t>education programs.</a:t>
            </a:r>
            <a:endParaRPr lang="nl-NL" b="0" dirty="0"/>
          </a:p>
          <a:p>
            <a:pPr lvl="2">
              <a:lnSpc>
                <a:spcPct val="100000"/>
              </a:lnSpc>
              <a:spcBef>
                <a:spcPts val="10"/>
              </a:spcBef>
              <a:spcAft>
                <a:spcPts val="10"/>
              </a:spcAft>
              <a:defRPr/>
            </a:pPr>
            <a:r>
              <a:rPr lang="en-US" b="0" dirty="0"/>
              <a:t>Strengthen our cooperation with businesses in the region to transfer </a:t>
            </a:r>
            <a:r>
              <a:rPr lang="en-US" b="0" dirty="0" smtClean="0"/>
              <a:t>knowledge.</a:t>
            </a:r>
            <a:endParaRPr lang="nl-NL" b="0" dirty="0"/>
          </a:p>
          <a:p>
            <a:pPr lvl="2">
              <a:lnSpc>
                <a:spcPct val="100000"/>
              </a:lnSpc>
              <a:spcBef>
                <a:spcPts val="10"/>
              </a:spcBef>
              <a:spcAft>
                <a:spcPts val="10"/>
              </a:spcAft>
              <a:defRPr/>
            </a:pPr>
            <a:r>
              <a:rPr lang="en-US" b="0" dirty="0"/>
              <a:t>Increase the reuse of research results and research data within education and </a:t>
            </a:r>
            <a:r>
              <a:rPr lang="en-US" b="0" dirty="0" smtClean="0"/>
              <a:t>research.</a:t>
            </a:r>
            <a:endParaRPr lang="nl-NL" b="0" dirty="0"/>
          </a:p>
          <a:p>
            <a:pPr lvl="2">
              <a:lnSpc>
                <a:spcPct val="100000"/>
              </a:lnSpc>
              <a:spcBef>
                <a:spcPts val="10"/>
              </a:spcBef>
              <a:spcAft>
                <a:spcPts val="10"/>
              </a:spcAft>
              <a:defRPr/>
            </a:pPr>
            <a:r>
              <a:rPr lang="en-US" b="0" dirty="0"/>
              <a:t>Keep focus on limiting overhead </a:t>
            </a:r>
            <a:r>
              <a:rPr lang="en-US" b="0" dirty="0" smtClean="0"/>
              <a:t>costs </a:t>
            </a:r>
            <a:r>
              <a:rPr lang="en-US" b="0" dirty="0"/>
              <a:t>and maintain current educational staff </a:t>
            </a:r>
            <a:r>
              <a:rPr lang="en-US" b="0" dirty="0" smtClean="0"/>
              <a:t>levels.</a:t>
            </a:r>
            <a:endParaRPr lang="nl-NL" b="0" dirty="0"/>
          </a:p>
          <a:p>
            <a:pPr>
              <a:buFontTx/>
              <a:buNone/>
              <a:defRPr/>
            </a:pPr>
            <a:endParaRPr lang="en-US" sz="1800" b="0" dirty="0" smtClean="0"/>
          </a:p>
          <a:p>
            <a:pPr>
              <a:buFontTx/>
              <a:buNone/>
              <a:defRPr/>
            </a:pPr>
            <a:r>
              <a:rPr lang="en-US" sz="1800" b="0" dirty="0" smtClean="0"/>
              <a:t>Objectives</a:t>
            </a:r>
          </a:p>
          <a:p>
            <a:pPr lvl="2">
              <a:lnSpc>
                <a:spcPct val="100000"/>
              </a:lnSpc>
              <a:spcBef>
                <a:spcPts val="10"/>
              </a:spcBef>
              <a:spcAft>
                <a:spcPts val="10"/>
              </a:spcAft>
              <a:defRPr/>
            </a:pPr>
            <a:r>
              <a:rPr lang="en-US" b="0" dirty="0"/>
              <a:t>Increase the number of students in honors </a:t>
            </a:r>
            <a:r>
              <a:rPr lang="en-US" b="0" dirty="0" smtClean="0"/>
              <a:t>programs </a:t>
            </a:r>
            <a:r>
              <a:rPr lang="en-US" b="0" dirty="0"/>
              <a:t>from 9% to 12%.</a:t>
            </a:r>
            <a:endParaRPr lang="nl-NL" b="0" dirty="0"/>
          </a:p>
          <a:p>
            <a:pPr lvl="2">
              <a:lnSpc>
                <a:spcPct val="100000"/>
              </a:lnSpc>
              <a:spcBef>
                <a:spcPts val="10"/>
              </a:spcBef>
              <a:spcAft>
                <a:spcPts val="10"/>
              </a:spcAft>
              <a:defRPr/>
            </a:pPr>
            <a:r>
              <a:rPr lang="en-US" b="0" dirty="0"/>
              <a:t>Decrease the dropout rate of students after one year from 18% to 15%.</a:t>
            </a:r>
            <a:endParaRPr lang="nl-NL" b="0" dirty="0"/>
          </a:p>
          <a:p>
            <a:pPr lvl="2">
              <a:lnSpc>
                <a:spcPct val="100000"/>
              </a:lnSpc>
              <a:spcBef>
                <a:spcPts val="10"/>
              </a:spcBef>
              <a:spcAft>
                <a:spcPts val="10"/>
              </a:spcAft>
              <a:defRPr/>
            </a:pPr>
            <a:r>
              <a:rPr lang="en-US" b="0" dirty="0"/>
              <a:t>Decrease the switch rate of students to another </a:t>
            </a:r>
            <a:r>
              <a:rPr lang="en-US" b="0" dirty="0" smtClean="0"/>
              <a:t>program </a:t>
            </a:r>
            <a:r>
              <a:rPr lang="en-US" b="0" dirty="0"/>
              <a:t>from 7% to 6%.</a:t>
            </a:r>
            <a:endParaRPr lang="nl-NL" b="0" dirty="0"/>
          </a:p>
          <a:p>
            <a:pPr lvl="2">
              <a:lnSpc>
                <a:spcPct val="100000"/>
              </a:lnSpc>
              <a:spcBef>
                <a:spcPts val="10"/>
              </a:spcBef>
              <a:spcAft>
                <a:spcPts val="10"/>
              </a:spcAft>
              <a:defRPr/>
            </a:pPr>
            <a:r>
              <a:rPr lang="en-US" b="0" dirty="0"/>
              <a:t>Increase the number students that obtain a degree certificate from 74% to 77%.</a:t>
            </a:r>
            <a:endParaRPr lang="nl-NL" b="0" dirty="0"/>
          </a:p>
          <a:p>
            <a:pPr lvl="2">
              <a:lnSpc>
                <a:spcPct val="100000"/>
              </a:lnSpc>
              <a:spcBef>
                <a:spcPts val="10"/>
              </a:spcBef>
              <a:spcAft>
                <a:spcPts val="10"/>
              </a:spcAft>
              <a:defRPr/>
            </a:pPr>
            <a:r>
              <a:rPr lang="en-US" b="0" dirty="0"/>
              <a:t>Increase the percentage of lecturers with a basic teaching qualification from </a:t>
            </a:r>
            <a:r>
              <a:rPr lang="en-US" b="0" dirty="0" smtClean="0"/>
              <a:t/>
            </a:r>
            <a:br>
              <a:rPr lang="en-US" b="0" dirty="0" smtClean="0"/>
            </a:br>
            <a:r>
              <a:rPr lang="en-US" b="0" dirty="0" smtClean="0"/>
              <a:t>20</a:t>
            </a:r>
            <a:r>
              <a:rPr lang="en-US" b="0" dirty="0"/>
              <a:t>% to 60%.</a:t>
            </a:r>
            <a:endParaRPr lang="nl-NL" b="0" dirty="0"/>
          </a:p>
          <a:p>
            <a:pPr lvl="2">
              <a:lnSpc>
                <a:spcPct val="100000"/>
              </a:lnSpc>
              <a:spcBef>
                <a:spcPts val="10"/>
              </a:spcBef>
              <a:spcAft>
                <a:spcPts val="10"/>
              </a:spcAft>
              <a:defRPr/>
            </a:pPr>
            <a:r>
              <a:rPr lang="en-US" b="0" dirty="0"/>
              <a:t>Increase the spend of all public government research grants on valorization to 2.5%.</a:t>
            </a:r>
            <a:endParaRPr lang="nl-NL" b="0" dirty="0"/>
          </a:p>
          <a:p>
            <a:pPr lvl="2">
              <a:lnSpc>
                <a:spcPct val="100000"/>
              </a:lnSpc>
              <a:spcBef>
                <a:spcPts val="10"/>
              </a:spcBef>
              <a:spcAft>
                <a:spcPts val="10"/>
              </a:spcAft>
              <a:defRPr/>
            </a:pPr>
            <a:r>
              <a:rPr lang="en-US" b="0" dirty="0"/>
              <a:t>Maintain a maximum of 20% for the ration between overhead and turnover</a:t>
            </a:r>
            <a:r>
              <a:rPr lang="en-US" b="0" dirty="0" smtClean="0"/>
              <a:t>.</a:t>
            </a:r>
            <a:endParaRPr lang="nl-NL" b="0" dirty="0"/>
          </a:p>
        </p:txBody>
      </p:sp>
    </p:spTree>
    <p:extLst>
      <p:ext uri="{BB962C8B-B14F-4D97-AF65-F5344CB8AC3E}">
        <p14:creationId xmlns:p14="http://schemas.microsoft.com/office/powerpoint/2010/main" val="82163162"/>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jdelijke aanduiding voor inhoud 2"/>
          <p:cNvSpPr>
            <a:spLocks noGrp="1"/>
          </p:cNvSpPr>
          <p:nvPr>
            <p:ph idx="1"/>
          </p:nvPr>
        </p:nvSpPr>
        <p:spPr>
          <a:xfrm>
            <a:off x="457512" y="987990"/>
            <a:ext cx="5914714" cy="5312141"/>
          </a:xfrm>
        </p:spPr>
        <p:txBody>
          <a:bodyPr>
            <a:normAutofit/>
          </a:bodyPr>
          <a:lstStyle/>
          <a:p>
            <a:r>
              <a:rPr lang="nl-NL" sz="1800" b="0" dirty="0"/>
              <a:t>Functional Decomposition Diagram</a:t>
            </a:r>
          </a:p>
          <a:p>
            <a:pPr lvl="2"/>
            <a:r>
              <a:rPr lang="nl-NL" b="0" dirty="0"/>
              <a:t>The purpose of the Functional Decomposition diagram is to show on a single page the capabilities of an organization that are relevant to the consideration of an architecture. </a:t>
            </a:r>
          </a:p>
          <a:p>
            <a:pPr lvl="2"/>
            <a:r>
              <a:rPr lang="nl-NL" b="0" dirty="0"/>
              <a:t>By examining the capabilities of an organization from a functional perspective, it is possible to quickly develop models of what the organization does without being dragged into extended debate on how the organization does it.</a:t>
            </a:r>
          </a:p>
          <a:p>
            <a:pPr lvl="2"/>
            <a:r>
              <a:rPr lang="nl-NL" b="0" dirty="0"/>
              <a:t>Once a basic Functional Decomposition diagram has been developed, it becomes possible to layer heat-maps on top of this diagram to show scope and decisions. For example, the capabilities to be implemented in different phases of a change program.</a:t>
            </a:r>
          </a:p>
        </p:txBody>
      </p:sp>
      <p:sp>
        <p:nvSpPr>
          <p:cNvPr id="86017" name="Titel 1"/>
          <p:cNvSpPr>
            <a:spLocks noGrp="1"/>
          </p:cNvSpPr>
          <p:nvPr>
            <p:ph type="title"/>
          </p:nvPr>
        </p:nvSpPr>
        <p:spPr/>
        <p:txBody>
          <a:bodyPr/>
          <a:lstStyle/>
          <a:p>
            <a:r>
              <a:rPr lang="nl-NL"/>
              <a:t>Functional Decomposition Diagram</a:t>
            </a:r>
          </a:p>
        </p:txBody>
      </p:sp>
      <p:sp>
        <p:nvSpPr>
          <p:cNvPr id="6" name="Rectangle 5"/>
          <p:cNvSpPr/>
          <p:nvPr/>
        </p:nvSpPr>
        <p:spPr>
          <a:xfrm>
            <a:off x="6699042" y="829839"/>
            <a:ext cx="2337272" cy="5617181"/>
          </a:xfrm>
          <a:prstGeom prst="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Business Architecture</a:t>
            </a:r>
            <a:endParaRPr lang="en-US" sz="800" b="1" dirty="0">
              <a:solidFill>
                <a:schemeClr val="tx1"/>
              </a:solidFill>
            </a:endParaRPr>
          </a:p>
        </p:txBody>
      </p:sp>
      <p:sp>
        <p:nvSpPr>
          <p:cNvPr id="7" name="Rectangle 6"/>
          <p:cNvSpPr/>
          <p:nvPr/>
        </p:nvSpPr>
        <p:spPr>
          <a:xfrm>
            <a:off x="6775014" y="1076805"/>
            <a:ext cx="2185327" cy="1788701"/>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Catalogs</a:t>
            </a:r>
          </a:p>
        </p:txBody>
      </p:sp>
      <p:sp>
        <p:nvSpPr>
          <p:cNvPr id="8" name="Rectangle 7"/>
          <p:cNvSpPr/>
          <p:nvPr/>
        </p:nvSpPr>
        <p:spPr>
          <a:xfrm>
            <a:off x="6775014" y="2989409"/>
            <a:ext cx="2185327" cy="683801"/>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Matrices</a:t>
            </a:r>
            <a:endParaRPr lang="en-US" sz="800" b="1" dirty="0">
              <a:solidFill>
                <a:schemeClr val="tx1"/>
              </a:solidFill>
            </a:endParaRPr>
          </a:p>
        </p:txBody>
      </p:sp>
      <p:sp>
        <p:nvSpPr>
          <p:cNvPr id="9" name="Rectangle 8"/>
          <p:cNvSpPr/>
          <p:nvPr/>
        </p:nvSpPr>
        <p:spPr>
          <a:xfrm>
            <a:off x="6775014" y="3792350"/>
            <a:ext cx="2185327" cy="1121951"/>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Core Diagrams</a:t>
            </a:r>
            <a:endParaRPr lang="en-US" sz="800" b="1" dirty="0">
              <a:solidFill>
                <a:schemeClr val="tx1"/>
              </a:solidFill>
            </a:endParaRPr>
          </a:p>
        </p:txBody>
      </p:sp>
      <p:sp>
        <p:nvSpPr>
          <p:cNvPr id="10" name="Rectangle 9"/>
          <p:cNvSpPr/>
          <p:nvPr/>
        </p:nvSpPr>
        <p:spPr>
          <a:xfrm>
            <a:off x="6874348" y="4217860"/>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Business Service/Information Diagram</a:t>
            </a:r>
          </a:p>
        </p:txBody>
      </p:sp>
      <p:sp>
        <p:nvSpPr>
          <p:cNvPr id="11" name="Rectangle 10"/>
          <p:cNvSpPr/>
          <p:nvPr/>
        </p:nvSpPr>
        <p:spPr>
          <a:xfrm>
            <a:off x="6874348" y="4435746"/>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Functional Decomposition Diagram</a:t>
            </a:r>
          </a:p>
        </p:txBody>
      </p:sp>
      <p:sp>
        <p:nvSpPr>
          <p:cNvPr id="12" name="Rectangle 11"/>
          <p:cNvSpPr/>
          <p:nvPr/>
        </p:nvSpPr>
        <p:spPr>
          <a:xfrm>
            <a:off x="6775014" y="5033442"/>
            <a:ext cx="2185327" cy="132774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Extension Diagrams</a:t>
            </a:r>
            <a:endParaRPr lang="en-US" sz="800" b="1" dirty="0">
              <a:solidFill>
                <a:schemeClr val="tx1"/>
              </a:solidFill>
            </a:endParaRPr>
          </a:p>
        </p:txBody>
      </p:sp>
      <p:sp>
        <p:nvSpPr>
          <p:cNvPr id="13" name="Rectangle 12"/>
          <p:cNvSpPr/>
          <p:nvPr/>
        </p:nvSpPr>
        <p:spPr>
          <a:xfrm>
            <a:off x="6874348" y="5458951"/>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Business Use-Case Diagram</a:t>
            </a:r>
          </a:p>
        </p:txBody>
      </p:sp>
      <p:sp>
        <p:nvSpPr>
          <p:cNvPr id="14" name="Rectangle 13"/>
          <p:cNvSpPr/>
          <p:nvPr/>
        </p:nvSpPr>
        <p:spPr>
          <a:xfrm>
            <a:off x="6874348" y="6112609"/>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Event Diagram</a:t>
            </a:r>
          </a:p>
        </p:txBody>
      </p:sp>
      <p:sp>
        <p:nvSpPr>
          <p:cNvPr id="15" name="Rectangle 14"/>
          <p:cNvSpPr/>
          <p:nvPr/>
        </p:nvSpPr>
        <p:spPr>
          <a:xfrm>
            <a:off x="6874348" y="1284429"/>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Organization/Actor Catalog</a:t>
            </a:r>
          </a:p>
        </p:txBody>
      </p:sp>
      <p:sp>
        <p:nvSpPr>
          <p:cNvPr id="16" name="Rectangle 15"/>
          <p:cNvSpPr/>
          <p:nvPr/>
        </p:nvSpPr>
        <p:spPr>
          <a:xfrm>
            <a:off x="6874348" y="3414919"/>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Actor/Role Matrix</a:t>
            </a:r>
          </a:p>
        </p:txBody>
      </p:sp>
      <p:sp>
        <p:nvSpPr>
          <p:cNvPr id="17" name="Rectangle 16"/>
          <p:cNvSpPr/>
          <p:nvPr/>
        </p:nvSpPr>
        <p:spPr>
          <a:xfrm>
            <a:off x="6874348" y="1504101"/>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Driver/Goal/Objective Catalog</a:t>
            </a:r>
          </a:p>
        </p:txBody>
      </p:sp>
      <p:sp>
        <p:nvSpPr>
          <p:cNvPr id="18" name="Rectangle 17"/>
          <p:cNvSpPr/>
          <p:nvPr/>
        </p:nvSpPr>
        <p:spPr>
          <a:xfrm>
            <a:off x="6874348" y="5241065"/>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Goal/Objective/Service Diagram</a:t>
            </a:r>
          </a:p>
        </p:txBody>
      </p:sp>
      <p:sp>
        <p:nvSpPr>
          <p:cNvPr id="19" name="Rectangle 18"/>
          <p:cNvSpPr/>
          <p:nvPr/>
        </p:nvSpPr>
        <p:spPr>
          <a:xfrm>
            <a:off x="6874348" y="3999974"/>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Business Footprint Diagram</a:t>
            </a:r>
          </a:p>
        </p:txBody>
      </p:sp>
      <p:sp>
        <p:nvSpPr>
          <p:cNvPr id="20" name="Rectangle 19"/>
          <p:cNvSpPr/>
          <p:nvPr/>
        </p:nvSpPr>
        <p:spPr>
          <a:xfrm>
            <a:off x="6874348" y="2602459"/>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Contract/Measure Catalog</a:t>
            </a:r>
          </a:p>
        </p:txBody>
      </p:sp>
      <p:sp>
        <p:nvSpPr>
          <p:cNvPr id="21" name="Rectangle 20"/>
          <p:cNvSpPr/>
          <p:nvPr/>
        </p:nvSpPr>
        <p:spPr>
          <a:xfrm>
            <a:off x="6874348" y="1943445"/>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Business Service/Function Catalog</a:t>
            </a:r>
          </a:p>
        </p:txBody>
      </p:sp>
      <p:sp>
        <p:nvSpPr>
          <p:cNvPr id="22" name="Rectangle 21"/>
          <p:cNvSpPr/>
          <p:nvPr/>
        </p:nvSpPr>
        <p:spPr>
          <a:xfrm>
            <a:off x="6874348" y="2163117"/>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Location Catalog</a:t>
            </a:r>
          </a:p>
        </p:txBody>
      </p:sp>
      <p:sp>
        <p:nvSpPr>
          <p:cNvPr id="23" name="Rectangle 22"/>
          <p:cNvSpPr/>
          <p:nvPr/>
        </p:nvSpPr>
        <p:spPr>
          <a:xfrm>
            <a:off x="6874348" y="2382789"/>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Process/Event/Control/Product Catalog</a:t>
            </a:r>
          </a:p>
        </p:txBody>
      </p:sp>
      <p:sp>
        <p:nvSpPr>
          <p:cNvPr id="24" name="Rectangle 23"/>
          <p:cNvSpPr/>
          <p:nvPr/>
        </p:nvSpPr>
        <p:spPr>
          <a:xfrm>
            <a:off x="6874348" y="3197033"/>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Business Interaction Matrix</a:t>
            </a:r>
          </a:p>
        </p:txBody>
      </p:sp>
      <p:sp>
        <p:nvSpPr>
          <p:cNvPr id="25" name="Rectangle 24"/>
          <p:cNvSpPr/>
          <p:nvPr/>
        </p:nvSpPr>
        <p:spPr>
          <a:xfrm>
            <a:off x="6874348" y="4435746"/>
            <a:ext cx="1986661" cy="175614"/>
          </a:xfrm>
          <a:prstGeom prst="rect">
            <a:avLst/>
          </a:prstGeom>
          <a:solidFill>
            <a:srgbClr val="3D7F6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spc="-10" dirty="0">
                <a:solidFill>
                  <a:schemeClr val="bg1"/>
                </a:solidFill>
              </a:rPr>
              <a:t>Functional Decomposition Diagram</a:t>
            </a:r>
          </a:p>
        </p:txBody>
      </p:sp>
      <p:sp>
        <p:nvSpPr>
          <p:cNvPr id="26" name="Rectangle 25"/>
          <p:cNvSpPr/>
          <p:nvPr/>
        </p:nvSpPr>
        <p:spPr>
          <a:xfrm>
            <a:off x="6874348" y="5676837"/>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Organization Decomposition Diagram</a:t>
            </a:r>
          </a:p>
        </p:txBody>
      </p:sp>
      <p:sp>
        <p:nvSpPr>
          <p:cNvPr id="27" name="Rectangle 26"/>
          <p:cNvSpPr/>
          <p:nvPr/>
        </p:nvSpPr>
        <p:spPr>
          <a:xfrm>
            <a:off x="6874348" y="1720201"/>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Role Catalog</a:t>
            </a:r>
          </a:p>
        </p:txBody>
      </p:sp>
      <p:sp>
        <p:nvSpPr>
          <p:cNvPr id="28" name="Rectangle 27"/>
          <p:cNvSpPr/>
          <p:nvPr/>
        </p:nvSpPr>
        <p:spPr>
          <a:xfrm>
            <a:off x="6874348" y="5894723"/>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Process Flow Diagram</a:t>
            </a:r>
          </a:p>
        </p:txBody>
      </p:sp>
      <p:sp>
        <p:nvSpPr>
          <p:cNvPr id="29" name="Rectangle 28"/>
          <p:cNvSpPr/>
          <p:nvPr/>
        </p:nvSpPr>
        <p:spPr>
          <a:xfrm>
            <a:off x="6874348" y="4653632"/>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Product Lifecycle Diagram</a:t>
            </a:r>
          </a:p>
        </p:txBody>
      </p:sp>
    </p:spTree>
    <p:extLst>
      <p:ext uri="{BB962C8B-B14F-4D97-AF65-F5344CB8AC3E}">
        <p14:creationId xmlns:p14="http://schemas.microsoft.com/office/powerpoint/2010/main" val="2306723757"/>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4"/>
          <p:cNvSpPr>
            <a:spLocks noGrp="1"/>
          </p:cNvSpPr>
          <p:nvPr>
            <p:ph type="title"/>
          </p:nvPr>
        </p:nvSpPr>
        <p:spPr/>
        <p:txBody>
          <a:bodyPr/>
          <a:lstStyle/>
          <a:p>
            <a:r>
              <a:rPr lang="nl-NL">
                <a:latin typeface="+mn-lt"/>
              </a:rPr>
              <a:t>Functional Decomposition Diagram</a:t>
            </a:r>
            <a:endParaRPr lang="en-US">
              <a:latin typeface="+mn-lt"/>
            </a:endParaRPr>
          </a:p>
        </p:txBody>
      </p:sp>
      <p:sp>
        <p:nvSpPr>
          <p:cNvPr id="5" name="Rounded Rectangle 4"/>
          <p:cNvSpPr/>
          <p:nvPr/>
        </p:nvSpPr>
        <p:spPr>
          <a:xfrm>
            <a:off x="285686" y="1322184"/>
            <a:ext cx="8700819" cy="830586"/>
          </a:xfrm>
          <a:prstGeom prst="roundRect">
            <a:avLst>
              <a:gd name="adj" fmla="val 5088"/>
            </a:avLst>
          </a:prstGeom>
          <a:solidFill>
            <a:schemeClr val="bg1"/>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tIns="18000" rtlCol="0" anchor="t"/>
          <a:lstStyle/>
          <a:p>
            <a:pPr algn="ctr"/>
            <a:r>
              <a:rPr lang="en-US" sz="1200" b="1" dirty="0" smtClean="0">
                <a:solidFill>
                  <a:schemeClr val="tx1"/>
                </a:solidFill>
              </a:rPr>
              <a:t>Control</a:t>
            </a:r>
            <a:endParaRPr lang="en-US" sz="1200" b="1" dirty="0">
              <a:solidFill>
                <a:schemeClr val="tx1"/>
              </a:solidFill>
            </a:endParaRPr>
          </a:p>
        </p:txBody>
      </p:sp>
      <p:sp>
        <p:nvSpPr>
          <p:cNvPr id="18" name="Rounded Rectangle 17"/>
          <p:cNvSpPr/>
          <p:nvPr/>
        </p:nvSpPr>
        <p:spPr>
          <a:xfrm>
            <a:off x="446905" y="1623442"/>
            <a:ext cx="1557722"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rPr>
              <a:t>Strategy </a:t>
            </a:r>
            <a:br>
              <a:rPr lang="en-US" sz="1200" dirty="0" smtClean="0">
                <a:solidFill>
                  <a:schemeClr val="tx1"/>
                </a:solidFill>
              </a:rPr>
            </a:br>
            <a:r>
              <a:rPr lang="en-US" sz="1200" dirty="0" smtClean="0">
                <a:solidFill>
                  <a:schemeClr val="tx1"/>
                </a:solidFill>
              </a:rPr>
              <a:t>and Policy</a:t>
            </a:r>
            <a:endParaRPr lang="en-US" sz="1200" dirty="0">
              <a:solidFill>
                <a:schemeClr val="tx1"/>
              </a:solidFill>
            </a:endParaRPr>
          </a:p>
        </p:txBody>
      </p:sp>
      <p:sp>
        <p:nvSpPr>
          <p:cNvPr id="16" name="Rounded Rectangle 15"/>
          <p:cNvSpPr/>
          <p:nvPr/>
        </p:nvSpPr>
        <p:spPr>
          <a:xfrm>
            <a:off x="2758811" y="1623442"/>
            <a:ext cx="1473609"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ctr" anchorCtr="0"/>
          <a:lstStyle/>
          <a:p>
            <a:pPr algn="ctr"/>
            <a:r>
              <a:rPr lang="en-US" sz="1200" dirty="0" smtClean="0">
                <a:solidFill>
                  <a:schemeClr val="tx1"/>
                </a:solidFill>
              </a:rPr>
              <a:t>Improvement</a:t>
            </a:r>
            <a:endParaRPr lang="en-US" sz="1200" dirty="0">
              <a:solidFill>
                <a:schemeClr val="tx1"/>
              </a:solidFill>
            </a:endParaRPr>
          </a:p>
        </p:txBody>
      </p:sp>
      <p:sp>
        <p:nvSpPr>
          <p:cNvPr id="14" name="Rounded Rectangle 13"/>
          <p:cNvSpPr/>
          <p:nvPr/>
        </p:nvSpPr>
        <p:spPr>
          <a:xfrm>
            <a:off x="4986603" y="1623442"/>
            <a:ext cx="1473609"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rPr>
              <a:t>Reporting</a:t>
            </a:r>
            <a:endParaRPr lang="en-US" sz="1200" dirty="0">
              <a:solidFill>
                <a:schemeClr val="tx1"/>
              </a:solidFill>
            </a:endParaRPr>
          </a:p>
        </p:txBody>
      </p:sp>
      <p:sp>
        <p:nvSpPr>
          <p:cNvPr id="12" name="Rounded Rectangle 11"/>
          <p:cNvSpPr/>
          <p:nvPr/>
        </p:nvSpPr>
        <p:spPr>
          <a:xfrm>
            <a:off x="7214395" y="1623442"/>
            <a:ext cx="1473609"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rPr>
              <a:t>Portfolio</a:t>
            </a:r>
            <a:br>
              <a:rPr lang="en-US" sz="1200" dirty="0" smtClean="0">
                <a:solidFill>
                  <a:schemeClr val="tx1"/>
                </a:solidFill>
              </a:rPr>
            </a:br>
            <a:r>
              <a:rPr lang="en-US" sz="1200" dirty="0" smtClean="0">
                <a:solidFill>
                  <a:schemeClr val="tx1"/>
                </a:solidFill>
              </a:rPr>
              <a:t>Management</a:t>
            </a:r>
            <a:endParaRPr lang="en-US" sz="1200" dirty="0">
              <a:solidFill>
                <a:schemeClr val="tx1"/>
              </a:solidFill>
            </a:endParaRPr>
          </a:p>
        </p:txBody>
      </p:sp>
      <p:sp>
        <p:nvSpPr>
          <p:cNvPr id="21" name="Rounded Rectangle 20"/>
          <p:cNvSpPr/>
          <p:nvPr/>
        </p:nvSpPr>
        <p:spPr>
          <a:xfrm>
            <a:off x="285686" y="2218183"/>
            <a:ext cx="4172702" cy="2242754"/>
          </a:xfrm>
          <a:prstGeom prst="roundRect">
            <a:avLst>
              <a:gd name="adj" fmla="val 5088"/>
            </a:avLst>
          </a:prstGeom>
          <a:solidFill>
            <a:schemeClr val="bg1"/>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tIns="18000" rtlCol="0" anchor="t"/>
          <a:lstStyle/>
          <a:p>
            <a:pPr algn="ctr"/>
            <a:r>
              <a:rPr lang="en-US" sz="1200" b="1" dirty="0" smtClean="0">
                <a:solidFill>
                  <a:schemeClr val="tx1"/>
                </a:solidFill>
              </a:rPr>
              <a:t>Education</a:t>
            </a:r>
            <a:endParaRPr lang="en-US" sz="1200" b="1" dirty="0">
              <a:solidFill>
                <a:schemeClr val="tx1"/>
              </a:solidFill>
            </a:endParaRPr>
          </a:p>
        </p:txBody>
      </p:sp>
      <p:sp>
        <p:nvSpPr>
          <p:cNvPr id="38" name="Rounded Rectangle 37"/>
          <p:cNvSpPr/>
          <p:nvPr/>
        </p:nvSpPr>
        <p:spPr>
          <a:xfrm>
            <a:off x="502306" y="2544401"/>
            <a:ext cx="1557722"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rPr>
              <a:t>Education</a:t>
            </a:r>
            <a:br>
              <a:rPr lang="en-US" sz="1200" dirty="0" smtClean="0">
                <a:solidFill>
                  <a:schemeClr val="tx1"/>
                </a:solidFill>
              </a:rPr>
            </a:br>
            <a:r>
              <a:rPr lang="en-US" sz="1200" dirty="0" smtClean="0">
                <a:solidFill>
                  <a:schemeClr val="tx1"/>
                </a:solidFill>
              </a:rPr>
              <a:t>Development</a:t>
            </a:r>
            <a:endParaRPr lang="en-US" sz="1200" dirty="0">
              <a:solidFill>
                <a:schemeClr val="tx1"/>
              </a:solidFill>
            </a:endParaRPr>
          </a:p>
        </p:txBody>
      </p:sp>
      <p:sp>
        <p:nvSpPr>
          <p:cNvPr id="36" name="Rounded Rectangle 35"/>
          <p:cNvSpPr/>
          <p:nvPr/>
        </p:nvSpPr>
        <p:spPr>
          <a:xfrm>
            <a:off x="2668042" y="2544401"/>
            <a:ext cx="1557722"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rPr>
              <a:t>Registration</a:t>
            </a:r>
            <a:endParaRPr lang="en-US" sz="1200" dirty="0">
              <a:solidFill>
                <a:schemeClr val="tx1"/>
              </a:solidFill>
            </a:endParaRPr>
          </a:p>
        </p:txBody>
      </p:sp>
      <p:sp>
        <p:nvSpPr>
          <p:cNvPr id="34" name="Rounded Rectangle 33"/>
          <p:cNvSpPr/>
          <p:nvPr/>
        </p:nvSpPr>
        <p:spPr>
          <a:xfrm>
            <a:off x="502306" y="3229465"/>
            <a:ext cx="1557722"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rPr>
              <a:t>Marketing </a:t>
            </a:r>
            <a:br>
              <a:rPr lang="en-US" sz="1200" dirty="0" smtClean="0">
                <a:solidFill>
                  <a:schemeClr val="tx1"/>
                </a:solidFill>
              </a:rPr>
            </a:br>
            <a:r>
              <a:rPr lang="en-US" sz="1200" dirty="0" smtClean="0">
                <a:solidFill>
                  <a:schemeClr val="tx1"/>
                </a:solidFill>
              </a:rPr>
              <a:t>and Sales</a:t>
            </a:r>
            <a:endParaRPr lang="en-US" sz="1200" dirty="0">
              <a:solidFill>
                <a:schemeClr val="tx1"/>
              </a:solidFill>
            </a:endParaRPr>
          </a:p>
        </p:txBody>
      </p:sp>
      <p:sp>
        <p:nvSpPr>
          <p:cNvPr id="32" name="Rounded Rectangle 31"/>
          <p:cNvSpPr/>
          <p:nvPr/>
        </p:nvSpPr>
        <p:spPr>
          <a:xfrm>
            <a:off x="2668042" y="3229465"/>
            <a:ext cx="1557722"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rPr>
              <a:t>Provide </a:t>
            </a:r>
            <a:br>
              <a:rPr lang="en-US" sz="1200" dirty="0" smtClean="0">
                <a:solidFill>
                  <a:schemeClr val="tx1"/>
                </a:solidFill>
              </a:rPr>
            </a:br>
            <a:r>
              <a:rPr lang="en-US" sz="1200" dirty="0" smtClean="0">
                <a:solidFill>
                  <a:schemeClr val="tx1"/>
                </a:solidFill>
              </a:rPr>
              <a:t>Education</a:t>
            </a:r>
            <a:endParaRPr lang="en-US" sz="1200" dirty="0">
              <a:solidFill>
                <a:schemeClr val="tx1"/>
              </a:solidFill>
            </a:endParaRPr>
          </a:p>
        </p:txBody>
      </p:sp>
      <p:sp>
        <p:nvSpPr>
          <p:cNvPr id="30" name="Rounded Rectangle 29"/>
          <p:cNvSpPr/>
          <p:nvPr/>
        </p:nvSpPr>
        <p:spPr>
          <a:xfrm>
            <a:off x="502306" y="3871086"/>
            <a:ext cx="1557722"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rPr>
              <a:t>Planning </a:t>
            </a:r>
            <a:br>
              <a:rPr lang="en-US" sz="1200" dirty="0" smtClean="0">
                <a:solidFill>
                  <a:schemeClr val="tx1"/>
                </a:solidFill>
              </a:rPr>
            </a:br>
            <a:r>
              <a:rPr lang="en-US" sz="1200" dirty="0" smtClean="0">
                <a:solidFill>
                  <a:schemeClr val="tx1"/>
                </a:solidFill>
              </a:rPr>
              <a:t>and Scheduling</a:t>
            </a:r>
            <a:endParaRPr lang="en-US" sz="1200" dirty="0">
              <a:solidFill>
                <a:schemeClr val="tx1"/>
              </a:solidFill>
            </a:endParaRPr>
          </a:p>
        </p:txBody>
      </p:sp>
      <p:sp>
        <p:nvSpPr>
          <p:cNvPr id="28" name="Rounded Rectangle 27"/>
          <p:cNvSpPr/>
          <p:nvPr/>
        </p:nvSpPr>
        <p:spPr>
          <a:xfrm>
            <a:off x="2668042" y="3871086"/>
            <a:ext cx="1557722"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rPr>
              <a:t>Test and </a:t>
            </a:r>
            <a:br>
              <a:rPr lang="en-US" sz="1200" dirty="0" smtClean="0">
                <a:solidFill>
                  <a:schemeClr val="tx1"/>
                </a:solidFill>
              </a:rPr>
            </a:br>
            <a:r>
              <a:rPr lang="en-US" sz="1200" dirty="0" smtClean="0">
                <a:solidFill>
                  <a:schemeClr val="tx1"/>
                </a:solidFill>
              </a:rPr>
              <a:t>Certify</a:t>
            </a:r>
            <a:endParaRPr lang="en-US" sz="1200" dirty="0">
              <a:solidFill>
                <a:schemeClr val="tx1"/>
              </a:solidFill>
            </a:endParaRPr>
          </a:p>
        </p:txBody>
      </p:sp>
      <p:sp>
        <p:nvSpPr>
          <p:cNvPr id="41" name="Rounded Rectangle 40"/>
          <p:cNvSpPr/>
          <p:nvPr/>
        </p:nvSpPr>
        <p:spPr>
          <a:xfrm>
            <a:off x="4813803" y="2218183"/>
            <a:ext cx="4172702" cy="2242754"/>
          </a:xfrm>
          <a:prstGeom prst="roundRect">
            <a:avLst>
              <a:gd name="adj" fmla="val 5088"/>
            </a:avLst>
          </a:prstGeom>
          <a:solidFill>
            <a:schemeClr val="bg1"/>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tIns="18000" rtlCol="0" anchor="t"/>
          <a:lstStyle/>
          <a:p>
            <a:pPr algn="ctr"/>
            <a:r>
              <a:rPr lang="en-US" sz="1200" b="1" dirty="0" smtClean="0">
                <a:solidFill>
                  <a:schemeClr val="tx1"/>
                </a:solidFill>
              </a:rPr>
              <a:t>Research</a:t>
            </a:r>
            <a:endParaRPr lang="en-US" sz="1200" b="1" dirty="0"/>
          </a:p>
        </p:txBody>
      </p:sp>
      <p:sp>
        <p:nvSpPr>
          <p:cNvPr id="59" name="Rounded Rectangle 58"/>
          <p:cNvSpPr/>
          <p:nvPr/>
        </p:nvSpPr>
        <p:spPr>
          <a:xfrm>
            <a:off x="5041621" y="2539774"/>
            <a:ext cx="1557722"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rPr>
              <a:t>Request</a:t>
            </a:r>
            <a:endParaRPr lang="en-US" sz="1200" dirty="0">
              <a:solidFill>
                <a:schemeClr val="tx1"/>
              </a:solidFill>
            </a:endParaRPr>
          </a:p>
        </p:txBody>
      </p:sp>
      <p:sp>
        <p:nvSpPr>
          <p:cNvPr id="57" name="Rounded Rectangle 56"/>
          <p:cNvSpPr/>
          <p:nvPr/>
        </p:nvSpPr>
        <p:spPr>
          <a:xfrm>
            <a:off x="7130282" y="2526197"/>
            <a:ext cx="1557722"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rPr>
              <a:t>Finalization</a:t>
            </a:r>
            <a:endParaRPr lang="en-US" sz="1200" dirty="0">
              <a:solidFill>
                <a:schemeClr val="tx1"/>
              </a:solidFill>
            </a:endParaRPr>
          </a:p>
        </p:txBody>
      </p:sp>
      <p:sp>
        <p:nvSpPr>
          <p:cNvPr id="55" name="Rounded Rectangle 54"/>
          <p:cNvSpPr/>
          <p:nvPr/>
        </p:nvSpPr>
        <p:spPr>
          <a:xfrm>
            <a:off x="5041621" y="3224837"/>
            <a:ext cx="1557722"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rPr>
              <a:t>Preparation</a:t>
            </a:r>
            <a:endParaRPr lang="en-US" sz="1200" dirty="0">
              <a:solidFill>
                <a:schemeClr val="tx1"/>
              </a:solidFill>
            </a:endParaRPr>
          </a:p>
        </p:txBody>
      </p:sp>
      <p:sp>
        <p:nvSpPr>
          <p:cNvPr id="53" name="Rounded Rectangle 52"/>
          <p:cNvSpPr/>
          <p:nvPr/>
        </p:nvSpPr>
        <p:spPr>
          <a:xfrm>
            <a:off x="7130282" y="3211261"/>
            <a:ext cx="1557722"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rPr>
              <a:t>Knowledge </a:t>
            </a:r>
            <a:br>
              <a:rPr lang="en-US" sz="1200" dirty="0" smtClean="0">
                <a:solidFill>
                  <a:schemeClr val="tx1"/>
                </a:solidFill>
              </a:rPr>
            </a:br>
            <a:r>
              <a:rPr lang="en-US" sz="1200" dirty="0" smtClean="0">
                <a:solidFill>
                  <a:schemeClr val="tx1"/>
                </a:solidFill>
              </a:rPr>
              <a:t>Exposure</a:t>
            </a:r>
            <a:endParaRPr lang="en-US" sz="1200" dirty="0">
              <a:solidFill>
                <a:schemeClr val="tx1"/>
              </a:solidFill>
            </a:endParaRPr>
          </a:p>
        </p:txBody>
      </p:sp>
      <p:sp>
        <p:nvSpPr>
          <p:cNvPr id="51" name="Rounded Rectangle 50"/>
          <p:cNvSpPr/>
          <p:nvPr/>
        </p:nvSpPr>
        <p:spPr>
          <a:xfrm>
            <a:off x="5041621" y="3866459"/>
            <a:ext cx="1557722"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rPr>
              <a:t>Execution</a:t>
            </a:r>
            <a:endParaRPr lang="en-US" sz="1200" dirty="0">
              <a:solidFill>
                <a:schemeClr val="tx1"/>
              </a:solidFill>
            </a:endParaRPr>
          </a:p>
        </p:txBody>
      </p:sp>
      <p:sp>
        <p:nvSpPr>
          <p:cNvPr id="49" name="Rounded Rectangle 48"/>
          <p:cNvSpPr/>
          <p:nvPr/>
        </p:nvSpPr>
        <p:spPr>
          <a:xfrm>
            <a:off x="7130282" y="3852883"/>
            <a:ext cx="1557722"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rPr>
              <a:t>Exploitation</a:t>
            </a:r>
            <a:endParaRPr lang="en-US" sz="1200" dirty="0">
              <a:solidFill>
                <a:schemeClr val="tx1"/>
              </a:solidFill>
            </a:endParaRPr>
          </a:p>
        </p:txBody>
      </p:sp>
      <p:sp>
        <p:nvSpPr>
          <p:cNvPr id="64" name="Rounded Rectangle 63"/>
          <p:cNvSpPr/>
          <p:nvPr/>
        </p:nvSpPr>
        <p:spPr>
          <a:xfrm>
            <a:off x="285686" y="4532089"/>
            <a:ext cx="8700819" cy="1387214"/>
          </a:xfrm>
          <a:prstGeom prst="roundRect">
            <a:avLst>
              <a:gd name="adj" fmla="val 5088"/>
            </a:avLst>
          </a:prstGeom>
          <a:solidFill>
            <a:schemeClr val="bg1"/>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tIns="18000" rtlCol="0" anchor="t"/>
          <a:lstStyle/>
          <a:p>
            <a:pPr algn="ctr"/>
            <a:r>
              <a:rPr lang="en-US" sz="1200" b="1" dirty="0" smtClean="0">
                <a:solidFill>
                  <a:schemeClr val="tx1"/>
                </a:solidFill>
              </a:rPr>
              <a:t>Support </a:t>
            </a:r>
            <a:endParaRPr lang="en-US" sz="1200" b="1" dirty="0"/>
          </a:p>
        </p:txBody>
      </p:sp>
      <p:sp>
        <p:nvSpPr>
          <p:cNvPr id="90" name="Rounded Rectangle 89"/>
          <p:cNvSpPr/>
          <p:nvPr/>
        </p:nvSpPr>
        <p:spPr>
          <a:xfrm>
            <a:off x="502306" y="4841351"/>
            <a:ext cx="1686788"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rPr>
              <a:t>Human Resource</a:t>
            </a:r>
            <a:br>
              <a:rPr lang="en-US" sz="1200" dirty="0" smtClean="0">
                <a:solidFill>
                  <a:schemeClr val="tx1"/>
                </a:solidFill>
              </a:rPr>
            </a:br>
            <a:r>
              <a:rPr lang="en-US" sz="1200" dirty="0" smtClean="0">
                <a:solidFill>
                  <a:schemeClr val="tx1"/>
                </a:solidFill>
              </a:rPr>
              <a:t>Management</a:t>
            </a:r>
            <a:endParaRPr lang="en-US" sz="1200" dirty="0">
              <a:solidFill>
                <a:schemeClr val="tx1"/>
              </a:solidFill>
            </a:endParaRPr>
          </a:p>
        </p:txBody>
      </p:sp>
      <p:sp>
        <p:nvSpPr>
          <p:cNvPr id="88" name="Rounded Rectangle 87"/>
          <p:cNvSpPr/>
          <p:nvPr/>
        </p:nvSpPr>
        <p:spPr>
          <a:xfrm>
            <a:off x="2256100" y="4841351"/>
            <a:ext cx="1557722"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rPr>
              <a:t>Finance</a:t>
            </a:r>
            <a:endParaRPr lang="en-US" sz="1200" dirty="0">
              <a:solidFill>
                <a:schemeClr val="tx1"/>
              </a:solidFill>
            </a:endParaRPr>
          </a:p>
        </p:txBody>
      </p:sp>
      <p:sp>
        <p:nvSpPr>
          <p:cNvPr id="86" name="Rounded Rectangle 85"/>
          <p:cNvSpPr/>
          <p:nvPr/>
        </p:nvSpPr>
        <p:spPr>
          <a:xfrm>
            <a:off x="502306" y="5375871"/>
            <a:ext cx="1686788"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rPr>
              <a:t>Relationship</a:t>
            </a:r>
            <a:br>
              <a:rPr lang="en-US" sz="1200" dirty="0" smtClean="0">
                <a:solidFill>
                  <a:schemeClr val="tx1"/>
                </a:solidFill>
              </a:rPr>
            </a:br>
            <a:r>
              <a:rPr lang="en-US" sz="1200" dirty="0" smtClean="0">
                <a:solidFill>
                  <a:schemeClr val="tx1"/>
                </a:solidFill>
              </a:rPr>
              <a:t>Management</a:t>
            </a:r>
            <a:endParaRPr lang="en-US" sz="1200" dirty="0">
              <a:solidFill>
                <a:schemeClr val="tx1"/>
              </a:solidFill>
            </a:endParaRPr>
          </a:p>
        </p:txBody>
      </p:sp>
      <p:sp>
        <p:nvSpPr>
          <p:cNvPr id="84" name="Rounded Rectangle 83"/>
          <p:cNvSpPr/>
          <p:nvPr/>
        </p:nvSpPr>
        <p:spPr>
          <a:xfrm>
            <a:off x="2259087" y="5375871"/>
            <a:ext cx="1557722"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rPr>
              <a:t>Procurement </a:t>
            </a:r>
            <a:endParaRPr lang="en-US" sz="1200" dirty="0">
              <a:solidFill>
                <a:schemeClr val="tx1"/>
              </a:solidFill>
            </a:endParaRPr>
          </a:p>
        </p:txBody>
      </p:sp>
      <p:sp>
        <p:nvSpPr>
          <p:cNvPr id="82" name="Rounded Rectangle 81"/>
          <p:cNvSpPr/>
          <p:nvPr/>
        </p:nvSpPr>
        <p:spPr>
          <a:xfrm>
            <a:off x="3880826" y="4841351"/>
            <a:ext cx="1557722"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rPr>
              <a:t>Facility </a:t>
            </a:r>
            <a:br>
              <a:rPr lang="en-US" sz="1200" dirty="0" smtClean="0">
                <a:solidFill>
                  <a:schemeClr val="tx1"/>
                </a:solidFill>
              </a:rPr>
            </a:br>
            <a:r>
              <a:rPr lang="en-US" sz="1200" dirty="0" smtClean="0">
                <a:solidFill>
                  <a:schemeClr val="tx1"/>
                </a:solidFill>
              </a:rPr>
              <a:t>Management</a:t>
            </a:r>
            <a:endParaRPr lang="en-US" sz="1200" dirty="0">
              <a:solidFill>
                <a:schemeClr val="tx1"/>
              </a:solidFill>
            </a:endParaRPr>
          </a:p>
        </p:txBody>
      </p:sp>
      <p:sp>
        <p:nvSpPr>
          <p:cNvPr id="80" name="Rounded Rectangle 79"/>
          <p:cNvSpPr/>
          <p:nvPr/>
        </p:nvSpPr>
        <p:spPr>
          <a:xfrm>
            <a:off x="3886802" y="5375871"/>
            <a:ext cx="1557722"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algn="ctr"/>
            <a:r>
              <a:rPr lang="en-US" sz="1200" dirty="0" smtClean="0">
                <a:solidFill>
                  <a:schemeClr val="tx1"/>
                </a:solidFill>
              </a:rPr>
              <a:t>Communication</a:t>
            </a:r>
            <a:endParaRPr lang="en-US" sz="1200" dirty="0">
              <a:solidFill>
                <a:schemeClr val="tx1"/>
              </a:solidFill>
            </a:endParaRPr>
          </a:p>
        </p:txBody>
      </p:sp>
      <p:sp>
        <p:nvSpPr>
          <p:cNvPr id="78" name="Rounded Rectangle 77"/>
          <p:cNvSpPr/>
          <p:nvPr/>
        </p:nvSpPr>
        <p:spPr>
          <a:xfrm>
            <a:off x="5505553" y="4841351"/>
            <a:ext cx="1557722"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rPr>
              <a:t>Document</a:t>
            </a:r>
            <a:br>
              <a:rPr lang="en-US" sz="1200" dirty="0" smtClean="0">
                <a:solidFill>
                  <a:schemeClr val="tx1"/>
                </a:solidFill>
              </a:rPr>
            </a:br>
            <a:r>
              <a:rPr lang="en-US" sz="1200" dirty="0" smtClean="0">
                <a:solidFill>
                  <a:schemeClr val="tx1"/>
                </a:solidFill>
              </a:rPr>
              <a:t>Management</a:t>
            </a:r>
            <a:endParaRPr lang="en-US" sz="1200" dirty="0">
              <a:solidFill>
                <a:schemeClr val="tx1"/>
              </a:solidFill>
            </a:endParaRPr>
          </a:p>
        </p:txBody>
      </p:sp>
      <p:sp>
        <p:nvSpPr>
          <p:cNvPr id="76" name="Rounded Rectangle 75"/>
          <p:cNvSpPr/>
          <p:nvPr/>
        </p:nvSpPr>
        <p:spPr>
          <a:xfrm>
            <a:off x="5514518" y="5370940"/>
            <a:ext cx="1557722"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rPr>
              <a:t>Legal</a:t>
            </a:r>
            <a:endParaRPr lang="en-US" sz="1200" dirty="0">
              <a:solidFill>
                <a:schemeClr val="tx1"/>
              </a:solidFill>
            </a:endParaRPr>
          </a:p>
        </p:txBody>
      </p:sp>
      <p:sp>
        <p:nvSpPr>
          <p:cNvPr id="74" name="Rounded Rectangle 73"/>
          <p:cNvSpPr/>
          <p:nvPr/>
        </p:nvSpPr>
        <p:spPr>
          <a:xfrm>
            <a:off x="7130282" y="4841351"/>
            <a:ext cx="1557722"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rPr>
              <a:t>Information</a:t>
            </a:r>
            <a:br>
              <a:rPr lang="en-US" sz="1200" dirty="0" smtClean="0">
                <a:solidFill>
                  <a:schemeClr val="tx1"/>
                </a:solidFill>
              </a:rPr>
            </a:br>
            <a:r>
              <a:rPr lang="en-US" sz="1200" dirty="0" smtClean="0">
                <a:solidFill>
                  <a:schemeClr val="tx1"/>
                </a:solidFill>
              </a:rPr>
              <a:t>Technology</a:t>
            </a:r>
            <a:endParaRPr lang="en-US" sz="1200" dirty="0">
              <a:solidFill>
                <a:schemeClr val="tx1"/>
              </a:solidFill>
            </a:endParaRPr>
          </a:p>
        </p:txBody>
      </p:sp>
    </p:spTree>
    <p:extLst>
      <p:ext uri="{BB962C8B-B14F-4D97-AF65-F5344CB8AC3E}">
        <p14:creationId xmlns:p14="http://schemas.microsoft.com/office/powerpoint/2010/main" val="545719189"/>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jdelijke aanduiding voor inhoud 2"/>
          <p:cNvSpPr>
            <a:spLocks noGrp="1"/>
          </p:cNvSpPr>
          <p:nvPr>
            <p:ph idx="1"/>
          </p:nvPr>
        </p:nvSpPr>
        <p:spPr>
          <a:xfrm>
            <a:off x="457510" y="1007040"/>
            <a:ext cx="6105215" cy="5312141"/>
          </a:xfrm>
        </p:spPr>
        <p:txBody>
          <a:bodyPr>
            <a:noAutofit/>
          </a:bodyPr>
          <a:lstStyle/>
          <a:p>
            <a:r>
              <a:rPr lang="nl-NL" sz="1800" b="0" dirty="0"/>
              <a:t>Process Flow Diagram</a:t>
            </a:r>
          </a:p>
          <a:p>
            <a:pPr lvl="2">
              <a:lnSpc>
                <a:spcPct val="100000"/>
              </a:lnSpc>
              <a:spcBef>
                <a:spcPts val="100"/>
              </a:spcBef>
              <a:spcAft>
                <a:spcPts val="100"/>
              </a:spcAft>
            </a:pPr>
            <a:r>
              <a:rPr lang="nl-NL" b="0" dirty="0"/>
              <a:t>The purpose of the Process Flow diagram is to depict all models and mappings related to the process metamodel entity.</a:t>
            </a:r>
          </a:p>
          <a:p>
            <a:pPr lvl="2">
              <a:lnSpc>
                <a:spcPct val="100000"/>
              </a:lnSpc>
              <a:spcBef>
                <a:spcPts val="100"/>
              </a:spcBef>
              <a:spcAft>
                <a:spcPts val="100"/>
              </a:spcAft>
            </a:pPr>
            <a:r>
              <a:rPr lang="nl-NL" b="0" dirty="0"/>
              <a:t>Process Flow diagrams show sequential flow of control between activities and may utilize swim-lane techniques to represent ownership and realization of process steps. For example, the appli-cation that supports a process step may be shown as a swim-lane.</a:t>
            </a:r>
          </a:p>
          <a:p>
            <a:pPr lvl="2">
              <a:lnSpc>
                <a:spcPct val="100000"/>
              </a:lnSpc>
              <a:spcBef>
                <a:spcPts val="100"/>
              </a:spcBef>
              <a:spcAft>
                <a:spcPts val="100"/>
              </a:spcAft>
            </a:pPr>
            <a:r>
              <a:rPr lang="nl-NL" b="0" dirty="0"/>
              <a:t>In addition to showing a sequence of activity, process flows can also be used to detail the controls that apply to a process, the events that trigger or result from completion of a process, and also the products that are generated from process execution.</a:t>
            </a:r>
          </a:p>
          <a:p>
            <a:pPr lvl="2">
              <a:lnSpc>
                <a:spcPct val="100000"/>
              </a:lnSpc>
              <a:spcBef>
                <a:spcPts val="100"/>
              </a:spcBef>
              <a:spcAft>
                <a:spcPts val="100"/>
              </a:spcAft>
            </a:pPr>
            <a:r>
              <a:rPr lang="nl-NL" b="0" dirty="0"/>
              <a:t>Process Flow diagrams are useful in elaborating the architecture with subject specialists, as they allow the specialist to describe "how the job is done" for a particular function. Through this process, each process step can become a more fine-grained function and can then in turn be elaborated as a process.</a:t>
            </a:r>
          </a:p>
        </p:txBody>
      </p:sp>
      <p:sp>
        <p:nvSpPr>
          <p:cNvPr id="86017" name="Titel 1"/>
          <p:cNvSpPr>
            <a:spLocks noGrp="1"/>
          </p:cNvSpPr>
          <p:nvPr>
            <p:ph type="title"/>
          </p:nvPr>
        </p:nvSpPr>
        <p:spPr/>
        <p:txBody>
          <a:bodyPr/>
          <a:lstStyle/>
          <a:p>
            <a:r>
              <a:rPr lang="nl-NL"/>
              <a:t>Process Flow Diagram</a:t>
            </a:r>
          </a:p>
        </p:txBody>
      </p:sp>
      <p:sp>
        <p:nvSpPr>
          <p:cNvPr id="6" name="Rectangle 5"/>
          <p:cNvSpPr/>
          <p:nvPr/>
        </p:nvSpPr>
        <p:spPr>
          <a:xfrm>
            <a:off x="6699042" y="829839"/>
            <a:ext cx="2337272" cy="5617181"/>
          </a:xfrm>
          <a:prstGeom prst="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Business Architecture</a:t>
            </a:r>
            <a:endParaRPr lang="en-US" sz="800" b="1" dirty="0">
              <a:solidFill>
                <a:schemeClr val="tx1"/>
              </a:solidFill>
            </a:endParaRPr>
          </a:p>
        </p:txBody>
      </p:sp>
      <p:sp>
        <p:nvSpPr>
          <p:cNvPr id="7" name="Rectangle 6"/>
          <p:cNvSpPr/>
          <p:nvPr/>
        </p:nvSpPr>
        <p:spPr>
          <a:xfrm>
            <a:off x="6775014" y="1076805"/>
            <a:ext cx="2185327" cy="1788701"/>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Catalogs</a:t>
            </a:r>
          </a:p>
        </p:txBody>
      </p:sp>
      <p:sp>
        <p:nvSpPr>
          <p:cNvPr id="8" name="Rectangle 7"/>
          <p:cNvSpPr/>
          <p:nvPr/>
        </p:nvSpPr>
        <p:spPr>
          <a:xfrm>
            <a:off x="6775014" y="2989409"/>
            <a:ext cx="2185327" cy="683801"/>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Matrices</a:t>
            </a:r>
            <a:endParaRPr lang="en-US" sz="800" b="1" dirty="0">
              <a:solidFill>
                <a:schemeClr val="tx1"/>
              </a:solidFill>
            </a:endParaRPr>
          </a:p>
        </p:txBody>
      </p:sp>
      <p:sp>
        <p:nvSpPr>
          <p:cNvPr id="9" name="Rectangle 8"/>
          <p:cNvSpPr/>
          <p:nvPr/>
        </p:nvSpPr>
        <p:spPr>
          <a:xfrm>
            <a:off x="6775014" y="3792350"/>
            <a:ext cx="2185327" cy="1121951"/>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Core Diagrams</a:t>
            </a:r>
            <a:endParaRPr lang="en-US" sz="800" b="1" dirty="0">
              <a:solidFill>
                <a:schemeClr val="tx1"/>
              </a:solidFill>
            </a:endParaRPr>
          </a:p>
        </p:txBody>
      </p:sp>
      <p:sp>
        <p:nvSpPr>
          <p:cNvPr id="10" name="Rectangle 9"/>
          <p:cNvSpPr/>
          <p:nvPr/>
        </p:nvSpPr>
        <p:spPr>
          <a:xfrm>
            <a:off x="6874348" y="4217860"/>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Business Service/Information Diagram</a:t>
            </a:r>
          </a:p>
        </p:txBody>
      </p:sp>
      <p:sp>
        <p:nvSpPr>
          <p:cNvPr id="11" name="Rectangle 10"/>
          <p:cNvSpPr/>
          <p:nvPr/>
        </p:nvSpPr>
        <p:spPr>
          <a:xfrm>
            <a:off x="6874348" y="4435746"/>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Functional Decomposition Diagram</a:t>
            </a:r>
          </a:p>
        </p:txBody>
      </p:sp>
      <p:sp>
        <p:nvSpPr>
          <p:cNvPr id="12" name="Rectangle 11"/>
          <p:cNvSpPr/>
          <p:nvPr/>
        </p:nvSpPr>
        <p:spPr>
          <a:xfrm>
            <a:off x="6775014" y="5033442"/>
            <a:ext cx="2185327" cy="132774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Extension Diagrams</a:t>
            </a:r>
            <a:endParaRPr lang="en-US" sz="800" b="1" dirty="0">
              <a:solidFill>
                <a:schemeClr val="tx1"/>
              </a:solidFill>
            </a:endParaRPr>
          </a:p>
        </p:txBody>
      </p:sp>
      <p:sp>
        <p:nvSpPr>
          <p:cNvPr id="13" name="Rectangle 12"/>
          <p:cNvSpPr/>
          <p:nvPr/>
        </p:nvSpPr>
        <p:spPr>
          <a:xfrm>
            <a:off x="6874348" y="5458951"/>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Business Use-Case Diagram</a:t>
            </a:r>
          </a:p>
        </p:txBody>
      </p:sp>
      <p:sp>
        <p:nvSpPr>
          <p:cNvPr id="14" name="Rectangle 13"/>
          <p:cNvSpPr/>
          <p:nvPr/>
        </p:nvSpPr>
        <p:spPr>
          <a:xfrm>
            <a:off x="6874348" y="6112609"/>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Event Diagram</a:t>
            </a:r>
          </a:p>
        </p:txBody>
      </p:sp>
      <p:sp>
        <p:nvSpPr>
          <p:cNvPr id="15" name="Rectangle 14"/>
          <p:cNvSpPr/>
          <p:nvPr/>
        </p:nvSpPr>
        <p:spPr>
          <a:xfrm>
            <a:off x="6874348" y="1284429"/>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Organization/Actor Catalog</a:t>
            </a:r>
          </a:p>
        </p:txBody>
      </p:sp>
      <p:sp>
        <p:nvSpPr>
          <p:cNvPr id="16" name="Rectangle 15"/>
          <p:cNvSpPr/>
          <p:nvPr/>
        </p:nvSpPr>
        <p:spPr>
          <a:xfrm>
            <a:off x="6874348" y="3414919"/>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Actor/Role Matrix</a:t>
            </a:r>
          </a:p>
        </p:txBody>
      </p:sp>
      <p:sp>
        <p:nvSpPr>
          <p:cNvPr id="17" name="Rectangle 16"/>
          <p:cNvSpPr/>
          <p:nvPr/>
        </p:nvSpPr>
        <p:spPr>
          <a:xfrm>
            <a:off x="6874348" y="1504101"/>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Driver/Goal/Objective Catalog</a:t>
            </a:r>
          </a:p>
        </p:txBody>
      </p:sp>
      <p:sp>
        <p:nvSpPr>
          <p:cNvPr id="18" name="Rectangle 17"/>
          <p:cNvSpPr/>
          <p:nvPr/>
        </p:nvSpPr>
        <p:spPr>
          <a:xfrm>
            <a:off x="6874348" y="5241065"/>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Goal/Objective/Service Diagram</a:t>
            </a:r>
          </a:p>
        </p:txBody>
      </p:sp>
      <p:sp>
        <p:nvSpPr>
          <p:cNvPr id="19" name="Rectangle 18"/>
          <p:cNvSpPr/>
          <p:nvPr/>
        </p:nvSpPr>
        <p:spPr>
          <a:xfrm>
            <a:off x="6874348" y="3999974"/>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Business Footprint Diagram</a:t>
            </a:r>
          </a:p>
        </p:txBody>
      </p:sp>
      <p:sp>
        <p:nvSpPr>
          <p:cNvPr id="20" name="Rectangle 19"/>
          <p:cNvSpPr/>
          <p:nvPr/>
        </p:nvSpPr>
        <p:spPr>
          <a:xfrm>
            <a:off x="6874348" y="2602459"/>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Contract/Measure Catalog</a:t>
            </a:r>
          </a:p>
        </p:txBody>
      </p:sp>
      <p:sp>
        <p:nvSpPr>
          <p:cNvPr id="21" name="Rectangle 20"/>
          <p:cNvSpPr/>
          <p:nvPr/>
        </p:nvSpPr>
        <p:spPr>
          <a:xfrm>
            <a:off x="6874348" y="1943445"/>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Business Service/Function Catalog</a:t>
            </a:r>
          </a:p>
        </p:txBody>
      </p:sp>
      <p:sp>
        <p:nvSpPr>
          <p:cNvPr id="22" name="Rectangle 21"/>
          <p:cNvSpPr/>
          <p:nvPr/>
        </p:nvSpPr>
        <p:spPr>
          <a:xfrm>
            <a:off x="6874348" y="2163117"/>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Location Catalog</a:t>
            </a:r>
          </a:p>
        </p:txBody>
      </p:sp>
      <p:sp>
        <p:nvSpPr>
          <p:cNvPr id="23" name="Rectangle 22"/>
          <p:cNvSpPr/>
          <p:nvPr/>
        </p:nvSpPr>
        <p:spPr>
          <a:xfrm>
            <a:off x="6874348" y="2382789"/>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Process/Event/Control/Product Catalog</a:t>
            </a:r>
          </a:p>
        </p:txBody>
      </p:sp>
      <p:sp>
        <p:nvSpPr>
          <p:cNvPr id="24" name="Rectangle 23"/>
          <p:cNvSpPr/>
          <p:nvPr/>
        </p:nvSpPr>
        <p:spPr>
          <a:xfrm>
            <a:off x="6874348" y="3197033"/>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Business Interaction Matrix</a:t>
            </a:r>
          </a:p>
        </p:txBody>
      </p:sp>
      <p:sp>
        <p:nvSpPr>
          <p:cNvPr id="25" name="Rectangle 24"/>
          <p:cNvSpPr/>
          <p:nvPr/>
        </p:nvSpPr>
        <p:spPr>
          <a:xfrm>
            <a:off x="6874348" y="4435746"/>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Functional Decomposition Diagram</a:t>
            </a:r>
          </a:p>
        </p:txBody>
      </p:sp>
      <p:sp>
        <p:nvSpPr>
          <p:cNvPr id="26" name="Rectangle 25"/>
          <p:cNvSpPr/>
          <p:nvPr/>
        </p:nvSpPr>
        <p:spPr>
          <a:xfrm>
            <a:off x="6874348" y="5676837"/>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Organization Decomposition Diagram</a:t>
            </a:r>
          </a:p>
        </p:txBody>
      </p:sp>
      <p:sp>
        <p:nvSpPr>
          <p:cNvPr id="27" name="Rectangle 26"/>
          <p:cNvSpPr/>
          <p:nvPr/>
        </p:nvSpPr>
        <p:spPr>
          <a:xfrm>
            <a:off x="6874348" y="1720201"/>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Role Catalog</a:t>
            </a:r>
          </a:p>
        </p:txBody>
      </p:sp>
      <p:sp>
        <p:nvSpPr>
          <p:cNvPr id="28" name="Rectangle 27"/>
          <p:cNvSpPr/>
          <p:nvPr/>
        </p:nvSpPr>
        <p:spPr>
          <a:xfrm>
            <a:off x="6874348" y="5894723"/>
            <a:ext cx="1986661" cy="175614"/>
          </a:xfrm>
          <a:prstGeom prst="rect">
            <a:avLst/>
          </a:prstGeom>
          <a:solidFill>
            <a:srgbClr val="3D7F6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spc="-10" dirty="0">
                <a:solidFill>
                  <a:schemeClr val="bg1"/>
                </a:solidFill>
              </a:rPr>
              <a:t>Process Flow Diagram</a:t>
            </a:r>
          </a:p>
        </p:txBody>
      </p:sp>
      <p:sp>
        <p:nvSpPr>
          <p:cNvPr id="29" name="Rectangle 28"/>
          <p:cNvSpPr/>
          <p:nvPr/>
        </p:nvSpPr>
        <p:spPr>
          <a:xfrm>
            <a:off x="6874348" y="4653632"/>
            <a:ext cx="1986661" cy="1756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Product Lifecycle Diagram</a:t>
            </a:r>
          </a:p>
        </p:txBody>
      </p:sp>
    </p:spTree>
    <p:extLst>
      <p:ext uri="{BB962C8B-B14F-4D97-AF65-F5344CB8AC3E}">
        <p14:creationId xmlns:p14="http://schemas.microsoft.com/office/powerpoint/2010/main" val="2492889342"/>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4"/>
          <p:cNvSpPr>
            <a:spLocks noGrp="1"/>
          </p:cNvSpPr>
          <p:nvPr>
            <p:ph type="title"/>
          </p:nvPr>
        </p:nvSpPr>
        <p:spPr/>
        <p:txBody>
          <a:bodyPr/>
          <a:lstStyle/>
          <a:p>
            <a:r>
              <a:rPr lang="nl-NL"/>
              <a:t>Process Flow Diagram</a:t>
            </a:r>
            <a:endParaRPr lang="en-US"/>
          </a:p>
        </p:txBody>
      </p:sp>
      <p:sp>
        <p:nvSpPr>
          <p:cNvPr id="64" name="Rounded Rectangle 63"/>
          <p:cNvSpPr/>
          <p:nvPr/>
        </p:nvSpPr>
        <p:spPr>
          <a:xfrm>
            <a:off x="241512" y="2841212"/>
            <a:ext cx="8700819" cy="1620000"/>
          </a:xfrm>
          <a:prstGeom prst="roundRect">
            <a:avLst>
              <a:gd name="adj" fmla="val 0"/>
            </a:avLst>
          </a:prstGeom>
          <a:solidFill>
            <a:schemeClr val="bg1"/>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t"/>
          <a:lstStyle/>
          <a:p>
            <a:r>
              <a:rPr lang="en-US" sz="1200" b="1" dirty="0" smtClean="0">
                <a:solidFill>
                  <a:schemeClr val="tx1"/>
                </a:solidFill>
              </a:rPr>
              <a:t>Administration</a:t>
            </a:r>
            <a:br>
              <a:rPr lang="en-US" sz="1200" b="1" dirty="0" smtClean="0">
                <a:solidFill>
                  <a:schemeClr val="tx1"/>
                </a:solidFill>
              </a:rPr>
            </a:br>
            <a:r>
              <a:rPr lang="en-US" sz="1200" b="1" dirty="0" smtClean="0">
                <a:solidFill>
                  <a:schemeClr val="tx1"/>
                </a:solidFill>
              </a:rPr>
              <a:t>Department</a:t>
            </a:r>
            <a:endParaRPr lang="en-US" sz="1200" b="1" dirty="0"/>
          </a:p>
        </p:txBody>
      </p:sp>
      <p:sp>
        <p:nvSpPr>
          <p:cNvPr id="86" name="Rounded Rectangle 85"/>
          <p:cNvSpPr/>
          <p:nvPr/>
        </p:nvSpPr>
        <p:spPr>
          <a:xfrm>
            <a:off x="1140343" y="3420991"/>
            <a:ext cx="1311295"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latin typeface="+mj-lt"/>
              </a:rPr>
              <a:t>Register Application</a:t>
            </a:r>
            <a:endParaRPr lang="en-US" sz="1200" dirty="0">
              <a:solidFill>
                <a:schemeClr val="tx1"/>
              </a:solidFill>
              <a:latin typeface="+mj-lt"/>
            </a:endParaRPr>
          </a:p>
        </p:txBody>
      </p:sp>
      <p:sp>
        <p:nvSpPr>
          <p:cNvPr id="84" name="Rounded Rectangle 83"/>
          <p:cNvSpPr/>
          <p:nvPr/>
        </p:nvSpPr>
        <p:spPr>
          <a:xfrm>
            <a:off x="3151102" y="3420991"/>
            <a:ext cx="1210960"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latin typeface="+mj-lt"/>
              </a:rPr>
              <a:t>Review Application</a:t>
            </a:r>
            <a:endParaRPr lang="en-US" sz="1200" dirty="0">
              <a:solidFill>
                <a:schemeClr val="tx1"/>
              </a:solidFill>
              <a:latin typeface="+mj-lt"/>
            </a:endParaRPr>
          </a:p>
        </p:txBody>
      </p:sp>
      <p:sp>
        <p:nvSpPr>
          <p:cNvPr id="76" name="Rounded Rectangle 75"/>
          <p:cNvSpPr/>
          <p:nvPr/>
        </p:nvSpPr>
        <p:spPr>
          <a:xfrm>
            <a:off x="5048215" y="3420991"/>
            <a:ext cx="1210960"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latin typeface="+mj-lt"/>
              </a:rPr>
              <a:t>Construct Agreement</a:t>
            </a:r>
            <a:endParaRPr lang="en-US" sz="1200" dirty="0">
              <a:solidFill>
                <a:schemeClr val="tx1"/>
              </a:solidFill>
              <a:latin typeface="+mj-lt"/>
            </a:endParaRPr>
          </a:p>
        </p:txBody>
      </p:sp>
      <p:sp>
        <p:nvSpPr>
          <p:cNvPr id="35" name="Rounded Rectangle 34"/>
          <p:cNvSpPr/>
          <p:nvPr/>
        </p:nvSpPr>
        <p:spPr>
          <a:xfrm>
            <a:off x="239303" y="4640607"/>
            <a:ext cx="8700819" cy="1620000"/>
          </a:xfrm>
          <a:prstGeom prst="roundRect">
            <a:avLst>
              <a:gd name="adj" fmla="val 0"/>
            </a:avLst>
          </a:prstGeom>
          <a:solidFill>
            <a:schemeClr val="bg1"/>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t"/>
          <a:lstStyle/>
          <a:p>
            <a:r>
              <a:rPr lang="en-US" sz="1200" b="1" dirty="0" smtClean="0">
                <a:solidFill>
                  <a:schemeClr val="tx1"/>
                </a:solidFill>
              </a:rPr>
              <a:t>Financial Department</a:t>
            </a:r>
            <a:endParaRPr lang="en-US" sz="1200" b="1" dirty="0"/>
          </a:p>
        </p:txBody>
      </p:sp>
      <p:sp>
        <p:nvSpPr>
          <p:cNvPr id="37" name="Rounded Rectangle 36"/>
          <p:cNvSpPr/>
          <p:nvPr/>
        </p:nvSpPr>
        <p:spPr>
          <a:xfrm>
            <a:off x="248137" y="1041817"/>
            <a:ext cx="8700819" cy="1620000"/>
          </a:xfrm>
          <a:prstGeom prst="roundRect">
            <a:avLst>
              <a:gd name="adj" fmla="val 0"/>
            </a:avLst>
          </a:prstGeom>
          <a:solidFill>
            <a:schemeClr val="bg1"/>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t"/>
          <a:lstStyle/>
          <a:p>
            <a:r>
              <a:rPr lang="en-US" sz="1200" b="1" dirty="0" smtClean="0">
                <a:solidFill>
                  <a:schemeClr val="tx1"/>
                </a:solidFill>
              </a:rPr>
              <a:t>Applicant</a:t>
            </a:r>
            <a:endParaRPr lang="en-US" sz="1200" b="1" dirty="0"/>
          </a:p>
        </p:txBody>
      </p:sp>
      <p:sp>
        <p:nvSpPr>
          <p:cNvPr id="39" name="Rounded Rectangle 38"/>
          <p:cNvSpPr/>
          <p:nvPr/>
        </p:nvSpPr>
        <p:spPr>
          <a:xfrm>
            <a:off x="1138134" y="1621596"/>
            <a:ext cx="1311295"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latin typeface="+mj-lt"/>
              </a:rPr>
              <a:t>Apply for Education</a:t>
            </a:r>
            <a:endParaRPr lang="en-US" sz="1200" dirty="0">
              <a:solidFill>
                <a:schemeClr val="tx1"/>
              </a:solidFill>
              <a:latin typeface="+mj-lt"/>
            </a:endParaRPr>
          </a:p>
        </p:txBody>
      </p:sp>
      <p:cxnSp>
        <p:nvCxnSpPr>
          <p:cNvPr id="3" name="Straight Arrow Connector 2"/>
          <p:cNvCxnSpPr>
            <a:stCxn id="39" idx="2"/>
            <a:endCxn id="86" idx="0"/>
          </p:cNvCxnSpPr>
          <p:nvPr/>
        </p:nvCxnSpPr>
        <p:spPr>
          <a:xfrm>
            <a:off x="1793782" y="2082039"/>
            <a:ext cx="2209" cy="1338952"/>
          </a:xfrm>
          <a:prstGeom prst="straightConnector1">
            <a:avLst/>
          </a:prstGeom>
          <a:solidFill>
            <a:srgbClr val="DFE9E7"/>
          </a:solidFill>
          <a:ln w="12700">
            <a:solidFill>
              <a:srgbClr val="3D7F64"/>
            </a:solidFill>
            <a:tailEnd type="arrow"/>
          </a:ln>
        </p:spPr>
        <p:style>
          <a:lnRef idx="2">
            <a:schemeClr val="accent1">
              <a:shade val="50000"/>
            </a:schemeClr>
          </a:lnRef>
          <a:fillRef idx="1">
            <a:schemeClr val="accent1"/>
          </a:fillRef>
          <a:effectRef idx="0">
            <a:schemeClr val="accent1"/>
          </a:effectRef>
          <a:fontRef idx="minor">
            <a:schemeClr val="lt1"/>
          </a:fontRef>
        </p:style>
      </p:cxnSp>
      <p:sp>
        <p:nvSpPr>
          <p:cNvPr id="40" name="Rounded Rectangle 39"/>
          <p:cNvSpPr/>
          <p:nvPr/>
        </p:nvSpPr>
        <p:spPr>
          <a:xfrm>
            <a:off x="7422563" y="1621596"/>
            <a:ext cx="1311295"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latin typeface="+mj-lt"/>
              </a:rPr>
              <a:t>Pay Tuition Fees</a:t>
            </a:r>
            <a:endParaRPr lang="en-US" sz="1200" dirty="0">
              <a:solidFill>
                <a:schemeClr val="tx1"/>
              </a:solidFill>
              <a:latin typeface="+mj-lt"/>
            </a:endParaRPr>
          </a:p>
        </p:txBody>
      </p:sp>
      <p:sp>
        <p:nvSpPr>
          <p:cNvPr id="45" name="Rounded Rectangle 44"/>
          <p:cNvSpPr/>
          <p:nvPr/>
        </p:nvSpPr>
        <p:spPr>
          <a:xfrm>
            <a:off x="7522898" y="5220386"/>
            <a:ext cx="1210960"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latin typeface="+mj-lt"/>
              </a:rPr>
              <a:t>Receive</a:t>
            </a:r>
            <a:br>
              <a:rPr lang="en-US" sz="1200" dirty="0" smtClean="0">
                <a:solidFill>
                  <a:schemeClr val="tx1"/>
                </a:solidFill>
                <a:latin typeface="+mj-lt"/>
              </a:rPr>
            </a:br>
            <a:r>
              <a:rPr lang="en-US" sz="1200" dirty="0" smtClean="0">
                <a:solidFill>
                  <a:schemeClr val="tx1"/>
                </a:solidFill>
                <a:latin typeface="+mj-lt"/>
              </a:rPr>
              <a:t>Payment</a:t>
            </a:r>
            <a:endParaRPr lang="en-US" sz="1200" dirty="0">
              <a:solidFill>
                <a:schemeClr val="tx1"/>
              </a:solidFill>
              <a:latin typeface="+mj-lt"/>
            </a:endParaRPr>
          </a:p>
        </p:txBody>
      </p:sp>
      <p:cxnSp>
        <p:nvCxnSpPr>
          <p:cNvPr id="46" name="Straight Arrow Connector 45"/>
          <p:cNvCxnSpPr>
            <a:stCxn id="76" idx="3"/>
            <a:endCxn id="44" idx="0"/>
          </p:cNvCxnSpPr>
          <p:nvPr/>
        </p:nvCxnSpPr>
        <p:spPr>
          <a:xfrm>
            <a:off x="6259175" y="3651213"/>
            <a:ext cx="270260" cy="1569173"/>
          </a:xfrm>
          <a:prstGeom prst="straightConnector1">
            <a:avLst/>
          </a:prstGeom>
          <a:solidFill>
            <a:srgbClr val="DFE9E7"/>
          </a:solidFill>
          <a:ln w="12700">
            <a:solidFill>
              <a:srgbClr val="3D7F64"/>
            </a:solidFill>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Arrow Connector 47"/>
          <p:cNvCxnSpPr>
            <a:stCxn id="40" idx="2"/>
            <a:endCxn id="45" idx="0"/>
          </p:cNvCxnSpPr>
          <p:nvPr/>
        </p:nvCxnSpPr>
        <p:spPr>
          <a:xfrm>
            <a:off x="8078211" y="2082039"/>
            <a:ext cx="50167" cy="3138347"/>
          </a:xfrm>
          <a:prstGeom prst="straightConnector1">
            <a:avLst/>
          </a:prstGeom>
          <a:solidFill>
            <a:srgbClr val="DFE9E7"/>
          </a:solidFill>
          <a:ln w="12700">
            <a:solidFill>
              <a:srgbClr val="3D7F64"/>
            </a:solidFill>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52" name="Straight Arrow Connector 51"/>
          <p:cNvCxnSpPr/>
          <p:nvPr/>
        </p:nvCxnSpPr>
        <p:spPr>
          <a:xfrm flipV="1">
            <a:off x="6863660" y="2082039"/>
            <a:ext cx="659238" cy="3177364"/>
          </a:xfrm>
          <a:prstGeom prst="straightConnector1">
            <a:avLst/>
          </a:prstGeom>
          <a:solidFill>
            <a:srgbClr val="DFE9E7"/>
          </a:solidFill>
          <a:ln w="12700">
            <a:solidFill>
              <a:srgbClr val="3D7F64"/>
            </a:solidFill>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54" name="Straight Arrow Connector 53"/>
          <p:cNvCxnSpPr>
            <a:stCxn id="84" idx="3"/>
            <a:endCxn id="76" idx="1"/>
          </p:cNvCxnSpPr>
          <p:nvPr/>
        </p:nvCxnSpPr>
        <p:spPr>
          <a:xfrm>
            <a:off x="4362062" y="3651213"/>
            <a:ext cx="686153" cy="0"/>
          </a:xfrm>
          <a:prstGeom prst="straightConnector1">
            <a:avLst/>
          </a:prstGeom>
          <a:solidFill>
            <a:srgbClr val="DFE9E7"/>
          </a:solidFill>
          <a:ln w="12700">
            <a:solidFill>
              <a:srgbClr val="3D7F64"/>
            </a:solidFill>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Arrow Connector 57"/>
          <p:cNvCxnSpPr>
            <a:stCxn id="86" idx="3"/>
            <a:endCxn id="84" idx="1"/>
          </p:cNvCxnSpPr>
          <p:nvPr/>
        </p:nvCxnSpPr>
        <p:spPr>
          <a:xfrm>
            <a:off x="2451638" y="3651213"/>
            <a:ext cx="699464" cy="0"/>
          </a:xfrm>
          <a:prstGeom prst="straightConnector1">
            <a:avLst/>
          </a:prstGeom>
          <a:solidFill>
            <a:srgbClr val="DFE9E7"/>
          </a:solidFill>
          <a:ln w="12700">
            <a:solidFill>
              <a:srgbClr val="3D7F64"/>
            </a:solidFill>
            <a:tailEnd type="arrow"/>
          </a:ln>
        </p:spPr>
        <p:style>
          <a:lnRef idx="2">
            <a:schemeClr val="accent1">
              <a:shade val="50000"/>
            </a:schemeClr>
          </a:lnRef>
          <a:fillRef idx="1">
            <a:schemeClr val="accent1"/>
          </a:fillRef>
          <a:effectRef idx="0">
            <a:schemeClr val="accent1"/>
          </a:effectRef>
          <a:fontRef idx="minor">
            <a:schemeClr val="lt1"/>
          </a:fontRef>
        </p:style>
      </p:cxnSp>
      <p:sp>
        <p:nvSpPr>
          <p:cNvPr id="44" name="Rounded Rectangle 43"/>
          <p:cNvSpPr/>
          <p:nvPr/>
        </p:nvSpPr>
        <p:spPr>
          <a:xfrm>
            <a:off x="5923955" y="5220386"/>
            <a:ext cx="1210960" cy="460443"/>
          </a:xfrm>
          <a:prstGeom prst="round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200" dirty="0" smtClean="0">
                <a:solidFill>
                  <a:schemeClr val="tx1"/>
                </a:solidFill>
                <a:latin typeface="+mj-lt"/>
              </a:rPr>
              <a:t>Send Invoice</a:t>
            </a:r>
            <a:endParaRPr lang="en-US" sz="1200" dirty="0">
              <a:solidFill>
                <a:schemeClr val="tx1"/>
              </a:solidFill>
              <a:latin typeface="+mj-lt"/>
            </a:endParaRPr>
          </a:p>
        </p:txBody>
      </p:sp>
    </p:spTree>
    <p:extLst>
      <p:ext uri="{BB962C8B-B14F-4D97-AF65-F5344CB8AC3E}">
        <p14:creationId xmlns:p14="http://schemas.microsoft.com/office/powerpoint/2010/main" val="3622337898"/>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Information Systems </a:t>
            </a:r>
            <a:r>
              <a:rPr lang="en-US" dirty="0" smtClean="0"/>
              <a:t>Architectures </a:t>
            </a:r>
            <a:r>
              <a:rPr lang="en-US" dirty="0"/>
              <a:t>Artifacts</a:t>
            </a:r>
          </a:p>
        </p:txBody>
      </p:sp>
      <p:sp>
        <p:nvSpPr>
          <p:cNvPr id="66" name="Rectangle 65"/>
          <p:cNvSpPr/>
          <p:nvPr/>
        </p:nvSpPr>
        <p:spPr>
          <a:xfrm>
            <a:off x="3529406" y="835295"/>
            <a:ext cx="2642790" cy="5618042"/>
          </a:xfrm>
          <a:prstGeom prst="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Data </a:t>
            </a:r>
            <a:r>
              <a:rPr lang="en-US" sz="800" b="1" dirty="0">
                <a:solidFill>
                  <a:schemeClr val="tx1"/>
                </a:solidFill>
              </a:rPr>
              <a:t>Architecture</a:t>
            </a:r>
          </a:p>
        </p:txBody>
      </p:sp>
      <p:sp>
        <p:nvSpPr>
          <p:cNvPr id="67" name="Rectangle 66"/>
          <p:cNvSpPr/>
          <p:nvPr/>
        </p:nvSpPr>
        <p:spPr>
          <a:xfrm>
            <a:off x="3615308" y="1082260"/>
            <a:ext cx="2470984"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Catalogs</a:t>
            </a:r>
          </a:p>
        </p:txBody>
      </p:sp>
      <p:sp>
        <p:nvSpPr>
          <p:cNvPr id="69" name="Rectangle 68"/>
          <p:cNvSpPr/>
          <p:nvPr/>
        </p:nvSpPr>
        <p:spPr>
          <a:xfrm>
            <a:off x="3615308" y="2153592"/>
            <a:ext cx="2470984"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Matrices</a:t>
            </a:r>
            <a:endParaRPr lang="en-US" sz="800" b="1" dirty="0">
              <a:solidFill>
                <a:schemeClr val="tx1"/>
              </a:solidFill>
            </a:endParaRPr>
          </a:p>
        </p:txBody>
      </p:sp>
      <p:sp>
        <p:nvSpPr>
          <p:cNvPr id="71" name="Rectangle 70"/>
          <p:cNvSpPr/>
          <p:nvPr/>
        </p:nvSpPr>
        <p:spPr>
          <a:xfrm>
            <a:off x="3615308" y="3173951"/>
            <a:ext cx="2470984" cy="127001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Core Diagrams</a:t>
            </a:r>
            <a:endParaRPr lang="en-US" sz="800" b="1" dirty="0">
              <a:solidFill>
                <a:schemeClr val="tx1"/>
              </a:solidFill>
            </a:endParaRPr>
          </a:p>
        </p:txBody>
      </p:sp>
      <p:sp>
        <p:nvSpPr>
          <p:cNvPr id="72" name="Rectangle 71"/>
          <p:cNvSpPr/>
          <p:nvPr/>
        </p:nvSpPr>
        <p:spPr>
          <a:xfrm>
            <a:off x="3727623" y="3381287"/>
            <a:ext cx="2246349" cy="33979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Conceptual Data Diagram</a:t>
            </a:r>
            <a:endParaRPr lang="en-US" sz="800" dirty="0">
              <a:solidFill>
                <a:schemeClr val="tx1"/>
              </a:solidFill>
            </a:endParaRPr>
          </a:p>
        </p:txBody>
      </p:sp>
      <p:sp>
        <p:nvSpPr>
          <p:cNvPr id="73" name="Rectangle 72"/>
          <p:cNvSpPr/>
          <p:nvPr/>
        </p:nvSpPr>
        <p:spPr>
          <a:xfrm>
            <a:off x="3727623" y="3786668"/>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Logical Data Diagram</a:t>
            </a:r>
            <a:endParaRPr lang="en-US" sz="800" dirty="0">
              <a:solidFill>
                <a:schemeClr val="tx1"/>
              </a:solidFill>
            </a:endParaRPr>
          </a:p>
        </p:txBody>
      </p:sp>
      <p:sp>
        <p:nvSpPr>
          <p:cNvPr id="74" name="Rectangle 73"/>
          <p:cNvSpPr/>
          <p:nvPr/>
        </p:nvSpPr>
        <p:spPr>
          <a:xfrm>
            <a:off x="3615308" y="4579999"/>
            <a:ext cx="2470984" cy="140209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Extension Diagrams</a:t>
            </a:r>
          </a:p>
        </p:txBody>
      </p:sp>
      <p:sp>
        <p:nvSpPr>
          <p:cNvPr id="75" name="Rectangle 74"/>
          <p:cNvSpPr/>
          <p:nvPr/>
        </p:nvSpPr>
        <p:spPr>
          <a:xfrm>
            <a:off x="3727623" y="4840502"/>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Data Security Diagram</a:t>
            </a:r>
            <a:endParaRPr lang="en-US" sz="800" dirty="0">
              <a:solidFill>
                <a:schemeClr val="tx1"/>
              </a:solidFill>
            </a:endParaRPr>
          </a:p>
        </p:txBody>
      </p:sp>
      <p:sp>
        <p:nvSpPr>
          <p:cNvPr id="76" name="Rectangle 75"/>
          <p:cNvSpPr/>
          <p:nvPr/>
        </p:nvSpPr>
        <p:spPr>
          <a:xfrm>
            <a:off x="3727623" y="5162056"/>
            <a:ext cx="2246349" cy="33280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Data </a:t>
            </a:r>
            <a:r>
              <a:rPr lang="en-US" sz="800" dirty="0" smtClean="0">
                <a:solidFill>
                  <a:schemeClr val="tx1"/>
                </a:solidFill>
              </a:rPr>
              <a:t>Migration Diagram</a:t>
            </a:r>
            <a:endParaRPr lang="en-US" sz="800" dirty="0">
              <a:solidFill>
                <a:schemeClr val="tx1"/>
              </a:solidFill>
            </a:endParaRPr>
          </a:p>
        </p:txBody>
      </p:sp>
      <p:sp>
        <p:nvSpPr>
          <p:cNvPr id="79" name="Rectangle 78"/>
          <p:cNvSpPr/>
          <p:nvPr/>
        </p:nvSpPr>
        <p:spPr>
          <a:xfrm>
            <a:off x="3727623" y="5568456"/>
            <a:ext cx="2246349" cy="33280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Data </a:t>
            </a:r>
            <a:r>
              <a:rPr lang="en-US" sz="800" dirty="0" smtClean="0">
                <a:solidFill>
                  <a:schemeClr val="tx1"/>
                </a:solidFill>
              </a:rPr>
              <a:t>Lifecycle </a:t>
            </a:r>
            <a:r>
              <a:rPr lang="en-US" sz="800" dirty="0">
                <a:solidFill>
                  <a:schemeClr val="tx1"/>
                </a:solidFill>
              </a:rPr>
              <a:t>Diagram</a:t>
            </a:r>
          </a:p>
        </p:txBody>
      </p:sp>
      <p:sp>
        <p:nvSpPr>
          <p:cNvPr id="68" name="Rectangle 67"/>
          <p:cNvSpPr/>
          <p:nvPr/>
        </p:nvSpPr>
        <p:spPr>
          <a:xfrm>
            <a:off x="3734303" y="2363251"/>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Data Entity/Business Function Matrix</a:t>
            </a:r>
            <a:endParaRPr lang="en-US" sz="800" dirty="0">
              <a:solidFill>
                <a:schemeClr val="tx1"/>
              </a:solidFill>
            </a:endParaRPr>
          </a:p>
        </p:txBody>
      </p:sp>
      <p:sp>
        <p:nvSpPr>
          <p:cNvPr id="20" name="Rectangle 19"/>
          <p:cNvSpPr/>
          <p:nvPr/>
        </p:nvSpPr>
        <p:spPr>
          <a:xfrm>
            <a:off x="3734302" y="4092940"/>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Data Dissemination Diagram</a:t>
            </a:r>
            <a:endParaRPr lang="en-US" sz="800" dirty="0">
              <a:solidFill>
                <a:schemeClr val="tx1"/>
              </a:solidFill>
            </a:endParaRPr>
          </a:p>
        </p:txBody>
      </p:sp>
      <p:sp>
        <p:nvSpPr>
          <p:cNvPr id="80" name="Rectangle 79"/>
          <p:cNvSpPr/>
          <p:nvPr/>
        </p:nvSpPr>
        <p:spPr>
          <a:xfrm>
            <a:off x="3687194" y="1310864"/>
            <a:ext cx="2286778"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Data Entity/Data Component Catalog</a:t>
            </a:r>
            <a:endParaRPr lang="en-US" sz="800" dirty="0">
              <a:solidFill>
                <a:schemeClr val="tx1"/>
              </a:solidFill>
            </a:endParaRPr>
          </a:p>
        </p:txBody>
      </p:sp>
      <p:sp>
        <p:nvSpPr>
          <p:cNvPr id="19" name="Rectangle 18"/>
          <p:cNvSpPr/>
          <p:nvPr/>
        </p:nvSpPr>
        <p:spPr>
          <a:xfrm>
            <a:off x="2821" y="6265333"/>
            <a:ext cx="2962671" cy="230832"/>
          </a:xfrm>
          <a:prstGeom prst="rect">
            <a:avLst/>
          </a:prstGeom>
        </p:spPr>
        <p:txBody>
          <a:bodyPr wrap="none">
            <a:spAutoFit/>
          </a:bodyPr>
          <a:lstStyle/>
          <a:p>
            <a:r>
              <a:rPr lang="en-IN" sz="900" dirty="0"/>
              <a:t>Source: </a:t>
            </a:r>
            <a:r>
              <a:rPr lang="en-IN" sz="900" i="1" dirty="0"/>
              <a:t>TOGAF</a:t>
            </a:r>
            <a:r>
              <a:rPr lang="en-IN" sz="900" i="1" baseline="30000" dirty="0"/>
              <a:t>®</a:t>
            </a:r>
            <a:r>
              <a:rPr lang="en-IN" sz="900" i="1" dirty="0"/>
              <a:t> Version 9.1</a:t>
            </a:r>
            <a:r>
              <a:rPr lang="en-IN" sz="900" dirty="0"/>
              <a:t>, The Open Group, </a:t>
            </a:r>
            <a:r>
              <a:rPr lang="en-IN" sz="900" dirty="0" smtClean="0"/>
              <a:t>2011</a:t>
            </a:r>
            <a:endParaRPr lang="en-IN" sz="900" dirty="0"/>
          </a:p>
        </p:txBody>
      </p:sp>
      <p:sp>
        <p:nvSpPr>
          <p:cNvPr id="70" name="Rectangle 69"/>
          <p:cNvSpPr/>
          <p:nvPr/>
        </p:nvSpPr>
        <p:spPr>
          <a:xfrm>
            <a:off x="3727627" y="2656934"/>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Application/Data Matrix</a:t>
            </a:r>
          </a:p>
        </p:txBody>
      </p:sp>
    </p:spTree>
    <p:extLst>
      <p:ext uri="{BB962C8B-B14F-4D97-AF65-F5344CB8AC3E}">
        <p14:creationId xmlns:p14="http://schemas.microsoft.com/office/powerpoint/2010/main" val="735878342"/>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jdelijke aanduiding voor inhoud 2"/>
          <p:cNvSpPr>
            <a:spLocks noGrp="1"/>
          </p:cNvSpPr>
          <p:nvPr>
            <p:ph idx="1"/>
          </p:nvPr>
        </p:nvSpPr>
        <p:spPr>
          <a:xfrm>
            <a:off x="457511" y="987990"/>
            <a:ext cx="5848315" cy="5312141"/>
          </a:xfrm>
        </p:spPr>
        <p:txBody>
          <a:bodyPr>
            <a:noAutofit/>
          </a:bodyPr>
          <a:lstStyle/>
          <a:p>
            <a:r>
              <a:rPr lang="nl-NL" sz="1800" b="0" dirty="0"/>
              <a:t>Conceptual Data Diagram</a:t>
            </a:r>
          </a:p>
          <a:p>
            <a:pPr lvl="2"/>
            <a:r>
              <a:rPr lang="nl-NL" b="0" dirty="0"/>
              <a:t>The key purpose of the Conceptual Data diagram is to depict the relationships between critical data entities within the enterprise. </a:t>
            </a:r>
          </a:p>
          <a:p>
            <a:pPr lvl="2"/>
            <a:r>
              <a:rPr lang="nl-NL" b="0" dirty="0"/>
              <a:t>This diagram is developed to clearly present the relationships and to help understand the lower-level data models for the enterprise.</a:t>
            </a:r>
          </a:p>
        </p:txBody>
      </p:sp>
      <p:sp>
        <p:nvSpPr>
          <p:cNvPr id="86017" name="Titel 1"/>
          <p:cNvSpPr>
            <a:spLocks noGrp="1"/>
          </p:cNvSpPr>
          <p:nvPr>
            <p:ph type="title"/>
          </p:nvPr>
        </p:nvSpPr>
        <p:spPr/>
        <p:txBody>
          <a:bodyPr/>
          <a:lstStyle/>
          <a:p>
            <a:r>
              <a:rPr lang="nl-NL"/>
              <a:t>Conceptual Data Diagram</a:t>
            </a:r>
          </a:p>
        </p:txBody>
      </p:sp>
      <p:sp>
        <p:nvSpPr>
          <p:cNvPr id="31" name="Rectangle 30"/>
          <p:cNvSpPr/>
          <p:nvPr/>
        </p:nvSpPr>
        <p:spPr>
          <a:xfrm>
            <a:off x="6411754" y="846338"/>
            <a:ext cx="2642790" cy="5618042"/>
          </a:xfrm>
          <a:prstGeom prst="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Data </a:t>
            </a:r>
            <a:r>
              <a:rPr lang="en-US" sz="800" b="1" dirty="0">
                <a:solidFill>
                  <a:schemeClr val="tx1"/>
                </a:solidFill>
              </a:rPr>
              <a:t>Architecture</a:t>
            </a:r>
          </a:p>
        </p:txBody>
      </p:sp>
      <p:sp>
        <p:nvSpPr>
          <p:cNvPr id="32" name="Rectangle 31"/>
          <p:cNvSpPr/>
          <p:nvPr/>
        </p:nvSpPr>
        <p:spPr>
          <a:xfrm>
            <a:off x="6497656" y="1093303"/>
            <a:ext cx="2470984"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Catalogs</a:t>
            </a:r>
          </a:p>
        </p:txBody>
      </p:sp>
      <p:sp>
        <p:nvSpPr>
          <p:cNvPr id="33" name="Rectangle 32"/>
          <p:cNvSpPr/>
          <p:nvPr/>
        </p:nvSpPr>
        <p:spPr>
          <a:xfrm>
            <a:off x="6497656" y="2164635"/>
            <a:ext cx="2470984"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Matrices</a:t>
            </a:r>
            <a:endParaRPr lang="en-US" sz="800" b="1" dirty="0">
              <a:solidFill>
                <a:schemeClr val="tx1"/>
              </a:solidFill>
            </a:endParaRPr>
          </a:p>
        </p:txBody>
      </p:sp>
      <p:sp>
        <p:nvSpPr>
          <p:cNvPr id="34" name="Rectangle 33"/>
          <p:cNvSpPr/>
          <p:nvPr/>
        </p:nvSpPr>
        <p:spPr>
          <a:xfrm>
            <a:off x="6497656" y="3184994"/>
            <a:ext cx="2470984" cy="127001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Core Diagrams</a:t>
            </a:r>
            <a:endParaRPr lang="en-US" sz="800" b="1" dirty="0">
              <a:solidFill>
                <a:schemeClr val="tx1"/>
              </a:solidFill>
            </a:endParaRPr>
          </a:p>
        </p:txBody>
      </p:sp>
      <p:sp>
        <p:nvSpPr>
          <p:cNvPr id="35" name="Rectangle 34"/>
          <p:cNvSpPr/>
          <p:nvPr/>
        </p:nvSpPr>
        <p:spPr>
          <a:xfrm>
            <a:off x="6609971" y="3392330"/>
            <a:ext cx="2246349" cy="339797"/>
          </a:xfrm>
          <a:prstGeom prst="rect">
            <a:avLst/>
          </a:prstGeom>
          <a:solidFill>
            <a:srgbClr val="3D7F6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rPr>
              <a:t>Conceptual Data Diagram</a:t>
            </a:r>
          </a:p>
        </p:txBody>
      </p:sp>
      <p:sp>
        <p:nvSpPr>
          <p:cNvPr id="36" name="Rectangle 35"/>
          <p:cNvSpPr/>
          <p:nvPr/>
        </p:nvSpPr>
        <p:spPr>
          <a:xfrm>
            <a:off x="6609971" y="3797711"/>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Logical Data Diagram</a:t>
            </a:r>
            <a:endParaRPr lang="en-US" sz="800" dirty="0">
              <a:solidFill>
                <a:schemeClr val="tx1"/>
              </a:solidFill>
            </a:endParaRPr>
          </a:p>
        </p:txBody>
      </p:sp>
      <p:sp>
        <p:nvSpPr>
          <p:cNvPr id="37" name="Rectangle 36"/>
          <p:cNvSpPr/>
          <p:nvPr/>
        </p:nvSpPr>
        <p:spPr>
          <a:xfrm>
            <a:off x="6497656" y="4591042"/>
            <a:ext cx="2470984" cy="140209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Extension Diagrams</a:t>
            </a:r>
          </a:p>
        </p:txBody>
      </p:sp>
      <p:sp>
        <p:nvSpPr>
          <p:cNvPr id="38" name="Rectangle 37"/>
          <p:cNvSpPr/>
          <p:nvPr/>
        </p:nvSpPr>
        <p:spPr>
          <a:xfrm>
            <a:off x="6609971" y="4851545"/>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Data Security Diagram</a:t>
            </a:r>
            <a:endParaRPr lang="en-US" sz="800" dirty="0">
              <a:solidFill>
                <a:schemeClr val="tx1"/>
              </a:solidFill>
            </a:endParaRPr>
          </a:p>
        </p:txBody>
      </p:sp>
      <p:sp>
        <p:nvSpPr>
          <p:cNvPr id="39" name="Rectangle 38"/>
          <p:cNvSpPr/>
          <p:nvPr/>
        </p:nvSpPr>
        <p:spPr>
          <a:xfrm>
            <a:off x="6609971" y="5173099"/>
            <a:ext cx="2246349" cy="33280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Data </a:t>
            </a:r>
            <a:r>
              <a:rPr lang="en-US" sz="800" dirty="0" smtClean="0">
                <a:solidFill>
                  <a:schemeClr val="tx1"/>
                </a:solidFill>
              </a:rPr>
              <a:t>Migration Diagram</a:t>
            </a:r>
            <a:endParaRPr lang="en-US" sz="800" dirty="0">
              <a:solidFill>
                <a:schemeClr val="tx1"/>
              </a:solidFill>
            </a:endParaRPr>
          </a:p>
        </p:txBody>
      </p:sp>
      <p:sp>
        <p:nvSpPr>
          <p:cNvPr id="40" name="Rectangle 39"/>
          <p:cNvSpPr/>
          <p:nvPr/>
        </p:nvSpPr>
        <p:spPr>
          <a:xfrm>
            <a:off x="6609971" y="5579499"/>
            <a:ext cx="2246349" cy="33280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Data </a:t>
            </a:r>
            <a:r>
              <a:rPr lang="en-US" sz="800" dirty="0" smtClean="0">
                <a:solidFill>
                  <a:schemeClr val="tx1"/>
                </a:solidFill>
              </a:rPr>
              <a:t>Lifecycle </a:t>
            </a:r>
            <a:r>
              <a:rPr lang="en-US" sz="800" dirty="0">
                <a:solidFill>
                  <a:schemeClr val="tx1"/>
                </a:solidFill>
              </a:rPr>
              <a:t>Diagram</a:t>
            </a:r>
          </a:p>
        </p:txBody>
      </p:sp>
      <p:sp>
        <p:nvSpPr>
          <p:cNvPr id="41" name="Rectangle 40"/>
          <p:cNvSpPr/>
          <p:nvPr/>
        </p:nvSpPr>
        <p:spPr>
          <a:xfrm>
            <a:off x="6616651" y="2374294"/>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Data Entity/Business Function Matrix</a:t>
            </a:r>
            <a:endParaRPr lang="en-US" sz="800" dirty="0">
              <a:solidFill>
                <a:schemeClr val="tx1"/>
              </a:solidFill>
            </a:endParaRPr>
          </a:p>
        </p:txBody>
      </p:sp>
      <p:sp>
        <p:nvSpPr>
          <p:cNvPr id="42" name="Rectangle 41"/>
          <p:cNvSpPr/>
          <p:nvPr/>
        </p:nvSpPr>
        <p:spPr>
          <a:xfrm>
            <a:off x="6616650" y="4103983"/>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Data Dissemination Diagram</a:t>
            </a:r>
            <a:endParaRPr lang="en-US" sz="800" dirty="0">
              <a:solidFill>
                <a:schemeClr val="tx1"/>
              </a:solidFill>
            </a:endParaRPr>
          </a:p>
        </p:txBody>
      </p:sp>
      <p:sp>
        <p:nvSpPr>
          <p:cNvPr id="43" name="Rectangle 42"/>
          <p:cNvSpPr/>
          <p:nvPr/>
        </p:nvSpPr>
        <p:spPr>
          <a:xfrm>
            <a:off x="6569542" y="1321907"/>
            <a:ext cx="2286778"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Data Entity/Data Component Catalog</a:t>
            </a:r>
            <a:endParaRPr lang="en-US" sz="800" dirty="0">
              <a:solidFill>
                <a:schemeClr val="tx1"/>
              </a:solidFill>
            </a:endParaRPr>
          </a:p>
        </p:txBody>
      </p:sp>
      <p:sp>
        <p:nvSpPr>
          <p:cNvPr id="44" name="Rectangle 43"/>
          <p:cNvSpPr/>
          <p:nvPr/>
        </p:nvSpPr>
        <p:spPr>
          <a:xfrm>
            <a:off x="6609975" y="2667977"/>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Application/Data Matrix</a:t>
            </a:r>
          </a:p>
        </p:txBody>
      </p:sp>
    </p:spTree>
    <p:extLst>
      <p:ext uri="{BB962C8B-B14F-4D97-AF65-F5344CB8AC3E}">
        <p14:creationId xmlns:p14="http://schemas.microsoft.com/office/powerpoint/2010/main" val="1939515685"/>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Conceptual Data Diagram</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2869" y="1332217"/>
            <a:ext cx="7454348" cy="4687583"/>
          </a:xfrm>
          <a:prstGeom prst="rect">
            <a:avLst/>
          </a:prstGeom>
        </p:spPr>
      </p:pic>
    </p:spTree>
    <p:extLst>
      <p:ext uri="{BB962C8B-B14F-4D97-AF65-F5344CB8AC3E}">
        <p14:creationId xmlns:p14="http://schemas.microsoft.com/office/powerpoint/2010/main" val="4032118310"/>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jdelijke aanduiding voor inhoud 2"/>
          <p:cNvSpPr>
            <a:spLocks noGrp="1"/>
          </p:cNvSpPr>
          <p:nvPr>
            <p:ph idx="1"/>
          </p:nvPr>
        </p:nvSpPr>
        <p:spPr>
          <a:xfrm>
            <a:off x="457511" y="1016565"/>
            <a:ext cx="5914576" cy="5312141"/>
          </a:xfrm>
        </p:spPr>
        <p:txBody>
          <a:bodyPr>
            <a:noAutofit/>
          </a:bodyPr>
          <a:lstStyle/>
          <a:p>
            <a:pPr>
              <a:lnSpc>
                <a:spcPct val="100000"/>
              </a:lnSpc>
            </a:pPr>
            <a:r>
              <a:rPr lang="nl-NL" sz="1800" b="0" dirty="0"/>
              <a:t>Application/Data Matrix</a:t>
            </a:r>
          </a:p>
          <a:p>
            <a:pPr lvl="2">
              <a:lnSpc>
                <a:spcPct val="100000"/>
              </a:lnSpc>
            </a:pPr>
            <a:r>
              <a:rPr lang="nl-NL" b="0" dirty="0"/>
              <a:t>The purpose of the Application/Data matrix is to depict the relationship between applications (i.e., application components) and the data entities that are accessed and updated by them.</a:t>
            </a:r>
          </a:p>
          <a:p>
            <a:pPr lvl="2">
              <a:lnSpc>
                <a:spcPct val="100000"/>
              </a:lnSpc>
            </a:pPr>
            <a:r>
              <a:rPr lang="nl-NL" b="0" dirty="0"/>
              <a:t>The mapping of the Application Component-Data Entity relationship is an important step as it enables the following to take place:</a:t>
            </a:r>
          </a:p>
          <a:p>
            <a:pPr lvl="3">
              <a:lnSpc>
                <a:spcPct val="100000"/>
              </a:lnSpc>
            </a:pPr>
            <a:r>
              <a:rPr lang="nl-NL" b="0" dirty="0"/>
              <a:t>Assign access of data to specific applications in the organization</a:t>
            </a:r>
          </a:p>
          <a:p>
            <a:pPr lvl="3">
              <a:lnSpc>
                <a:spcPct val="100000"/>
              </a:lnSpc>
            </a:pPr>
            <a:r>
              <a:rPr lang="nl-NL" b="0" dirty="0"/>
              <a:t>Understand the degree of data duplication within different applications, and the scale of the data lifecycle</a:t>
            </a:r>
          </a:p>
          <a:p>
            <a:pPr lvl="3">
              <a:lnSpc>
                <a:spcPct val="100000"/>
              </a:lnSpc>
            </a:pPr>
            <a:r>
              <a:rPr lang="nl-NL" b="0" dirty="0"/>
              <a:t>Understand where the same data is updated by different applications</a:t>
            </a:r>
          </a:p>
          <a:p>
            <a:pPr lvl="3">
              <a:lnSpc>
                <a:spcPct val="100000"/>
              </a:lnSpc>
            </a:pPr>
            <a:r>
              <a:rPr lang="nl-NL" b="0" dirty="0"/>
              <a:t>Support the gap analysis and determine whether any of the applications are missing and as a result need to be created</a:t>
            </a:r>
          </a:p>
          <a:p>
            <a:pPr lvl="3">
              <a:lnSpc>
                <a:spcPct val="100000"/>
              </a:lnSpc>
            </a:pPr>
            <a:r>
              <a:rPr lang="nl-NL" b="0" dirty="0"/>
              <a:t>The Application/Data matrix is a two-dimensional table with Logical Application Component on one axis and Data Entity on the other axis.</a:t>
            </a:r>
          </a:p>
        </p:txBody>
      </p:sp>
      <p:sp>
        <p:nvSpPr>
          <p:cNvPr id="86017" name="Titel 1"/>
          <p:cNvSpPr>
            <a:spLocks noGrp="1"/>
          </p:cNvSpPr>
          <p:nvPr>
            <p:ph type="title"/>
          </p:nvPr>
        </p:nvSpPr>
        <p:spPr/>
        <p:txBody>
          <a:bodyPr/>
          <a:lstStyle/>
          <a:p>
            <a:r>
              <a:rPr lang="en-US" dirty="0"/>
              <a:t>Application/Data Matrix</a:t>
            </a:r>
            <a:endParaRPr lang="nl-NL"/>
          </a:p>
        </p:txBody>
      </p:sp>
      <p:sp>
        <p:nvSpPr>
          <p:cNvPr id="31" name="Rectangle 30"/>
          <p:cNvSpPr/>
          <p:nvPr/>
        </p:nvSpPr>
        <p:spPr>
          <a:xfrm>
            <a:off x="6411754" y="846338"/>
            <a:ext cx="2642790" cy="5618042"/>
          </a:xfrm>
          <a:prstGeom prst="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Data </a:t>
            </a:r>
            <a:r>
              <a:rPr lang="en-US" sz="800" b="1" dirty="0">
                <a:solidFill>
                  <a:schemeClr val="tx1"/>
                </a:solidFill>
              </a:rPr>
              <a:t>Architecture</a:t>
            </a:r>
          </a:p>
        </p:txBody>
      </p:sp>
      <p:sp>
        <p:nvSpPr>
          <p:cNvPr id="32" name="Rectangle 31"/>
          <p:cNvSpPr/>
          <p:nvPr/>
        </p:nvSpPr>
        <p:spPr>
          <a:xfrm>
            <a:off x="6497656" y="1093303"/>
            <a:ext cx="2470984"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Catalogs</a:t>
            </a:r>
          </a:p>
        </p:txBody>
      </p:sp>
      <p:sp>
        <p:nvSpPr>
          <p:cNvPr id="33" name="Rectangle 32"/>
          <p:cNvSpPr/>
          <p:nvPr/>
        </p:nvSpPr>
        <p:spPr>
          <a:xfrm>
            <a:off x="6497656" y="2164635"/>
            <a:ext cx="2470984"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Matrices</a:t>
            </a:r>
            <a:endParaRPr lang="en-US" sz="800" b="1" dirty="0">
              <a:solidFill>
                <a:schemeClr val="tx1"/>
              </a:solidFill>
            </a:endParaRPr>
          </a:p>
        </p:txBody>
      </p:sp>
      <p:sp>
        <p:nvSpPr>
          <p:cNvPr id="34" name="Rectangle 33"/>
          <p:cNvSpPr/>
          <p:nvPr/>
        </p:nvSpPr>
        <p:spPr>
          <a:xfrm>
            <a:off x="6497656" y="3184994"/>
            <a:ext cx="2470984" cy="127001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Core Diagrams</a:t>
            </a:r>
            <a:endParaRPr lang="en-US" sz="800" b="1" dirty="0">
              <a:solidFill>
                <a:schemeClr val="tx1"/>
              </a:solidFill>
            </a:endParaRPr>
          </a:p>
        </p:txBody>
      </p:sp>
      <p:sp>
        <p:nvSpPr>
          <p:cNvPr id="35" name="Rectangle 34"/>
          <p:cNvSpPr/>
          <p:nvPr/>
        </p:nvSpPr>
        <p:spPr>
          <a:xfrm>
            <a:off x="6609971" y="3392330"/>
            <a:ext cx="2246349" cy="33979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Conceptual Data Diagram</a:t>
            </a:r>
          </a:p>
        </p:txBody>
      </p:sp>
      <p:sp>
        <p:nvSpPr>
          <p:cNvPr id="36" name="Rectangle 35"/>
          <p:cNvSpPr/>
          <p:nvPr/>
        </p:nvSpPr>
        <p:spPr>
          <a:xfrm>
            <a:off x="6609971" y="3797711"/>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Logical Data Diagram</a:t>
            </a:r>
            <a:endParaRPr lang="en-US" sz="800" dirty="0">
              <a:solidFill>
                <a:schemeClr val="tx1"/>
              </a:solidFill>
            </a:endParaRPr>
          </a:p>
        </p:txBody>
      </p:sp>
      <p:sp>
        <p:nvSpPr>
          <p:cNvPr id="37" name="Rectangle 36"/>
          <p:cNvSpPr/>
          <p:nvPr/>
        </p:nvSpPr>
        <p:spPr>
          <a:xfrm>
            <a:off x="6497656" y="4591042"/>
            <a:ext cx="2470984" cy="140209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Extension Diagrams</a:t>
            </a:r>
          </a:p>
        </p:txBody>
      </p:sp>
      <p:sp>
        <p:nvSpPr>
          <p:cNvPr id="38" name="Rectangle 37"/>
          <p:cNvSpPr/>
          <p:nvPr/>
        </p:nvSpPr>
        <p:spPr>
          <a:xfrm>
            <a:off x="6609971" y="4851545"/>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Data Security Diagram</a:t>
            </a:r>
            <a:endParaRPr lang="en-US" sz="800" dirty="0">
              <a:solidFill>
                <a:schemeClr val="tx1"/>
              </a:solidFill>
            </a:endParaRPr>
          </a:p>
        </p:txBody>
      </p:sp>
      <p:sp>
        <p:nvSpPr>
          <p:cNvPr id="39" name="Rectangle 38"/>
          <p:cNvSpPr/>
          <p:nvPr/>
        </p:nvSpPr>
        <p:spPr>
          <a:xfrm>
            <a:off x="6609971" y="5173099"/>
            <a:ext cx="2246349" cy="33280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Data </a:t>
            </a:r>
            <a:r>
              <a:rPr lang="en-US" sz="800" dirty="0" smtClean="0">
                <a:solidFill>
                  <a:schemeClr val="tx1"/>
                </a:solidFill>
              </a:rPr>
              <a:t>Migration Diagram</a:t>
            </a:r>
            <a:endParaRPr lang="en-US" sz="800" dirty="0">
              <a:solidFill>
                <a:schemeClr val="tx1"/>
              </a:solidFill>
            </a:endParaRPr>
          </a:p>
        </p:txBody>
      </p:sp>
      <p:sp>
        <p:nvSpPr>
          <p:cNvPr id="40" name="Rectangle 39"/>
          <p:cNvSpPr/>
          <p:nvPr/>
        </p:nvSpPr>
        <p:spPr>
          <a:xfrm>
            <a:off x="6609971" y="5579499"/>
            <a:ext cx="2246349" cy="33280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Data </a:t>
            </a:r>
            <a:r>
              <a:rPr lang="en-US" sz="800" dirty="0" smtClean="0">
                <a:solidFill>
                  <a:schemeClr val="tx1"/>
                </a:solidFill>
              </a:rPr>
              <a:t>Lifecycle </a:t>
            </a:r>
            <a:r>
              <a:rPr lang="en-US" sz="800" dirty="0">
                <a:solidFill>
                  <a:schemeClr val="tx1"/>
                </a:solidFill>
              </a:rPr>
              <a:t>Diagram</a:t>
            </a:r>
          </a:p>
        </p:txBody>
      </p:sp>
      <p:sp>
        <p:nvSpPr>
          <p:cNvPr id="41" name="Rectangle 40"/>
          <p:cNvSpPr/>
          <p:nvPr/>
        </p:nvSpPr>
        <p:spPr>
          <a:xfrm>
            <a:off x="6616651" y="2374294"/>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Data Entity/Business Function Matrix</a:t>
            </a:r>
            <a:endParaRPr lang="en-US" sz="800" dirty="0">
              <a:solidFill>
                <a:schemeClr val="tx1"/>
              </a:solidFill>
            </a:endParaRPr>
          </a:p>
        </p:txBody>
      </p:sp>
      <p:sp>
        <p:nvSpPr>
          <p:cNvPr id="42" name="Rectangle 41"/>
          <p:cNvSpPr/>
          <p:nvPr/>
        </p:nvSpPr>
        <p:spPr>
          <a:xfrm>
            <a:off x="6616650" y="4103983"/>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Data Dissemination Diagram</a:t>
            </a:r>
            <a:endParaRPr lang="en-US" sz="800" dirty="0">
              <a:solidFill>
                <a:schemeClr val="tx1"/>
              </a:solidFill>
            </a:endParaRPr>
          </a:p>
        </p:txBody>
      </p:sp>
      <p:sp>
        <p:nvSpPr>
          <p:cNvPr id="43" name="Rectangle 42"/>
          <p:cNvSpPr/>
          <p:nvPr/>
        </p:nvSpPr>
        <p:spPr>
          <a:xfrm>
            <a:off x="6569542" y="1321907"/>
            <a:ext cx="2286778"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Data Entity/Data Component Catalog</a:t>
            </a:r>
            <a:endParaRPr lang="en-US" sz="800" dirty="0">
              <a:solidFill>
                <a:schemeClr val="tx1"/>
              </a:solidFill>
            </a:endParaRPr>
          </a:p>
        </p:txBody>
      </p:sp>
      <p:sp>
        <p:nvSpPr>
          <p:cNvPr id="44" name="Rectangle 43"/>
          <p:cNvSpPr/>
          <p:nvPr/>
        </p:nvSpPr>
        <p:spPr>
          <a:xfrm>
            <a:off x="6609975" y="2667977"/>
            <a:ext cx="2246349" cy="238440"/>
          </a:xfrm>
          <a:prstGeom prst="rect">
            <a:avLst/>
          </a:prstGeom>
          <a:solidFill>
            <a:srgbClr val="3D7F6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rPr>
              <a:t>Application/Data Matrix</a:t>
            </a:r>
          </a:p>
        </p:txBody>
      </p:sp>
    </p:spTree>
    <p:extLst>
      <p:ext uri="{BB962C8B-B14F-4D97-AF65-F5344CB8AC3E}">
        <p14:creationId xmlns:p14="http://schemas.microsoft.com/office/powerpoint/2010/main" val="3679821535"/>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Application/Data Matrix</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267718216"/>
              </p:ext>
            </p:extLst>
          </p:nvPr>
        </p:nvGraphicFramePr>
        <p:xfrm>
          <a:off x="276227" y="1125538"/>
          <a:ext cx="8705847" cy="4767248"/>
        </p:xfrm>
        <a:graphic>
          <a:graphicData uri="http://schemas.openxmlformats.org/drawingml/2006/table">
            <a:tbl>
              <a:tblPr firstRow="1" bandRow="1">
                <a:tableStyleId>{ED083AE6-46FA-4A59-8FB0-9F97EB10719F}</a:tableStyleId>
              </a:tblPr>
              <a:tblGrid>
                <a:gridCol w="2010612"/>
                <a:gridCol w="446349"/>
                <a:gridCol w="446349"/>
                <a:gridCol w="446349"/>
                <a:gridCol w="446349"/>
                <a:gridCol w="446349"/>
                <a:gridCol w="446349"/>
                <a:gridCol w="446349"/>
                <a:gridCol w="446349"/>
                <a:gridCol w="446349"/>
                <a:gridCol w="446349"/>
                <a:gridCol w="446349"/>
                <a:gridCol w="446349"/>
                <a:gridCol w="446349"/>
                <a:gridCol w="446349"/>
                <a:gridCol w="446349"/>
              </a:tblGrid>
              <a:tr h="2067248">
                <a:tc>
                  <a:txBody>
                    <a:bodyPr/>
                    <a:lstStyle/>
                    <a:p>
                      <a:endParaRPr lang="en-US" sz="1400" dirty="0"/>
                    </a:p>
                  </a:txBody>
                  <a:tcPr marL="42410" marR="42410" marT="21205" marB="2120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US" sz="1400" b="1" kern="1200" dirty="0" smtClean="0">
                          <a:solidFill>
                            <a:schemeClr val="tx1"/>
                          </a:solidFill>
                          <a:latin typeface="+mn-lt"/>
                          <a:ea typeface="+mn-ea"/>
                          <a:cs typeface="+mn-cs"/>
                        </a:rPr>
                        <a:t>Employee</a:t>
                      </a:r>
                      <a:endParaRPr lang="en-US" sz="1400" b="1" kern="1200" dirty="0">
                        <a:solidFill>
                          <a:schemeClr val="tx1"/>
                        </a:solidFill>
                        <a:latin typeface="+mn-lt"/>
                        <a:ea typeface="+mn-ea"/>
                        <a:cs typeface="+mn-cs"/>
                      </a:endParaRPr>
                    </a:p>
                  </a:txBody>
                  <a:tcPr marL="42410" marR="4241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b="1" kern="1200" dirty="0" smtClean="0">
                          <a:solidFill>
                            <a:schemeClr val="tx1"/>
                          </a:solidFill>
                          <a:latin typeface="+mn-lt"/>
                          <a:ea typeface="+mn-ea"/>
                          <a:cs typeface="+mn-cs"/>
                        </a:rPr>
                        <a:t>Education material</a:t>
                      </a:r>
                      <a:endParaRPr lang="en-US" sz="1400" b="1" kern="1200" dirty="0">
                        <a:solidFill>
                          <a:schemeClr val="tx1"/>
                        </a:solidFill>
                        <a:latin typeface="+mn-lt"/>
                        <a:ea typeface="+mn-ea"/>
                        <a:cs typeface="+mn-cs"/>
                      </a:endParaRPr>
                    </a:p>
                  </a:txBody>
                  <a:tcPr marL="42410" marR="4241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b="1" kern="1200" dirty="0" smtClean="0">
                          <a:solidFill>
                            <a:schemeClr val="tx1"/>
                          </a:solidFill>
                          <a:latin typeface="+mn-lt"/>
                          <a:ea typeface="+mn-ea"/>
                          <a:cs typeface="+mn-cs"/>
                        </a:rPr>
                        <a:t>Test material</a:t>
                      </a:r>
                      <a:endParaRPr lang="en-US" sz="1400" b="1" kern="1200" dirty="0">
                        <a:solidFill>
                          <a:schemeClr val="tx1"/>
                        </a:solidFill>
                        <a:latin typeface="+mn-lt"/>
                        <a:ea typeface="+mn-ea"/>
                        <a:cs typeface="+mn-cs"/>
                      </a:endParaRPr>
                    </a:p>
                  </a:txBody>
                  <a:tcPr marL="42410" marR="4241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b="1" kern="1200" dirty="0" smtClean="0">
                          <a:solidFill>
                            <a:schemeClr val="tx1"/>
                          </a:solidFill>
                          <a:latin typeface="+mn-lt"/>
                          <a:ea typeface="+mn-ea"/>
                          <a:cs typeface="+mn-cs"/>
                        </a:rPr>
                        <a:t>Education institution</a:t>
                      </a:r>
                      <a:endParaRPr lang="en-US" sz="1400" b="1" kern="1200" dirty="0">
                        <a:solidFill>
                          <a:schemeClr val="tx1"/>
                        </a:solidFill>
                        <a:latin typeface="+mn-lt"/>
                        <a:ea typeface="+mn-ea"/>
                        <a:cs typeface="+mn-cs"/>
                      </a:endParaRPr>
                    </a:p>
                  </a:txBody>
                  <a:tcPr marL="42410" marR="4241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b="1" kern="1200" dirty="0" smtClean="0">
                          <a:solidFill>
                            <a:schemeClr val="tx1"/>
                          </a:solidFill>
                          <a:latin typeface="+mn-lt"/>
                          <a:ea typeface="+mn-ea"/>
                          <a:cs typeface="+mn-cs"/>
                        </a:rPr>
                        <a:t>Education product</a:t>
                      </a:r>
                      <a:endParaRPr lang="en-US" sz="1400" b="1" kern="1200" dirty="0">
                        <a:solidFill>
                          <a:schemeClr val="tx1"/>
                        </a:solidFill>
                        <a:latin typeface="+mn-lt"/>
                        <a:ea typeface="+mn-ea"/>
                        <a:cs typeface="+mn-cs"/>
                      </a:endParaRPr>
                    </a:p>
                  </a:txBody>
                  <a:tcPr marL="42410" marR="4241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b="1" kern="1200" dirty="0" smtClean="0">
                          <a:solidFill>
                            <a:schemeClr val="tx1"/>
                          </a:solidFill>
                          <a:latin typeface="+mn-lt"/>
                          <a:ea typeface="+mn-ea"/>
                          <a:cs typeface="+mn-cs"/>
                        </a:rPr>
                        <a:t>Education</a:t>
                      </a:r>
                      <a:endParaRPr lang="en-US" sz="1400" b="1" kern="1200" dirty="0">
                        <a:solidFill>
                          <a:schemeClr val="tx1"/>
                        </a:solidFill>
                        <a:latin typeface="+mn-lt"/>
                        <a:ea typeface="+mn-ea"/>
                        <a:cs typeface="+mn-cs"/>
                      </a:endParaRPr>
                    </a:p>
                  </a:txBody>
                  <a:tcPr marL="42410" marR="4241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b="1" kern="1200" dirty="0" smtClean="0">
                          <a:solidFill>
                            <a:schemeClr val="tx1"/>
                          </a:solidFill>
                          <a:latin typeface="+mn-lt"/>
                          <a:ea typeface="+mn-ea"/>
                          <a:cs typeface="+mn-cs"/>
                        </a:rPr>
                        <a:t>Course</a:t>
                      </a:r>
                      <a:endParaRPr lang="en-US" sz="1400" b="1" kern="1200" dirty="0">
                        <a:solidFill>
                          <a:schemeClr val="tx1"/>
                        </a:solidFill>
                        <a:latin typeface="+mn-lt"/>
                        <a:ea typeface="+mn-ea"/>
                        <a:cs typeface="+mn-cs"/>
                      </a:endParaRPr>
                    </a:p>
                  </a:txBody>
                  <a:tcPr marL="42410" marR="4241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b="1" kern="1200" dirty="0" smtClean="0">
                          <a:solidFill>
                            <a:schemeClr val="tx1"/>
                          </a:solidFill>
                          <a:latin typeface="+mn-lt"/>
                          <a:ea typeface="+mn-ea"/>
                          <a:cs typeface="+mn-cs"/>
                        </a:rPr>
                        <a:t>Test result</a:t>
                      </a:r>
                      <a:endParaRPr lang="en-US" sz="1400" b="1" kern="1200" dirty="0">
                        <a:solidFill>
                          <a:schemeClr val="tx1"/>
                        </a:solidFill>
                        <a:latin typeface="+mn-lt"/>
                        <a:ea typeface="+mn-ea"/>
                        <a:cs typeface="+mn-cs"/>
                      </a:endParaRPr>
                    </a:p>
                  </a:txBody>
                  <a:tcPr marL="42410" marR="4241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b="1" kern="1200" dirty="0" smtClean="0">
                          <a:solidFill>
                            <a:schemeClr val="tx1"/>
                          </a:solidFill>
                          <a:latin typeface="+mn-lt"/>
                          <a:ea typeface="+mn-ea"/>
                          <a:cs typeface="+mn-cs"/>
                        </a:rPr>
                        <a:t>Learner</a:t>
                      </a:r>
                      <a:endParaRPr lang="en-US" sz="1400" b="1" kern="1200" dirty="0">
                        <a:solidFill>
                          <a:schemeClr val="tx1"/>
                        </a:solidFill>
                        <a:latin typeface="+mn-lt"/>
                        <a:ea typeface="+mn-ea"/>
                        <a:cs typeface="+mn-cs"/>
                      </a:endParaRPr>
                    </a:p>
                  </a:txBody>
                  <a:tcPr marL="42410" marR="4241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b="1" kern="1200" dirty="0" smtClean="0">
                          <a:solidFill>
                            <a:schemeClr val="tx1"/>
                          </a:solidFill>
                          <a:latin typeface="+mn-lt"/>
                          <a:ea typeface="+mn-ea"/>
                          <a:cs typeface="+mn-cs"/>
                        </a:rPr>
                        <a:t>Exam program</a:t>
                      </a:r>
                      <a:endParaRPr lang="en-US" sz="1400" b="1" kern="1200" dirty="0">
                        <a:solidFill>
                          <a:schemeClr val="tx1"/>
                        </a:solidFill>
                        <a:latin typeface="+mn-lt"/>
                        <a:ea typeface="+mn-ea"/>
                        <a:cs typeface="+mn-cs"/>
                      </a:endParaRPr>
                    </a:p>
                  </a:txBody>
                  <a:tcPr marL="42410" marR="4241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b="1" kern="1200" dirty="0" smtClean="0">
                          <a:solidFill>
                            <a:schemeClr val="tx1"/>
                          </a:solidFill>
                          <a:latin typeface="+mn-lt"/>
                          <a:ea typeface="+mn-ea"/>
                          <a:cs typeface="+mn-cs"/>
                        </a:rPr>
                        <a:t>Certificate</a:t>
                      </a:r>
                      <a:endParaRPr lang="en-US" sz="1400" b="1" kern="1200" dirty="0">
                        <a:solidFill>
                          <a:schemeClr val="tx1"/>
                        </a:solidFill>
                        <a:latin typeface="+mn-lt"/>
                        <a:ea typeface="+mn-ea"/>
                        <a:cs typeface="+mn-cs"/>
                      </a:endParaRPr>
                    </a:p>
                  </a:txBody>
                  <a:tcPr marL="42410" marR="4241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b="1" kern="1200" dirty="0" smtClean="0">
                          <a:solidFill>
                            <a:schemeClr val="tx1"/>
                          </a:solidFill>
                          <a:latin typeface="+mn-lt"/>
                          <a:ea typeface="+mn-ea"/>
                          <a:cs typeface="+mn-cs"/>
                        </a:rPr>
                        <a:t>Schedule</a:t>
                      </a:r>
                      <a:endParaRPr lang="en-US" sz="1400" b="1" kern="1200" dirty="0">
                        <a:solidFill>
                          <a:schemeClr val="tx1"/>
                        </a:solidFill>
                        <a:latin typeface="+mn-lt"/>
                        <a:ea typeface="+mn-ea"/>
                        <a:cs typeface="+mn-cs"/>
                      </a:endParaRPr>
                    </a:p>
                  </a:txBody>
                  <a:tcPr marL="42410" marR="4241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b="1" kern="1200" dirty="0" smtClean="0">
                          <a:solidFill>
                            <a:schemeClr val="tx1"/>
                          </a:solidFill>
                          <a:latin typeface="+mn-lt"/>
                          <a:ea typeface="+mn-ea"/>
                          <a:cs typeface="+mn-cs"/>
                        </a:rPr>
                        <a:t>Education activity</a:t>
                      </a:r>
                      <a:endParaRPr lang="en-US" sz="1400" b="1" kern="1200" dirty="0">
                        <a:solidFill>
                          <a:schemeClr val="tx1"/>
                        </a:solidFill>
                        <a:latin typeface="+mn-lt"/>
                        <a:ea typeface="+mn-ea"/>
                        <a:cs typeface="+mn-cs"/>
                      </a:endParaRPr>
                    </a:p>
                  </a:txBody>
                  <a:tcPr marL="42410" marR="4241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b="1" kern="1200" dirty="0" smtClean="0">
                          <a:solidFill>
                            <a:schemeClr val="tx1"/>
                          </a:solidFill>
                          <a:latin typeface="+mn-lt"/>
                          <a:ea typeface="+mn-ea"/>
                          <a:cs typeface="+mn-cs"/>
                        </a:rPr>
                        <a:t>Portfolio</a:t>
                      </a:r>
                      <a:endParaRPr lang="en-US" sz="1400" b="1" kern="1200" dirty="0">
                        <a:solidFill>
                          <a:schemeClr val="tx1"/>
                        </a:solidFill>
                        <a:latin typeface="+mn-lt"/>
                        <a:ea typeface="+mn-ea"/>
                        <a:cs typeface="+mn-cs"/>
                      </a:endParaRPr>
                    </a:p>
                  </a:txBody>
                  <a:tcPr marL="42410" marR="4241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400" b="1" kern="1200" dirty="0" smtClean="0">
                          <a:solidFill>
                            <a:schemeClr val="tx1"/>
                          </a:solidFill>
                          <a:latin typeface="+mn-lt"/>
                          <a:ea typeface="+mn-ea"/>
                          <a:cs typeface="+mn-cs"/>
                        </a:rPr>
                        <a:t>Work product</a:t>
                      </a:r>
                      <a:endParaRPr lang="en-US" sz="1400" b="1" kern="1200" dirty="0">
                        <a:solidFill>
                          <a:schemeClr val="tx1"/>
                        </a:solidFill>
                        <a:latin typeface="+mn-lt"/>
                        <a:ea typeface="+mn-ea"/>
                        <a:cs typeface="+mn-cs"/>
                      </a:endParaRPr>
                    </a:p>
                  </a:txBody>
                  <a:tcPr marL="42410" marR="4241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40000">
                <a:tc>
                  <a:txBody>
                    <a:bodyPr/>
                    <a:lstStyle/>
                    <a:p>
                      <a:r>
                        <a:rPr lang="en-US" sz="1400" dirty="0" smtClean="0"/>
                        <a:t>Learning</a:t>
                      </a:r>
                      <a:r>
                        <a:rPr lang="en-US" sz="1400" baseline="0" dirty="0" smtClean="0"/>
                        <a:t> Management System</a:t>
                      </a: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marL="0" algn="ctr" defTabSz="914400" rtl="0" eaLnBrk="1" latinLnBrk="0" hangingPunct="1"/>
                      <a:endParaRPr lang="en-US" sz="1400" kern="1200" dirty="0">
                        <a:solidFill>
                          <a:schemeClr val="tx1"/>
                        </a:solidFill>
                        <a:latin typeface="+mn-lt"/>
                        <a:ea typeface="+mn-ea"/>
                        <a:cs typeface="+mn-cs"/>
                      </a:endParaRP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r>
                        <a:rPr lang="en-US" sz="1400" dirty="0" smtClean="0"/>
                        <a:t>X</a:t>
                      </a: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r>
                        <a:rPr lang="en-US" sz="1400" dirty="0" smtClean="0"/>
                        <a:t>X</a:t>
                      </a: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r>
                        <a:rPr lang="en-US" sz="1400" dirty="0" smtClean="0"/>
                        <a:t>X</a:t>
                      </a: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r>
              <a:tr h="540000">
                <a:tc>
                  <a:txBody>
                    <a:bodyPr/>
                    <a:lstStyle/>
                    <a:p>
                      <a:r>
                        <a:rPr lang="en-US" sz="1400" dirty="0" smtClean="0"/>
                        <a:t>Student Information System</a:t>
                      </a: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4400" rtl="0" eaLnBrk="1" latinLnBrk="0" hangingPunct="1"/>
                      <a:endParaRPr lang="en-US" sz="1400" kern="1200" dirty="0">
                        <a:solidFill>
                          <a:schemeClr val="tx1"/>
                        </a:solidFill>
                        <a:latin typeface="+mn-lt"/>
                        <a:ea typeface="+mn-ea"/>
                        <a:cs typeface="+mn-cs"/>
                      </a:endParaRP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1400" dirty="0" smtClean="0"/>
                        <a:t>X</a:t>
                      </a: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1400" dirty="0" smtClean="0"/>
                        <a:t>X</a:t>
                      </a: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1400" dirty="0" smtClean="0"/>
                        <a:t>X</a:t>
                      </a: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1400" dirty="0" smtClean="0"/>
                        <a:t>X</a:t>
                      </a: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1400" dirty="0" smtClean="0"/>
                        <a:t>X</a:t>
                      </a: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1400" dirty="0" smtClean="0"/>
                        <a:t>X</a:t>
                      </a: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1400" dirty="0" smtClean="0"/>
                        <a:t>X</a:t>
                      </a: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1400" dirty="0" smtClean="0"/>
                        <a:t>X</a:t>
                      </a: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40000">
                <a:tc>
                  <a:txBody>
                    <a:bodyPr/>
                    <a:lstStyle/>
                    <a:p>
                      <a:r>
                        <a:rPr lang="en-US" sz="1400" dirty="0" smtClean="0"/>
                        <a:t>Digital Test System</a:t>
                      </a: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marL="0" algn="ctr" defTabSz="914400" rtl="0" eaLnBrk="1" latinLnBrk="0" hangingPunct="1"/>
                      <a:endParaRPr lang="en-US" sz="1400" kern="1200" dirty="0">
                        <a:solidFill>
                          <a:schemeClr val="tx1"/>
                        </a:solidFill>
                        <a:latin typeface="+mn-lt"/>
                        <a:ea typeface="+mn-ea"/>
                        <a:cs typeface="+mn-cs"/>
                      </a:endParaRP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r>
                        <a:rPr lang="en-US" sz="1400" dirty="0" smtClean="0"/>
                        <a:t>X</a:t>
                      </a: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r>
              <a:tr h="540000">
                <a:tc>
                  <a:txBody>
                    <a:bodyPr/>
                    <a:lstStyle/>
                    <a:p>
                      <a:r>
                        <a:rPr lang="en-US" sz="1400" dirty="0" smtClean="0"/>
                        <a:t>Scheduling System</a:t>
                      </a: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4400" rtl="0" eaLnBrk="1" latinLnBrk="0" hangingPunct="1"/>
                      <a:endParaRPr lang="en-US" sz="1400" kern="1200">
                        <a:solidFill>
                          <a:schemeClr val="tx1"/>
                        </a:solidFill>
                        <a:latin typeface="+mn-lt"/>
                        <a:ea typeface="+mn-ea"/>
                        <a:cs typeface="+mn-cs"/>
                      </a:endParaRP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en-US" sz="140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en-US" sz="140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1400" dirty="0" smtClean="0"/>
                        <a:t>X</a:t>
                      </a: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en-US" sz="140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en-US" sz="140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40000">
                <a:tc>
                  <a:txBody>
                    <a:bodyPr/>
                    <a:lstStyle/>
                    <a:p>
                      <a:r>
                        <a:rPr lang="en-US" sz="1400" dirty="0" smtClean="0"/>
                        <a:t>HR</a:t>
                      </a:r>
                      <a:r>
                        <a:rPr lang="en-US" sz="1400" baseline="0" dirty="0" smtClean="0"/>
                        <a:t> System</a:t>
                      </a: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marL="0" algn="ctr" defTabSz="914400" rtl="0" eaLnBrk="1" latinLnBrk="0" hangingPunct="1"/>
                      <a:r>
                        <a:rPr lang="en-US" sz="1400" kern="1200" dirty="0" smtClean="0">
                          <a:solidFill>
                            <a:schemeClr val="tx1"/>
                          </a:solidFill>
                          <a:latin typeface="+mn-lt"/>
                          <a:ea typeface="+mn-ea"/>
                          <a:cs typeface="+mn-cs"/>
                        </a:rPr>
                        <a:t>X</a:t>
                      </a:r>
                      <a:endParaRPr lang="en-US" sz="1400" kern="1200" dirty="0">
                        <a:solidFill>
                          <a:schemeClr val="tx1"/>
                        </a:solidFill>
                        <a:latin typeface="+mn-lt"/>
                        <a:ea typeface="+mn-ea"/>
                        <a:cs typeface="+mn-cs"/>
                      </a:endParaRP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r>
                        <a:rPr lang="en-US" sz="1400" dirty="0" smtClean="0"/>
                        <a:t>X</a:t>
                      </a: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4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r>
            </a:tbl>
          </a:graphicData>
        </a:graphic>
      </p:graphicFrame>
    </p:spTree>
    <p:extLst>
      <p:ext uri="{BB962C8B-B14F-4D97-AF65-F5344CB8AC3E}">
        <p14:creationId xmlns:p14="http://schemas.microsoft.com/office/powerpoint/2010/main" val="3731310836"/>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jdelijke aanduiding voor inhoud 2"/>
          <p:cNvSpPr>
            <a:spLocks noGrp="1"/>
          </p:cNvSpPr>
          <p:nvPr>
            <p:ph idx="1"/>
          </p:nvPr>
        </p:nvSpPr>
        <p:spPr>
          <a:xfrm>
            <a:off x="457511" y="987990"/>
            <a:ext cx="5914576" cy="5312141"/>
          </a:xfrm>
        </p:spPr>
        <p:txBody>
          <a:bodyPr>
            <a:noAutofit/>
          </a:bodyPr>
          <a:lstStyle/>
          <a:p>
            <a:r>
              <a:rPr lang="en-US" sz="1800" b="0" dirty="0">
                <a:latin typeface="+mj-lt"/>
              </a:rPr>
              <a:t>Data Entity/Business Function </a:t>
            </a:r>
            <a:r>
              <a:rPr lang="nl-NL" sz="1800" b="0" dirty="0">
                <a:latin typeface="+mj-lt"/>
              </a:rPr>
              <a:t>Matrix</a:t>
            </a:r>
          </a:p>
          <a:p>
            <a:pPr lvl="2"/>
            <a:r>
              <a:rPr lang="nl-NL" b="0" dirty="0">
                <a:latin typeface="+mj-lt"/>
              </a:rPr>
              <a:t>The purpose of the Data Entity/Business Function matrix is to depict the relationship between data entities and business functions within the enterprise. </a:t>
            </a:r>
          </a:p>
          <a:p>
            <a:pPr lvl="2"/>
            <a:r>
              <a:rPr lang="nl-NL" b="0" dirty="0">
                <a:latin typeface="+mj-lt"/>
              </a:rPr>
              <a:t>The mapping of the Data Entity-Business Function relationship enables the following to take place:</a:t>
            </a:r>
          </a:p>
          <a:p>
            <a:pPr lvl="3"/>
            <a:r>
              <a:rPr lang="nl-NL" b="0" dirty="0">
                <a:latin typeface="+mj-lt"/>
              </a:rPr>
              <a:t>Assign ownership of data entities to organizations</a:t>
            </a:r>
          </a:p>
          <a:p>
            <a:pPr lvl="3"/>
            <a:r>
              <a:rPr lang="nl-NL" b="0" dirty="0">
                <a:latin typeface="+mj-lt"/>
              </a:rPr>
              <a:t>Understand the information exchange requirements business services</a:t>
            </a:r>
          </a:p>
          <a:p>
            <a:pPr lvl="3"/>
            <a:r>
              <a:rPr lang="nl-NL" b="0" dirty="0">
                <a:latin typeface="+mj-lt"/>
              </a:rPr>
              <a:t>Support the gap analysis and determine whether any data entities are missing and need to be created</a:t>
            </a:r>
          </a:p>
          <a:p>
            <a:pPr lvl="3"/>
            <a:r>
              <a:rPr lang="nl-NL" b="0" dirty="0">
                <a:latin typeface="+mj-lt"/>
              </a:rPr>
              <a:t>Define system of origin, system of record, and system of reference for data entities</a:t>
            </a:r>
          </a:p>
          <a:p>
            <a:pPr lvl="3"/>
            <a:r>
              <a:rPr lang="nl-NL" b="0" dirty="0">
                <a:latin typeface="+mj-lt"/>
              </a:rPr>
              <a:t>Enable development of data governance programs across the enterprise</a:t>
            </a:r>
          </a:p>
        </p:txBody>
      </p:sp>
      <p:sp>
        <p:nvSpPr>
          <p:cNvPr id="86017" name="Titel 1"/>
          <p:cNvSpPr>
            <a:spLocks noGrp="1"/>
          </p:cNvSpPr>
          <p:nvPr>
            <p:ph type="title"/>
          </p:nvPr>
        </p:nvSpPr>
        <p:spPr/>
        <p:txBody>
          <a:bodyPr/>
          <a:lstStyle/>
          <a:p>
            <a:r>
              <a:rPr lang="en-US" dirty="0">
                <a:latin typeface="+mj-lt"/>
              </a:rPr>
              <a:t>Data Entity/Business Function Matrix</a:t>
            </a:r>
          </a:p>
        </p:txBody>
      </p:sp>
      <p:sp>
        <p:nvSpPr>
          <p:cNvPr id="31" name="Rectangle 30"/>
          <p:cNvSpPr/>
          <p:nvPr/>
        </p:nvSpPr>
        <p:spPr>
          <a:xfrm>
            <a:off x="6411754" y="846338"/>
            <a:ext cx="2642790" cy="5618042"/>
          </a:xfrm>
          <a:prstGeom prst="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latin typeface="+mj-lt"/>
              </a:rPr>
              <a:t>Data </a:t>
            </a:r>
            <a:r>
              <a:rPr lang="en-US" sz="800" b="1" dirty="0">
                <a:solidFill>
                  <a:schemeClr val="tx1"/>
                </a:solidFill>
                <a:latin typeface="+mj-lt"/>
              </a:rPr>
              <a:t>Architecture</a:t>
            </a:r>
          </a:p>
        </p:txBody>
      </p:sp>
      <p:sp>
        <p:nvSpPr>
          <p:cNvPr id="32" name="Rectangle 31"/>
          <p:cNvSpPr/>
          <p:nvPr/>
        </p:nvSpPr>
        <p:spPr>
          <a:xfrm>
            <a:off x="6497656" y="1093303"/>
            <a:ext cx="2470984"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latin typeface="+mj-lt"/>
              </a:rPr>
              <a:t>Catalogs</a:t>
            </a:r>
          </a:p>
        </p:txBody>
      </p:sp>
      <p:sp>
        <p:nvSpPr>
          <p:cNvPr id="33" name="Rectangle 32"/>
          <p:cNvSpPr/>
          <p:nvPr/>
        </p:nvSpPr>
        <p:spPr>
          <a:xfrm>
            <a:off x="6497656" y="2164635"/>
            <a:ext cx="2470984"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latin typeface="+mj-lt"/>
              </a:rPr>
              <a:t>Matrices</a:t>
            </a:r>
            <a:endParaRPr lang="en-US" sz="800" b="1" dirty="0">
              <a:solidFill>
                <a:schemeClr val="tx1"/>
              </a:solidFill>
              <a:latin typeface="+mj-lt"/>
            </a:endParaRPr>
          </a:p>
        </p:txBody>
      </p:sp>
      <p:sp>
        <p:nvSpPr>
          <p:cNvPr id="34" name="Rectangle 33"/>
          <p:cNvSpPr/>
          <p:nvPr/>
        </p:nvSpPr>
        <p:spPr>
          <a:xfrm>
            <a:off x="6497656" y="3184994"/>
            <a:ext cx="2470984" cy="127001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latin typeface="+mj-lt"/>
              </a:rPr>
              <a:t>Core Diagrams</a:t>
            </a:r>
            <a:endParaRPr lang="en-US" sz="800" b="1" dirty="0">
              <a:solidFill>
                <a:schemeClr val="tx1"/>
              </a:solidFill>
              <a:latin typeface="+mj-lt"/>
            </a:endParaRPr>
          </a:p>
        </p:txBody>
      </p:sp>
      <p:sp>
        <p:nvSpPr>
          <p:cNvPr id="35" name="Rectangle 34"/>
          <p:cNvSpPr/>
          <p:nvPr/>
        </p:nvSpPr>
        <p:spPr>
          <a:xfrm>
            <a:off x="6609971" y="3392330"/>
            <a:ext cx="2246349" cy="33979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latin typeface="+mj-lt"/>
              </a:rPr>
              <a:t>Conceptual Data Diagram</a:t>
            </a:r>
          </a:p>
        </p:txBody>
      </p:sp>
      <p:sp>
        <p:nvSpPr>
          <p:cNvPr id="36" name="Rectangle 35"/>
          <p:cNvSpPr/>
          <p:nvPr/>
        </p:nvSpPr>
        <p:spPr>
          <a:xfrm>
            <a:off x="6609971" y="3797711"/>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latin typeface="+mj-lt"/>
              </a:rPr>
              <a:t>Logical Data Diagram</a:t>
            </a:r>
            <a:endParaRPr lang="en-US" sz="800" dirty="0">
              <a:solidFill>
                <a:schemeClr val="tx1"/>
              </a:solidFill>
              <a:latin typeface="+mj-lt"/>
            </a:endParaRPr>
          </a:p>
        </p:txBody>
      </p:sp>
      <p:sp>
        <p:nvSpPr>
          <p:cNvPr id="37" name="Rectangle 36"/>
          <p:cNvSpPr/>
          <p:nvPr/>
        </p:nvSpPr>
        <p:spPr>
          <a:xfrm>
            <a:off x="6497656" y="4591042"/>
            <a:ext cx="2470984" cy="140209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latin typeface="+mj-lt"/>
              </a:rPr>
              <a:t>Extension Diagrams</a:t>
            </a:r>
          </a:p>
        </p:txBody>
      </p:sp>
      <p:sp>
        <p:nvSpPr>
          <p:cNvPr id="38" name="Rectangle 37"/>
          <p:cNvSpPr/>
          <p:nvPr/>
        </p:nvSpPr>
        <p:spPr>
          <a:xfrm>
            <a:off x="6609971" y="4851545"/>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latin typeface="+mj-lt"/>
              </a:rPr>
              <a:t>Data Security Diagram</a:t>
            </a:r>
            <a:endParaRPr lang="en-US" sz="800" dirty="0">
              <a:solidFill>
                <a:schemeClr val="tx1"/>
              </a:solidFill>
              <a:latin typeface="+mj-lt"/>
            </a:endParaRPr>
          </a:p>
        </p:txBody>
      </p:sp>
      <p:sp>
        <p:nvSpPr>
          <p:cNvPr id="39" name="Rectangle 38"/>
          <p:cNvSpPr/>
          <p:nvPr/>
        </p:nvSpPr>
        <p:spPr>
          <a:xfrm>
            <a:off x="6609971" y="5173099"/>
            <a:ext cx="2246349" cy="33280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latin typeface="+mj-lt"/>
              </a:rPr>
              <a:t>Data </a:t>
            </a:r>
            <a:r>
              <a:rPr lang="en-US" sz="800" dirty="0" smtClean="0">
                <a:solidFill>
                  <a:schemeClr val="tx1"/>
                </a:solidFill>
                <a:latin typeface="+mj-lt"/>
              </a:rPr>
              <a:t>Migration Diagram</a:t>
            </a:r>
            <a:endParaRPr lang="en-US" sz="800" dirty="0">
              <a:solidFill>
                <a:schemeClr val="tx1"/>
              </a:solidFill>
              <a:latin typeface="+mj-lt"/>
            </a:endParaRPr>
          </a:p>
        </p:txBody>
      </p:sp>
      <p:sp>
        <p:nvSpPr>
          <p:cNvPr id="40" name="Rectangle 39"/>
          <p:cNvSpPr/>
          <p:nvPr/>
        </p:nvSpPr>
        <p:spPr>
          <a:xfrm>
            <a:off x="6609971" y="5579499"/>
            <a:ext cx="2246349" cy="33280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latin typeface="+mj-lt"/>
              </a:rPr>
              <a:t>Data </a:t>
            </a:r>
            <a:r>
              <a:rPr lang="en-US" sz="800" dirty="0" smtClean="0">
                <a:solidFill>
                  <a:schemeClr val="tx1"/>
                </a:solidFill>
                <a:latin typeface="+mj-lt"/>
              </a:rPr>
              <a:t>Lifecycle </a:t>
            </a:r>
            <a:r>
              <a:rPr lang="en-US" sz="800" dirty="0">
                <a:solidFill>
                  <a:schemeClr val="tx1"/>
                </a:solidFill>
                <a:latin typeface="+mj-lt"/>
              </a:rPr>
              <a:t>Diagram</a:t>
            </a:r>
          </a:p>
        </p:txBody>
      </p:sp>
      <p:sp>
        <p:nvSpPr>
          <p:cNvPr id="41" name="Rectangle 40"/>
          <p:cNvSpPr/>
          <p:nvPr/>
        </p:nvSpPr>
        <p:spPr>
          <a:xfrm>
            <a:off x="6616651" y="2374294"/>
            <a:ext cx="2246349" cy="238440"/>
          </a:xfrm>
          <a:prstGeom prst="rect">
            <a:avLst/>
          </a:prstGeom>
          <a:solidFill>
            <a:srgbClr val="3D7F6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latin typeface="+mj-lt"/>
              </a:rPr>
              <a:t>Data Entity/Business Function Matrix</a:t>
            </a:r>
          </a:p>
        </p:txBody>
      </p:sp>
      <p:sp>
        <p:nvSpPr>
          <p:cNvPr id="42" name="Rectangle 41"/>
          <p:cNvSpPr/>
          <p:nvPr/>
        </p:nvSpPr>
        <p:spPr>
          <a:xfrm>
            <a:off x="6616650" y="4103983"/>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latin typeface="+mj-lt"/>
              </a:rPr>
              <a:t>Data Dissemination Diagram</a:t>
            </a:r>
            <a:endParaRPr lang="en-US" sz="800" dirty="0">
              <a:solidFill>
                <a:schemeClr val="tx1"/>
              </a:solidFill>
              <a:latin typeface="+mj-lt"/>
            </a:endParaRPr>
          </a:p>
        </p:txBody>
      </p:sp>
      <p:sp>
        <p:nvSpPr>
          <p:cNvPr id="43" name="Rectangle 42"/>
          <p:cNvSpPr/>
          <p:nvPr/>
        </p:nvSpPr>
        <p:spPr>
          <a:xfrm>
            <a:off x="6569542" y="1321907"/>
            <a:ext cx="2286778"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latin typeface="+mj-lt"/>
              </a:rPr>
              <a:t>Data Entity/Data Component Catalog</a:t>
            </a:r>
            <a:endParaRPr lang="en-US" sz="800" dirty="0">
              <a:solidFill>
                <a:schemeClr val="tx1"/>
              </a:solidFill>
              <a:latin typeface="+mj-lt"/>
            </a:endParaRPr>
          </a:p>
        </p:txBody>
      </p:sp>
      <p:sp>
        <p:nvSpPr>
          <p:cNvPr id="44" name="Rectangle 43"/>
          <p:cNvSpPr/>
          <p:nvPr/>
        </p:nvSpPr>
        <p:spPr>
          <a:xfrm>
            <a:off x="6609975" y="2667977"/>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latin typeface="+mj-lt"/>
              </a:rPr>
              <a:t>Application/Data Matrix</a:t>
            </a:r>
          </a:p>
        </p:txBody>
      </p:sp>
    </p:spTree>
    <p:extLst>
      <p:ext uri="{BB962C8B-B14F-4D97-AF65-F5344CB8AC3E}">
        <p14:creationId xmlns:p14="http://schemas.microsoft.com/office/powerpoint/2010/main" val="2186096526"/>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Data Entity/Business Function Matrix</a:t>
            </a:r>
          </a:p>
        </p:txBody>
      </p:sp>
      <p:graphicFrame>
        <p:nvGraphicFramePr>
          <p:cNvPr id="5" name="Table 4"/>
          <p:cNvGraphicFramePr>
            <a:graphicFrameLocks noGrp="1"/>
          </p:cNvGraphicFramePr>
          <p:nvPr>
            <p:extLst>
              <p:ext uri="{D42A27DB-BD31-4B8C-83A1-F6EECF244321}">
                <p14:modId xmlns:p14="http://schemas.microsoft.com/office/powerpoint/2010/main" val="513294182"/>
              </p:ext>
            </p:extLst>
          </p:nvPr>
        </p:nvGraphicFramePr>
        <p:xfrm>
          <a:off x="228599" y="1135063"/>
          <a:ext cx="8690926" cy="4433661"/>
        </p:xfrm>
        <a:graphic>
          <a:graphicData uri="http://schemas.openxmlformats.org/drawingml/2006/table">
            <a:tbl>
              <a:tblPr firstRow="1" bandRow="1">
                <a:tableStyleId>{ED083AE6-46FA-4A59-8FB0-9F97EB10719F}</a:tableStyleId>
              </a:tblPr>
              <a:tblGrid>
                <a:gridCol w="2066926"/>
                <a:gridCol w="414000"/>
                <a:gridCol w="414000"/>
                <a:gridCol w="414000"/>
                <a:gridCol w="414000"/>
                <a:gridCol w="414000"/>
                <a:gridCol w="414000"/>
                <a:gridCol w="414000"/>
                <a:gridCol w="414000"/>
                <a:gridCol w="414000"/>
                <a:gridCol w="414000"/>
                <a:gridCol w="414000"/>
                <a:gridCol w="414000"/>
                <a:gridCol w="414000"/>
                <a:gridCol w="414000"/>
                <a:gridCol w="414000"/>
                <a:gridCol w="414000"/>
              </a:tblGrid>
              <a:tr h="1949661">
                <a:tc>
                  <a:txBody>
                    <a:bodyPr/>
                    <a:lstStyle/>
                    <a:p>
                      <a:endParaRPr lang="en-US" sz="1400" dirty="0"/>
                    </a:p>
                  </a:txBody>
                  <a:tcPr marL="39201" marR="39201" marT="19601" marB="1960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smtClean="0"/>
                        <a:t>Employee</a:t>
                      </a:r>
                      <a:endParaRPr lang="en-US" sz="1400" dirty="0"/>
                    </a:p>
                  </a:txBody>
                  <a:tcPr marL="0" marR="39201" marT="0" marB="7200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smtClean="0"/>
                        <a:t>Education material</a:t>
                      </a:r>
                      <a:endParaRPr lang="en-US" sz="1400" dirty="0"/>
                    </a:p>
                  </a:txBody>
                  <a:tcPr marL="0" marR="39201" marT="0" marB="7200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smtClean="0"/>
                        <a:t>Test material</a:t>
                      </a:r>
                      <a:endParaRPr lang="en-US" sz="1400" dirty="0"/>
                    </a:p>
                  </a:txBody>
                  <a:tcPr marL="0" marR="39201" marT="0" marB="7200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smtClean="0"/>
                        <a:t>Education institution</a:t>
                      </a:r>
                      <a:endParaRPr lang="en-US" sz="1400" dirty="0"/>
                    </a:p>
                  </a:txBody>
                  <a:tcPr marL="0" marR="39201" marT="0" marB="7200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smtClean="0"/>
                        <a:t>Education product</a:t>
                      </a:r>
                      <a:endParaRPr lang="en-US" sz="1400" dirty="0"/>
                    </a:p>
                  </a:txBody>
                  <a:tcPr marL="0" marR="39201" marT="0" marB="7200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smtClean="0"/>
                        <a:t>Test activity</a:t>
                      </a:r>
                      <a:endParaRPr lang="en-US" sz="1400" dirty="0"/>
                    </a:p>
                  </a:txBody>
                  <a:tcPr marL="0" marR="39201" marT="0" marB="7200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smtClean="0"/>
                        <a:t>Education</a:t>
                      </a:r>
                      <a:endParaRPr lang="en-US" sz="1400" dirty="0"/>
                    </a:p>
                  </a:txBody>
                  <a:tcPr marL="0" marR="39201" marT="0" marB="7200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smtClean="0"/>
                        <a:t>Course</a:t>
                      </a:r>
                      <a:endParaRPr lang="en-US" sz="1400" dirty="0"/>
                    </a:p>
                  </a:txBody>
                  <a:tcPr marL="0" marR="39201" marT="0" marB="7200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smtClean="0"/>
                        <a:t>Test result</a:t>
                      </a:r>
                      <a:endParaRPr lang="en-US" sz="1400" dirty="0"/>
                    </a:p>
                  </a:txBody>
                  <a:tcPr marL="0" marR="39201" marT="0" marB="7200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smtClean="0"/>
                        <a:t>Learner</a:t>
                      </a:r>
                      <a:endParaRPr lang="en-US" sz="1400" dirty="0"/>
                    </a:p>
                  </a:txBody>
                  <a:tcPr marL="0" marR="39201" marT="0" marB="7200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smtClean="0"/>
                        <a:t>Exam program </a:t>
                      </a:r>
                      <a:endParaRPr lang="en-US" sz="1400" dirty="0"/>
                    </a:p>
                  </a:txBody>
                  <a:tcPr marL="0" marR="39201" marT="0" marB="7200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smtClean="0"/>
                        <a:t>Certificate</a:t>
                      </a:r>
                      <a:endParaRPr lang="en-US" sz="1400" dirty="0"/>
                    </a:p>
                  </a:txBody>
                  <a:tcPr marL="0" marR="39201" marT="0" marB="7200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smtClean="0"/>
                        <a:t>Schedule</a:t>
                      </a:r>
                      <a:endParaRPr lang="en-US" sz="1400" dirty="0"/>
                    </a:p>
                  </a:txBody>
                  <a:tcPr marL="0" marR="39201" marT="0" marB="7200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smtClean="0"/>
                        <a:t>Education activity</a:t>
                      </a:r>
                      <a:endParaRPr lang="en-US" sz="1400" dirty="0"/>
                    </a:p>
                  </a:txBody>
                  <a:tcPr marL="0" marR="39201" marT="0" marB="7200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smtClean="0"/>
                        <a:t>Portfolio</a:t>
                      </a:r>
                      <a:endParaRPr lang="en-US" sz="1400" dirty="0"/>
                    </a:p>
                  </a:txBody>
                  <a:tcPr marL="0" marR="39201" marT="0" marB="7200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smtClean="0"/>
                        <a:t>Work product</a:t>
                      </a:r>
                      <a:endParaRPr lang="en-US" sz="1400" dirty="0"/>
                    </a:p>
                  </a:txBody>
                  <a:tcPr marL="0" marR="39201" marT="0" marB="7200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14000">
                <a:tc>
                  <a:txBody>
                    <a:bodyPr/>
                    <a:lstStyle/>
                    <a:p>
                      <a:r>
                        <a:rPr lang="en-US" sz="1400" dirty="0" smtClean="0"/>
                        <a:t>Education Development</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400" dirty="0" smtClean="0"/>
                        <a:t>C</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400" dirty="0" smtClean="0"/>
                        <a:t>C</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400" dirty="0" smtClean="0"/>
                        <a:t>C</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r>
                        <a:rPr lang="en-US" sz="1400" dirty="0" smtClean="0"/>
                        <a:t>C</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r>
                        <a:rPr lang="en-US" sz="1400" dirty="0" smtClean="0"/>
                        <a:t>C</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r>
              <a:tr h="414000">
                <a:tc>
                  <a:txBody>
                    <a:bodyPr/>
                    <a:lstStyle/>
                    <a:p>
                      <a:r>
                        <a:rPr lang="en-US" sz="1400" dirty="0" smtClean="0"/>
                        <a:t>Marketing and Sales</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smtClean="0"/>
                        <a:t>R</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smtClean="0"/>
                        <a:t>R</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14000">
                <a:tc>
                  <a:txBody>
                    <a:bodyPr/>
                    <a:lstStyle/>
                    <a:p>
                      <a:r>
                        <a:rPr lang="en-US" sz="1400" dirty="0" smtClean="0"/>
                        <a:t>Planning and Scheduling</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r>
                        <a:rPr lang="en-US" sz="1400" dirty="0" smtClean="0"/>
                        <a:t>R</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r>
                        <a:rPr lang="en-US" sz="1400" dirty="0" smtClean="0"/>
                        <a:t>R</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400" dirty="0" smtClean="0"/>
                        <a:t>C</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r>
              <a:tr h="414000">
                <a:tc>
                  <a:txBody>
                    <a:bodyPr/>
                    <a:lstStyle/>
                    <a:p>
                      <a:r>
                        <a:rPr lang="en-US" sz="1400" dirty="0" smtClean="0"/>
                        <a:t>Registration</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smtClean="0"/>
                        <a:t>R</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smtClean="0"/>
                        <a:t>R</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C</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C</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14000">
                <a:tc>
                  <a:txBody>
                    <a:bodyPr/>
                    <a:lstStyle/>
                    <a:p>
                      <a:r>
                        <a:rPr lang="en-US" sz="1400" dirty="0" smtClean="0"/>
                        <a:t>Provide Education</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r>
                        <a:rPr lang="en-US" sz="1400" dirty="0" smtClean="0"/>
                        <a:t>R</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r>
                        <a:rPr lang="en-US" sz="1400" dirty="0" smtClean="0"/>
                        <a:t>R</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400" dirty="0" smtClean="0"/>
                        <a:t>C</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400" dirty="0" smtClean="0"/>
                        <a:t>C</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400" dirty="0" smtClean="0"/>
                        <a:t>C</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C3A7">
                        <a:alpha val="20000"/>
                      </a:srgbClr>
                    </a:solidFill>
                  </a:tcPr>
                </a:tc>
              </a:tr>
              <a:tr h="414000">
                <a:tc>
                  <a:txBody>
                    <a:bodyPr/>
                    <a:lstStyle/>
                    <a:p>
                      <a:r>
                        <a:rPr lang="en-US" sz="1400" dirty="0" smtClean="0"/>
                        <a:t>Test and Certify</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C</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smtClean="0"/>
                        <a:t>R</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smtClean="0"/>
                        <a:t>R</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C</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C</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R</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C</a:t>
                      </a: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60929481"/>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ectangle 65"/>
          <p:cNvSpPr/>
          <p:nvPr/>
        </p:nvSpPr>
        <p:spPr>
          <a:xfrm>
            <a:off x="3529406" y="807998"/>
            <a:ext cx="2642790" cy="5681342"/>
          </a:xfrm>
          <a:prstGeom prst="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Application </a:t>
            </a:r>
            <a:r>
              <a:rPr lang="en-US" sz="800" b="1" dirty="0">
                <a:solidFill>
                  <a:schemeClr val="tx1"/>
                </a:solidFill>
              </a:rPr>
              <a:t>Architecture</a:t>
            </a:r>
          </a:p>
        </p:txBody>
      </p:sp>
      <p:sp>
        <p:nvSpPr>
          <p:cNvPr id="67" name="Rectangle 66"/>
          <p:cNvSpPr/>
          <p:nvPr/>
        </p:nvSpPr>
        <p:spPr>
          <a:xfrm>
            <a:off x="3615308" y="1027668"/>
            <a:ext cx="2470984"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Catalogs</a:t>
            </a:r>
          </a:p>
        </p:txBody>
      </p:sp>
      <p:sp>
        <p:nvSpPr>
          <p:cNvPr id="69" name="Rectangle 68"/>
          <p:cNvSpPr/>
          <p:nvPr/>
        </p:nvSpPr>
        <p:spPr>
          <a:xfrm>
            <a:off x="3615308" y="1976168"/>
            <a:ext cx="2470984" cy="144000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Matrices</a:t>
            </a:r>
            <a:endParaRPr lang="en-US" sz="800" b="1" dirty="0">
              <a:solidFill>
                <a:schemeClr val="tx1"/>
              </a:solidFill>
            </a:endParaRPr>
          </a:p>
        </p:txBody>
      </p:sp>
      <p:sp>
        <p:nvSpPr>
          <p:cNvPr id="71" name="Rectangle 70"/>
          <p:cNvSpPr/>
          <p:nvPr/>
        </p:nvSpPr>
        <p:spPr>
          <a:xfrm>
            <a:off x="3615308" y="3474207"/>
            <a:ext cx="2470984" cy="117000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Core Diagrams</a:t>
            </a:r>
            <a:endParaRPr lang="en-US" sz="800" b="1" dirty="0">
              <a:solidFill>
                <a:schemeClr val="tx1"/>
              </a:solidFill>
            </a:endParaRPr>
          </a:p>
        </p:txBody>
      </p:sp>
      <p:sp>
        <p:nvSpPr>
          <p:cNvPr id="73" name="Rectangle 72"/>
          <p:cNvSpPr/>
          <p:nvPr/>
        </p:nvSpPr>
        <p:spPr>
          <a:xfrm>
            <a:off x="3727623" y="4018684"/>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 and User Location Diagram</a:t>
            </a:r>
            <a:endParaRPr lang="en-US" sz="800" dirty="0">
              <a:solidFill>
                <a:schemeClr val="tx1"/>
              </a:solidFill>
            </a:endParaRPr>
          </a:p>
        </p:txBody>
      </p:sp>
      <p:sp>
        <p:nvSpPr>
          <p:cNvPr id="74" name="Rectangle 73"/>
          <p:cNvSpPr/>
          <p:nvPr/>
        </p:nvSpPr>
        <p:spPr>
          <a:xfrm>
            <a:off x="3615308" y="4702831"/>
            <a:ext cx="2470984" cy="1678498"/>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Extension Diagrams</a:t>
            </a:r>
          </a:p>
        </p:txBody>
      </p:sp>
      <p:sp>
        <p:nvSpPr>
          <p:cNvPr id="75" name="Rectangle 74"/>
          <p:cNvSpPr/>
          <p:nvPr/>
        </p:nvSpPr>
        <p:spPr>
          <a:xfrm>
            <a:off x="3727623" y="4922390"/>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Enterprise Manageability Diagram</a:t>
            </a:r>
            <a:endParaRPr lang="en-US" sz="800" dirty="0">
              <a:solidFill>
                <a:schemeClr val="tx1"/>
              </a:solidFill>
            </a:endParaRPr>
          </a:p>
        </p:txBody>
      </p:sp>
      <p:sp>
        <p:nvSpPr>
          <p:cNvPr id="76" name="Rectangle 75"/>
          <p:cNvSpPr/>
          <p:nvPr/>
        </p:nvSpPr>
        <p:spPr>
          <a:xfrm>
            <a:off x="3727623" y="5230296"/>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Process/Application </a:t>
            </a:r>
            <a:r>
              <a:rPr lang="en-US" sz="800" dirty="0">
                <a:solidFill>
                  <a:schemeClr val="tx1"/>
                </a:solidFill>
              </a:rPr>
              <a:t>Realization Diagram</a:t>
            </a:r>
          </a:p>
        </p:txBody>
      </p:sp>
      <p:sp>
        <p:nvSpPr>
          <p:cNvPr id="79" name="Rectangle 78"/>
          <p:cNvSpPr/>
          <p:nvPr/>
        </p:nvSpPr>
        <p:spPr>
          <a:xfrm>
            <a:off x="3727623" y="5527512"/>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Software Engineering Diagram</a:t>
            </a:r>
            <a:endParaRPr lang="en-US" sz="800" dirty="0">
              <a:solidFill>
                <a:schemeClr val="tx1"/>
              </a:solidFill>
            </a:endParaRPr>
          </a:p>
        </p:txBody>
      </p:sp>
      <p:sp>
        <p:nvSpPr>
          <p:cNvPr id="20" name="Rectangle 19"/>
          <p:cNvSpPr/>
          <p:nvPr/>
        </p:nvSpPr>
        <p:spPr>
          <a:xfrm>
            <a:off x="3734302" y="4338604"/>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 Use-Case Diagram</a:t>
            </a:r>
            <a:endParaRPr lang="en-US" sz="800" dirty="0">
              <a:solidFill>
                <a:schemeClr val="tx1"/>
              </a:solidFill>
            </a:endParaRPr>
          </a:p>
        </p:txBody>
      </p:sp>
      <p:sp>
        <p:nvSpPr>
          <p:cNvPr id="80" name="Rectangle 79"/>
          <p:cNvSpPr/>
          <p:nvPr/>
        </p:nvSpPr>
        <p:spPr>
          <a:xfrm>
            <a:off x="3687194" y="1283568"/>
            <a:ext cx="2286778"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 Portfolio Catalog</a:t>
            </a:r>
            <a:endParaRPr lang="en-US" sz="800" dirty="0">
              <a:solidFill>
                <a:schemeClr val="tx1"/>
              </a:solidFill>
            </a:endParaRPr>
          </a:p>
        </p:txBody>
      </p:sp>
      <p:sp>
        <p:nvSpPr>
          <p:cNvPr id="70" name="Rectangle 69"/>
          <p:cNvSpPr/>
          <p:nvPr/>
        </p:nvSpPr>
        <p:spPr>
          <a:xfrm>
            <a:off x="3727627" y="2493158"/>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Role/Application Matrix</a:t>
            </a:r>
            <a:endParaRPr lang="en-US" sz="800" dirty="0">
              <a:solidFill>
                <a:schemeClr val="tx1"/>
              </a:solidFill>
            </a:endParaRPr>
          </a:p>
        </p:txBody>
      </p:sp>
      <p:sp>
        <p:nvSpPr>
          <p:cNvPr id="68" name="Rectangle 67"/>
          <p:cNvSpPr/>
          <p:nvPr/>
        </p:nvSpPr>
        <p:spPr>
          <a:xfrm>
            <a:off x="3734303" y="2199475"/>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Application/Organization </a:t>
            </a:r>
            <a:r>
              <a:rPr lang="en-US" sz="800" dirty="0">
                <a:solidFill>
                  <a:schemeClr val="tx1"/>
                </a:solidFill>
              </a:rPr>
              <a:t>Matrix</a:t>
            </a:r>
          </a:p>
        </p:txBody>
      </p:sp>
      <p:sp>
        <p:nvSpPr>
          <p:cNvPr id="21" name="Rectangle 20"/>
          <p:cNvSpPr/>
          <p:nvPr/>
        </p:nvSpPr>
        <p:spPr>
          <a:xfrm>
            <a:off x="3703114" y="1599744"/>
            <a:ext cx="2286778"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Interface Catalog</a:t>
            </a:r>
            <a:endParaRPr lang="en-US" sz="800" dirty="0">
              <a:solidFill>
                <a:schemeClr val="tx1"/>
              </a:solidFill>
            </a:endParaRPr>
          </a:p>
        </p:txBody>
      </p:sp>
      <p:sp>
        <p:nvSpPr>
          <p:cNvPr id="22" name="Rectangle 21"/>
          <p:cNvSpPr/>
          <p:nvPr/>
        </p:nvSpPr>
        <p:spPr>
          <a:xfrm>
            <a:off x="3744058" y="3095981"/>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 Interaction Matrix</a:t>
            </a:r>
            <a:endParaRPr lang="en-US" sz="800" dirty="0">
              <a:solidFill>
                <a:schemeClr val="tx1"/>
              </a:solidFill>
            </a:endParaRPr>
          </a:p>
        </p:txBody>
      </p:sp>
      <p:sp>
        <p:nvSpPr>
          <p:cNvPr id="23" name="Rectangle 22"/>
          <p:cNvSpPr/>
          <p:nvPr/>
        </p:nvSpPr>
        <p:spPr>
          <a:xfrm>
            <a:off x="3750734" y="2802298"/>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Application/Function </a:t>
            </a:r>
            <a:r>
              <a:rPr lang="en-US" sz="800" dirty="0">
                <a:solidFill>
                  <a:schemeClr val="tx1"/>
                </a:solidFill>
              </a:rPr>
              <a:t>Matrix</a:t>
            </a:r>
          </a:p>
        </p:txBody>
      </p:sp>
      <p:sp>
        <p:nvSpPr>
          <p:cNvPr id="24" name="Rectangle 23"/>
          <p:cNvSpPr/>
          <p:nvPr/>
        </p:nvSpPr>
        <p:spPr>
          <a:xfrm>
            <a:off x="3743543" y="5807713"/>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 Migration Diagram</a:t>
            </a:r>
            <a:endParaRPr lang="en-US" sz="800" dirty="0">
              <a:solidFill>
                <a:schemeClr val="tx1"/>
              </a:solidFill>
            </a:endParaRPr>
          </a:p>
        </p:txBody>
      </p:sp>
      <p:sp>
        <p:nvSpPr>
          <p:cNvPr id="25" name="Rectangle 24"/>
          <p:cNvSpPr/>
          <p:nvPr/>
        </p:nvSpPr>
        <p:spPr>
          <a:xfrm>
            <a:off x="3727627" y="6107794"/>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Software </a:t>
            </a:r>
            <a:r>
              <a:rPr lang="en-US" sz="800" dirty="0" smtClean="0">
                <a:solidFill>
                  <a:schemeClr val="tx1"/>
                </a:solidFill>
              </a:rPr>
              <a:t>Distribution </a:t>
            </a:r>
            <a:r>
              <a:rPr lang="en-US" sz="800" dirty="0">
                <a:solidFill>
                  <a:schemeClr val="tx1"/>
                </a:solidFill>
              </a:rPr>
              <a:t>Diagram</a:t>
            </a:r>
          </a:p>
        </p:txBody>
      </p:sp>
      <p:sp>
        <p:nvSpPr>
          <p:cNvPr id="72" name="Rectangle 71"/>
          <p:cNvSpPr/>
          <p:nvPr/>
        </p:nvSpPr>
        <p:spPr>
          <a:xfrm>
            <a:off x="3727623" y="3708839"/>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Application Communication Diagram</a:t>
            </a:r>
          </a:p>
        </p:txBody>
      </p:sp>
      <p:sp>
        <p:nvSpPr>
          <p:cNvPr id="3" name="Title 2"/>
          <p:cNvSpPr>
            <a:spLocks noGrp="1"/>
          </p:cNvSpPr>
          <p:nvPr>
            <p:ph type="title"/>
          </p:nvPr>
        </p:nvSpPr>
        <p:spPr/>
        <p:txBody>
          <a:bodyPr/>
          <a:lstStyle/>
          <a:p>
            <a:r>
              <a:rPr lang="en-US" dirty="0"/>
              <a:t>Information Systems </a:t>
            </a:r>
            <a:r>
              <a:rPr lang="en-US" dirty="0" smtClean="0"/>
              <a:t>Architectures </a:t>
            </a:r>
            <a:r>
              <a:rPr lang="en-US" dirty="0"/>
              <a:t>Artifacts</a:t>
            </a:r>
          </a:p>
        </p:txBody>
      </p:sp>
      <p:sp>
        <p:nvSpPr>
          <p:cNvPr id="19" name="Rectangle 18"/>
          <p:cNvSpPr/>
          <p:nvPr/>
        </p:nvSpPr>
        <p:spPr>
          <a:xfrm>
            <a:off x="2821" y="6265333"/>
            <a:ext cx="2962671" cy="230832"/>
          </a:xfrm>
          <a:prstGeom prst="rect">
            <a:avLst/>
          </a:prstGeom>
        </p:spPr>
        <p:txBody>
          <a:bodyPr wrap="none">
            <a:spAutoFit/>
          </a:bodyPr>
          <a:lstStyle/>
          <a:p>
            <a:r>
              <a:rPr lang="en-IN" sz="900" dirty="0"/>
              <a:t>Source: </a:t>
            </a:r>
            <a:r>
              <a:rPr lang="en-IN" sz="900" i="1" dirty="0"/>
              <a:t>TOGAF</a:t>
            </a:r>
            <a:r>
              <a:rPr lang="en-IN" sz="900" i="1" baseline="30000" dirty="0"/>
              <a:t>®</a:t>
            </a:r>
            <a:r>
              <a:rPr lang="en-IN" sz="900" i="1" dirty="0"/>
              <a:t> Version 9.1</a:t>
            </a:r>
            <a:r>
              <a:rPr lang="en-IN" sz="900" dirty="0"/>
              <a:t>, The Open Group, </a:t>
            </a:r>
            <a:r>
              <a:rPr lang="en-IN" sz="900" dirty="0" smtClean="0"/>
              <a:t>2011</a:t>
            </a:r>
            <a:endParaRPr lang="en-IN" sz="900" dirty="0"/>
          </a:p>
        </p:txBody>
      </p:sp>
    </p:spTree>
    <p:extLst>
      <p:ext uri="{BB962C8B-B14F-4D97-AF65-F5344CB8AC3E}">
        <p14:creationId xmlns:p14="http://schemas.microsoft.com/office/powerpoint/2010/main" val="1853912757"/>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jdelijke aanduiding voor inhoud 2"/>
          <p:cNvSpPr>
            <a:spLocks noGrp="1"/>
          </p:cNvSpPr>
          <p:nvPr>
            <p:ph idx="1"/>
          </p:nvPr>
        </p:nvSpPr>
        <p:spPr>
          <a:xfrm>
            <a:off x="457511" y="987990"/>
            <a:ext cx="5828989" cy="5312141"/>
          </a:xfrm>
        </p:spPr>
        <p:txBody>
          <a:bodyPr>
            <a:noAutofit/>
          </a:bodyPr>
          <a:lstStyle/>
          <a:p>
            <a:r>
              <a:rPr lang="nl-NL" sz="1800" b="0" dirty="0"/>
              <a:t>Application Portfolio Catalog</a:t>
            </a:r>
          </a:p>
          <a:p>
            <a:pPr lvl="2"/>
            <a:r>
              <a:rPr lang="nl-NL" b="0" dirty="0"/>
              <a:t>The purpose of this catalog is to identify and maintain a list of all the applications in the enterprise. </a:t>
            </a:r>
          </a:p>
          <a:p>
            <a:pPr lvl="2"/>
            <a:r>
              <a:rPr lang="nl-NL" b="0" dirty="0"/>
              <a:t>This list helps to define the horizontal scope of change initiatives that may impact particular kinds of applications. </a:t>
            </a:r>
          </a:p>
          <a:p>
            <a:pPr lvl="2"/>
            <a:r>
              <a:rPr lang="nl-NL" b="0" dirty="0"/>
              <a:t>An agreed Application Portfolio allows a standard set of applications to be defined and governed.</a:t>
            </a:r>
          </a:p>
          <a:p>
            <a:pPr lvl="2"/>
            <a:r>
              <a:rPr lang="nl-NL" b="0" dirty="0"/>
              <a:t>The Application Portfolio catalog provides a foundation on which to base the remaining matrices and diagrams. It is typically the start point of the Application Architecture phase.</a:t>
            </a:r>
          </a:p>
        </p:txBody>
      </p:sp>
      <p:sp>
        <p:nvSpPr>
          <p:cNvPr id="86017" name="Titel 1"/>
          <p:cNvSpPr>
            <a:spLocks noGrp="1"/>
          </p:cNvSpPr>
          <p:nvPr>
            <p:ph type="title"/>
          </p:nvPr>
        </p:nvSpPr>
        <p:spPr/>
        <p:txBody>
          <a:bodyPr/>
          <a:lstStyle/>
          <a:p>
            <a:r>
              <a:rPr lang="en-US" dirty="0"/>
              <a:t>Data Entity/Business Function Matrix</a:t>
            </a:r>
          </a:p>
        </p:txBody>
      </p:sp>
      <p:sp>
        <p:nvSpPr>
          <p:cNvPr id="19" name="Rectangle 18"/>
          <p:cNvSpPr/>
          <p:nvPr/>
        </p:nvSpPr>
        <p:spPr>
          <a:xfrm>
            <a:off x="6389667" y="807998"/>
            <a:ext cx="2642790" cy="5681342"/>
          </a:xfrm>
          <a:prstGeom prst="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Application </a:t>
            </a:r>
            <a:r>
              <a:rPr lang="en-US" sz="800" b="1" dirty="0">
                <a:solidFill>
                  <a:schemeClr val="tx1"/>
                </a:solidFill>
              </a:rPr>
              <a:t>Architecture</a:t>
            </a:r>
          </a:p>
        </p:txBody>
      </p:sp>
      <p:sp>
        <p:nvSpPr>
          <p:cNvPr id="20" name="Rectangle 19"/>
          <p:cNvSpPr/>
          <p:nvPr/>
        </p:nvSpPr>
        <p:spPr>
          <a:xfrm>
            <a:off x="6475569" y="1027668"/>
            <a:ext cx="2470984"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Catalogs</a:t>
            </a:r>
          </a:p>
        </p:txBody>
      </p:sp>
      <p:sp>
        <p:nvSpPr>
          <p:cNvPr id="21" name="Rectangle 20"/>
          <p:cNvSpPr/>
          <p:nvPr/>
        </p:nvSpPr>
        <p:spPr>
          <a:xfrm>
            <a:off x="6475569" y="1976168"/>
            <a:ext cx="2470984" cy="144000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Matrices</a:t>
            </a:r>
            <a:endParaRPr lang="en-US" sz="800" b="1" dirty="0">
              <a:solidFill>
                <a:schemeClr val="tx1"/>
              </a:solidFill>
            </a:endParaRPr>
          </a:p>
        </p:txBody>
      </p:sp>
      <p:sp>
        <p:nvSpPr>
          <p:cNvPr id="22" name="Rectangle 21"/>
          <p:cNvSpPr/>
          <p:nvPr/>
        </p:nvSpPr>
        <p:spPr>
          <a:xfrm>
            <a:off x="6475569" y="3474207"/>
            <a:ext cx="2470984" cy="117000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Core Diagrams</a:t>
            </a:r>
            <a:endParaRPr lang="en-US" sz="800" b="1" dirty="0">
              <a:solidFill>
                <a:schemeClr val="tx1"/>
              </a:solidFill>
            </a:endParaRPr>
          </a:p>
        </p:txBody>
      </p:sp>
      <p:sp>
        <p:nvSpPr>
          <p:cNvPr id="23" name="Rectangle 22"/>
          <p:cNvSpPr/>
          <p:nvPr/>
        </p:nvSpPr>
        <p:spPr>
          <a:xfrm>
            <a:off x="6587884" y="4018684"/>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 and User Location Diagram</a:t>
            </a:r>
            <a:endParaRPr lang="en-US" sz="800" dirty="0">
              <a:solidFill>
                <a:schemeClr val="tx1"/>
              </a:solidFill>
            </a:endParaRPr>
          </a:p>
        </p:txBody>
      </p:sp>
      <p:sp>
        <p:nvSpPr>
          <p:cNvPr id="24" name="Rectangle 23"/>
          <p:cNvSpPr/>
          <p:nvPr/>
        </p:nvSpPr>
        <p:spPr>
          <a:xfrm>
            <a:off x="6475569" y="4702831"/>
            <a:ext cx="2470984" cy="1678498"/>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Extension Diagrams</a:t>
            </a:r>
          </a:p>
        </p:txBody>
      </p:sp>
      <p:sp>
        <p:nvSpPr>
          <p:cNvPr id="25" name="Rectangle 24"/>
          <p:cNvSpPr/>
          <p:nvPr/>
        </p:nvSpPr>
        <p:spPr>
          <a:xfrm>
            <a:off x="6587884" y="4922390"/>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Enterprise Manageability Diagram</a:t>
            </a:r>
            <a:endParaRPr lang="en-US" sz="800" dirty="0">
              <a:solidFill>
                <a:schemeClr val="tx1"/>
              </a:solidFill>
            </a:endParaRPr>
          </a:p>
        </p:txBody>
      </p:sp>
      <p:sp>
        <p:nvSpPr>
          <p:cNvPr id="26" name="Rectangle 25"/>
          <p:cNvSpPr/>
          <p:nvPr/>
        </p:nvSpPr>
        <p:spPr>
          <a:xfrm>
            <a:off x="6587884" y="5230296"/>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Process/Application </a:t>
            </a:r>
            <a:r>
              <a:rPr lang="en-US" sz="800" dirty="0">
                <a:solidFill>
                  <a:schemeClr val="tx1"/>
                </a:solidFill>
              </a:rPr>
              <a:t>Realization Diagram</a:t>
            </a:r>
          </a:p>
        </p:txBody>
      </p:sp>
      <p:sp>
        <p:nvSpPr>
          <p:cNvPr id="27" name="Rectangle 26"/>
          <p:cNvSpPr/>
          <p:nvPr/>
        </p:nvSpPr>
        <p:spPr>
          <a:xfrm>
            <a:off x="6587884" y="5527512"/>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Software Engineering Diagram</a:t>
            </a:r>
            <a:endParaRPr lang="en-US" sz="800" dirty="0">
              <a:solidFill>
                <a:schemeClr val="tx1"/>
              </a:solidFill>
            </a:endParaRPr>
          </a:p>
        </p:txBody>
      </p:sp>
      <p:sp>
        <p:nvSpPr>
          <p:cNvPr id="28" name="Rectangle 27"/>
          <p:cNvSpPr/>
          <p:nvPr/>
        </p:nvSpPr>
        <p:spPr>
          <a:xfrm>
            <a:off x="6594563" y="4338604"/>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 Use-Case Diagram</a:t>
            </a:r>
            <a:endParaRPr lang="en-US" sz="800" dirty="0">
              <a:solidFill>
                <a:schemeClr val="tx1"/>
              </a:solidFill>
            </a:endParaRPr>
          </a:p>
        </p:txBody>
      </p:sp>
      <p:sp>
        <p:nvSpPr>
          <p:cNvPr id="29" name="Rectangle 28"/>
          <p:cNvSpPr/>
          <p:nvPr/>
        </p:nvSpPr>
        <p:spPr>
          <a:xfrm>
            <a:off x="6547455" y="1283568"/>
            <a:ext cx="2286778" cy="238440"/>
          </a:xfrm>
          <a:prstGeom prst="rect">
            <a:avLst/>
          </a:prstGeom>
          <a:solidFill>
            <a:srgbClr val="3D7F6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rPr>
              <a:t>Application Portfolio Catalog</a:t>
            </a:r>
          </a:p>
        </p:txBody>
      </p:sp>
      <p:sp>
        <p:nvSpPr>
          <p:cNvPr id="30" name="Rectangle 29"/>
          <p:cNvSpPr/>
          <p:nvPr/>
        </p:nvSpPr>
        <p:spPr>
          <a:xfrm>
            <a:off x="6587888" y="2493158"/>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Role/Application Matrix</a:t>
            </a:r>
            <a:endParaRPr lang="en-US" sz="800" dirty="0">
              <a:solidFill>
                <a:schemeClr val="tx1"/>
              </a:solidFill>
            </a:endParaRPr>
          </a:p>
        </p:txBody>
      </p:sp>
      <p:sp>
        <p:nvSpPr>
          <p:cNvPr id="45" name="Rectangle 44"/>
          <p:cNvSpPr/>
          <p:nvPr/>
        </p:nvSpPr>
        <p:spPr>
          <a:xfrm>
            <a:off x="6594564" y="2199475"/>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Application/Organization </a:t>
            </a:r>
            <a:r>
              <a:rPr lang="en-US" sz="800" dirty="0">
                <a:solidFill>
                  <a:schemeClr val="tx1"/>
                </a:solidFill>
              </a:rPr>
              <a:t>Matrix</a:t>
            </a:r>
          </a:p>
        </p:txBody>
      </p:sp>
      <p:sp>
        <p:nvSpPr>
          <p:cNvPr id="46" name="Rectangle 45"/>
          <p:cNvSpPr/>
          <p:nvPr/>
        </p:nvSpPr>
        <p:spPr>
          <a:xfrm>
            <a:off x="6563375" y="1599744"/>
            <a:ext cx="2286778"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Interface Catalog</a:t>
            </a:r>
            <a:endParaRPr lang="en-US" sz="800" dirty="0">
              <a:solidFill>
                <a:schemeClr val="tx1"/>
              </a:solidFill>
            </a:endParaRPr>
          </a:p>
        </p:txBody>
      </p:sp>
      <p:sp>
        <p:nvSpPr>
          <p:cNvPr id="47" name="Rectangle 46"/>
          <p:cNvSpPr/>
          <p:nvPr/>
        </p:nvSpPr>
        <p:spPr>
          <a:xfrm>
            <a:off x="6604319" y="3095981"/>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 Interaction Matrix</a:t>
            </a:r>
            <a:endParaRPr lang="en-US" sz="800" dirty="0">
              <a:solidFill>
                <a:schemeClr val="tx1"/>
              </a:solidFill>
            </a:endParaRPr>
          </a:p>
        </p:txBody>
      </p:sp>
      <p:sp>
        <p:nvSpPr>
          <p:cNvPr id="48" name="Rectangle 47"/>
          <p:cNvSpPr/>
          <p:nvPr/>
        </p:nvSpPr>
        <p:spPr>
          <a:xfrm>
            <a:off x="6610995" y="2802298"/>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Application/Function </a:t>
            </a:r>
            <a:r>
              <a:rPr lang="en-US" sz="800" dirty="0">
                <a:solidFill>
                  <a:schemeClr val="tx1"/>
                </a:solidFill>
              </a:rPr>
              <a:t>Matrix</a:t>
            </a:r>
          </a:p>
        </p:txBody>
      </p:sp>
      <p:sp>
        <p:nvSpPr>
          <p:cNvPr id="49" name="Rectangle 48"/>
          <p:cNvSpPr/>
          <p:nvPr/>
        </p:nvSpPr>
        <p:spPr>
          <a:xfrm>
            <a:off x="6603804" y="5807713"/>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 Migration Diagram</a:t>
            </a:r>
            <a:endParaRPr lang="en-US" sz="800" dirty="0">
              <a:solidFill>
                <a:schemeClr val="tx1"/>
              </a:solidFill>
            </a:endParaRPr>
          </a:p>
        </p:txBody>
      </p:sp>
      <p:sp>
        <p:nvSpPr>
          <p:cNvPr id="50" name="Rectangle 49"/>
          <p:cNvSpPr/>
          <p:nvPr/>
        </p:nvSpPr>
        <p:spPr>
          <a:xfrm>
            <a:off x="6587888" y="6107794"/>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Software </a:t>
            </a:r>
            <a:r>
              <a:rPr lang="en-US" sz="800" dirty="0" smtClean="0">
                <a:solidFill>
                  <a:schemeClr val="tx1"/>
                </a:solidFill>
              </a:rPr>
              <a:t>Distribution </a:t>
            </a:r>
            <a:r>
              <a:rPr lang="en-US" sz="800" dirty="0">
                <a:solidFill>
                  <a:schemeClr val="tx1"/>
                </a:solidFill>
              </a:rPr>
              <a:t>Diagram</a:t>
            </a:r>
          </a:p>
        </p:txBody>
      </p:sp>
      <p:sp>
        <p:nvSpPr>
          <p:cNvPr id="51" name="Rectangle 50"/>
          <p:cNvSpPr/>
          <p:nvPr/>
        </p:nvSpPr>
        <p:spPr>
          <a:xfrm>
            <a:off x="6587884" y="3708839"/>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Application Communication Diagram</a:t>
            </a:r>
          </a:p>
        </p:txBody>
      </p:sp>
    </p:spTree>
    <p:extLst>
      <p:ext uri="{BB962C8B-B14F-4D97-AF65-F5344CB8AC3E}">
        <p14:creationId xmlns:p14="http://schemas.microsoft.com/office/powerpoint/2010/main" val="2932409644"/>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Application Portfolio Catalog</a:t>
            </a:r>
          </a:p>
        </p:txBody>
      </p:sp>
      <p:graphicFrame>
        <p:nvGraphicFramePr>
          <p:cNvPr id="5" name="Table 4"/>
          <p:cNvGraphicFramePr>
            <a:graphicFrameLocks noGrp="1"/>
          </p:cNvGraphicFramePr>
          <p:nvPr>
            <p:extLst>
              <p:ext uri="{D42A27DB-BD31-4B8C-83A1-F6EECF244321}">
                <p14:modId xmlns:p14="http://schemas.microsoft.com/office/powerpoint/2010/main" val="2582658342"/>
              </p:ext>
            </p:extLst>
          </p:nvPr>
        </p:nvGraphicFramePr>
        <p:xfrm>
          <a:off x="561804" y="1126304"/>
          <a:ext cx="8353595" cy="4986988"/>
        </p:xfrm>
        <a:graphic>
          <a:graphicData uri="http://schemas.openxmlformats.org/drawingml/2006/table">
            <a:tbl>
              <a:tblPr firstRow="1" bandRow="1">
                <a:tableStyleId>{ED083AE6-46FA-4A59-8FB0-9F97EB10719F}</a:tableStyleId>
              </a:tblPr>
              <a:tblGrid>
                <a:gridCol w="2412885"/>
                <a:gridCol w="5940710"/>
              </a:tblGrid>
              <a:tr h="321496">
                <a:tc>
                  <a:txBody>
                    <a:bodyPr/>
                    <a:lstStyle/>
                    <a:p>
                      <a:r>
                        <a:rPr lang="en-US" sz="1200" dirty="0">
                          <a:solidFill>
                            <a:schemeClr val="bg1"/>
                          </a:solidFill>
                        </a:rPr>
                        <a:t>Application</a:t>
                      </a:r>
                    </a:p>
                  </a:txBody>
                  <a:tcPr marL="90000" marR="39201" marT="36000" marB="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D7F64"/>
                    </a:solidFill>
                  </a:tcPr>
                </a:tc>
                <a:tc>
                  <a:txBody>
                    <a:bodyPr/>
                    <a:lstStyle/>
                    <a:p>
                      <a:pPr algn="l"/>
                      <a:r>
                        <a:rPr lang="en-US" sz="1200" dirty="0" smtClean="0">
                          <a:solidFill>
                            <a:schemeClr val="bg1"/>
                          </a:solidFill>
                        </a:rPr>
                        <a:t>Description</a:t>
                      </a:r>
                      <a:endParaRPr lang="en-US" sz="1200" dirty="0">
                        <a:solidFill>
                          <a:schemeClr val="bg1"/>
                        </a:solidFill>
                      </a:endParaRPr>
                    </a:p>
                  </a:txBody>
                  <a:tcPr marL="90000" marR="39201" marT="36000" marB="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D7F64"/>
                    </a:solidFill>
                  </a:tcPr>
                </a:tc>
              </a:tr>
              <a:tr h="516057">
                <a:tc>
                  <a:txBody>
                    <a:bodyPr/>
                    <a:lstStyle/>
                    <a:p>
                      <a:r>
                        <a:rPr lang="en-US" sz="1200" dirty="0" smtClean="0"/>
                        <a:t>Learning Management System</a:t>
                      </a:r>
                      <a:endParaRPr lang="en-US" sz="1200" dirty="0"/>
                    </a:p>
                  </a:txBody>
                  <a:tcPr marL="90000" marR="39201" marT="36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200" kern="1200" dirty="0">
                          <a:solidFill>
                            <a:schemeClr val="tx1"/>
                          </a:solidFill>
                          <a:effectLst/>
                          <a:latin typeface="+mn-lt"/>
                          <a:ea typeface="+mn-ea"/>
                          <a:cs typeface="+mn-cs"/>
                        </a:rPr>
                        <a:t>This is the core education system, providing students and lecturers with a place to exchange education materials, exercises and exercise results. It also provides collaboration mechanisms to facilitate discussions and teleconferences.</a:t>
                      </a:r>
                      <a:r>
                        <a:rPr lang="nl-NL" sz="1200" dirty="0">
                          <a:effectLst/>
                        </a:rPr>
                        <a:t> </a:t>
                      </a:r>
                      <a:endParaRPr lang="en-US" sz="1200" dirty="0"/>
                    </a:p>
                  </a:txBody>
                  <a:tcPr marL="90000" marR="39201" marT="36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09652">
                <a:tc>
                  <a:txBody>
                    <a:bodyPr/>
                    <a:lstStyle/>
                    <a:p>
                      <a:r>
                        <a:rPr lang="en-US" sz="1200" dirty="0" smtClean="0"/>
                        <a:t>Student information system</a:t>
                      </a:r>
                      <a:endParaRPr lang="en-US" sz="1200" dirty="0"/>
                    </a:p>
                  </a:txBody>
                  <a:tcPr marL="90000" marR="39201" marT="36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kern="1200">
                          <a:solidFill>
                            <a:schemeClr val="tx1"/>
                          </a:solidFill>
                          <a:effectLst/>
                          <a:latin typeface="+mn-lt"/>
                          <a:ea typeface="+mn-ea"/>
                          <a:cs typeface="+mn-cs"/>
                        </a:rPr>
                        <a:t>This is the core administration system that administers information about students, teaching programmes, courses and grades. </a:t>
                      </a:r>
                      <a:endParaRPr lang="en-US" sz="1200" dirty="0"/>
                    </a:p>
                  </a:txBody>
                  <a:tcPr marL="90000" marR="39201" marT="36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62366">
                <a:tc>
                  <a:txBody>
                    <a:bodyPr/>
                    <a:lstStyle/>
                    <a:p>
                      <a:r>
                        <a:rPr lang="en-US" sz="1200" kern="1200" dirty="0">
                          <a:solidFill>
                            <a:schemeClr val="tx1"/>
                          </a:solidFill>
                          <a:effectLst/>
                          <a:latin typeface="+mn-lt"/>
                          <a:ea typeface="+mn-ea"/>
                          <a:cs typeface="+mn-cs"/>
                        </a:rPr>
                        <a:t>Digital test system</a:t>
                      </a:r>
                      <a:endParaRPr lang="en-US" sz="1200" dirty="0"/>
                    </a:p>
                  </a:txBody>
                  <a:tcPr marL="90000" marR="39201" marT="36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r>
                        <a:rPr lang="en-US" sz="1200" kern="1200" dirty="0">
                          <a:solidFill>
                            <a:schemeClr val="tx1"/>
                          </a:solidFill>
                          <a:effectLst/>
                          <a:latin typeface="+mn-lt"/>
                          <a:ea typeface="+mn-ea"/>
                          <a:cs typeface="+mn-cs"/>
                        </a:rPr>
                        <a:t>This system supports conducting tests to determine whether learners have acquired the right knowledge and skills.</a:t>
                      </a:r>
                      <a:endParaRPr lang="nl-NL" sz="1200" kern="1200" dirty="0">
                        <a:solidFill>
                          <a:schemeClr val="tx1"/>
                        </a:solidFill>
                        <a:effectLst/>
                        <a:latin typeface="+mn-lt"/>
                        <a:ea typeface="+mn-ea"/>
                        <a:cs typeface="+mn-cs"/>
                      </a:endParaRPr>
                    </a:p>
                  </a:txBody>
                  <a:tcPr marL="90000" marR="39201" marT="36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8708">
                <a:tc>
                  <a:txBody>
                    <a:bodyPr/>
                    <a:lstStyle/>
                    <a:p>
                      <a:r>
                        <a:rPr lang="en-US" sz="1200" kern="1200" dirty="0">
                          <a:solidFill>
                            <a:schemeClr val="tx1"/>
                          </a:solidFill>
                          <a:effectLst/>
                          <a:latin typeface="+mn-lt"/>
                          <a:ea typeface="+mn-ea"/>
                          <a:cs typeface="+mn-cs"/>
                        </a:rPr>
                        <a:t>Scheduling system</a:t>
                      </a:r>
                      <a:r>
                        <a:rPr lang="nl-NL" sz="1200" dirty="0">
                          <a:effectLst/>
                        </a:rPr>
                        <a:t> </a:t>
                      </a:r>
                      <a:endParaRPr lang="en-US" sz="1200" dirty="0"/>
                    </a:p>
                  </a:txBody>
                  <a:tcPr marL="90000" marR="39201" marT="36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kern="1200" dirty="0">
                          <a:solidFill>
                            <a:schemeClr val="tx1"/>
                          </a:solidFill>
                          <a:effectLst/>
                          <a:latin typeface="+mn-lt"/>
                          <a:ea typeface="+mn-ea"/>
                          <a:cs typeface="+mn-cs"/>
                        </a:rPr>
                        <a:t>This system schedules the various courses in time, and ensures that the necessary resources such as lecturers and rooms are available</a:t>
                      </a:r>
                      <a:r>
                        <a:rPr lang="nl-NL" sz="1200" kern="1200" dirty="0">
                          <a:solidFill>
                            <a:schemeClr val="tx1"/>
                          </a:solidFill>
                          <a:effectLst/>
                          <a:latin typeface="+mn-lt"/>
                          <a:ea typeface="+mn-ea"/>
                          <a:cs typeface="+mn-cs"/>
                        </a:rPr>
                        <a:t>.</a:t>
                      </a:r>
                      <a:endParaRPr lang="en-US" sz="1200" dirty="0"/>
                    </a:p>
                  </a:txBody>
                  <a:tcPr marL="90000" marR="39201" marT="36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59774">
                <a:tc>
                  <a:txBody>
                    <a:bodyPr/>
                    <a:lstStyle/>
                    <a:p>
                      <a:r>
                        <a:rPr lang="en-US" sz="1200" kern="1200" dirty="0">
                          <a:solidFill>
                            <a:schemeClr val="tx1"/>
                          </a:solidFill>
                          <a:effectLst/>
                          <a:latin typeface="+mn-lt"/>
                          <a:ea typeface="+mn-ea"/>
                          <a:cs typeface="+mn-cs"/>
                        </a:rPr>
                        <a:t>Research administration system</a:t>
                      </a:r>
                      <a:r>
                        <a:rPr lang="nl-NL" sz="1200" dirty="0">
                          <a:effectLst/>
                        </a:rPr>
                        <a:t> </a:t>
                      </a:r>
                      <a:endParaRPr lang="en-US" sz="1200" dirty="0"/>
                    </a:p>
                  </a:txBody>
                  <a:tcPr marL="90000" marR="39201" marT="36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200" kern="1200" dirty="0">
                          <a:solidFill>
                            <a:schemeClr val="tx1"/>
                          </a:solidFill>
                          <a:effectLst/>
                          <a:latin typeface="+mn-lt"/>
                          <a:ea typeface="+mn-ea"/>
                          <a:cs typeface="+mn-cs"/>
                        </a:rPr>
                        <a:t>This system supports the administration of research results, and is available to researches as well as instructors and students</a:t>
                      </a:r>
                      <a:r>
                        <a:rPr lang="nl-NL" sz="1200" dirty="0">
                          <a:effectLst/>
                        </a:rPr>
                        <a:t> </a:t>
                      </a:r>
                      <a:endParaRPr lang="en-US" sz="1200" dirty="0"/>
                    </a:p>
                  </a:txBody>
                  <a:tcPr marL="90000" marR="39201" marT="36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98392">
                <a:tc>
                  <a:txBody>
                    <a:bodyPr/>
                    <a:lstStyle/>
                    <a:p>
                      <a:r>
                        <a:rPr lang="en-US" sz="1200" kern="1200">
                          <a:solidFill>
                            <a:schemeClr val="tx1"/>
                          </a:solidFill>
                          <a:effectLst/>
                          <a:latin typeface="+mn-lt"/>
                          <a:ea typeface="+mn-ea"/>
                          <a:cs typeface="+mn-cs"/>
                        </a:rPr>
                        <a:t>Financial system</a:t>
                      </a:r>
                      <a:r>
                        <a:rPr lang="nl-NL" sz="1200">
                          <a:effectLst/>
                        </a:rPr>
                        <a:t> </a:t>
                      </a:r>
                      <a:endParaRPr lang="en-US" sz="1200" dirty="0"/>
                    </a:p>
                  </a:txBody>
                  <a:tcPr marL="90000" marR="39201" marT="36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kern="1200" dirty="0">
                          <a:solidFill>
                            <a:schemeClr val="tx1"/>
                          </a:solidFill>
                          <a:effectLst/>
                          <a:latin typeface="+mn-lt"/>
                          <a:ea typeface="+mn-ea"/>
                          <a:cs typeface="+mn-cs"/>
                        </a:rPr>
                        <a:t>This is where the general ledger is maintained, and also supports collections and disbursement processes</a:t>
                      </a:r>
                      <a:r>
                        <a:rPr lang="nl-NL" sz="1200" dirty="0">
                          <a:effectLst/>
                        </a:rPr>
                        <a:t> </a:t>
                      </a:r>
                      <a:endParaRPr lang="en-US" sz="1200" dirty="0"/>
                    </a:p>
                  </a:txBody>
                  <a:tcPr marL="90000" marR="39201" marT="36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8392">
                <a:tc>
                  <a:txBody>
                    <a:bodyPr/>
                    <a:lstStyle/>
                    <a:p>
                      <a:r>
                        <a:rPr lang="en-US" sz="1200" dirty="0"/>
                        <a:t>HR system</a:t>
                      </a:r>
                    </a:p>
                  </a:txBody>
                  <a:tcPr marL="90000" marR="39201" marT="36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200" dirty="0"/>
                        <a:t>This system administers employees, their competencies and their salaries. It also provides self-service functionality for employees where they can see and change their own personal information.</a:t>
                      </a:r>
                    </a:p>
                  </a:txBody>
                  <a:tcPr marL="90000" marR="39201" marT="36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98392">
                <a:tc>
                  <a:txBody>
                    <a:bodyPr/>
                    <a:lstStyle/>
                    <a:p>
                      <a:r>
                        <a:rPr lang="en-US" sz="1200" dirty="0"/>
                        <a:t>Procurement system</a:t>
                      </a:r>
                    </a:p>
                  </a:txBody>
                  <a:tcPr marL="90000" marR="39201" marT="36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dirty="0"/>
                        <a:t>This system supports the procurement process, as well as the administration of suppliers and contracts. </a:t>
                      </a:r>
                    </a:p>
                  </a:txBody>
                  <a:tcPr marL="90000" marR="39201" marT="36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8392">
                <a:tc>
                  <a:txBody>
                    <a:bodyPr/>
                    <a:lstStyle/>
                    <a:p>
                      <a:r>
                        <a:rPr lang="en-US" sz="1200" kern="1200">
                          <a:solidFill>
                            <a:schemeClr val="tx1"/>
                          </a:solidFill>
                          <a:effectLst/>
                          <a:latin typeface="+mn-lt"/>
                          <a:ea typeface="+mn-ea"/>
                          <a:cs typeface="+mn-cs"/>
                        </a:rPr>
                        <a:t>Portal</a:t>
                      </a:r>
                      <a:r>
                        <a:rPr lang="nl-NL" sz="1200">
                          <a:effectLst/>
                        </a:rPr>
                        <a:t> </a:t>
                      </a:r>
                      <a:endParaRPr lang="en-US" sz="1200" dirty="0"/>
                    </a:p>
                  </a:txBody>
                  <a:tcPr marL="90000" marR="39201" marT="36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200" dirty="0"/>
                        <a:t>This system provides personalized access to the most important information for students, lecturers and employees. It also hosts the general web-site of the university.</a:t>
                      </a:r>
                    </a:p>
                  </a:txBody>
                  <a:tcPr marL="90000" marR="39201" marT="36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3707016269"/>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jdelijke aanduiding voor inhoud 2"/>
          <p:cNvSpPr>
            <a:spLocks noGrp="1"/>
          </p:cNvSpPr>
          <p:nvPr>
            <p:ph idx="1"/>
          </p:nvPr>
        </p:nvSpPr>
        <p:spPr>
          <a:xfrm>
            <a:off x="457511" y="987990"/>
            <a:ext cx="5914576" cy="5312141"/>
          </a:xfrm>
        </p:spPr>
        <p:txBody>
          <a:bodyPr>
            <a:noAutofit/>
          </a:bodyPr>
          <a:lstStyle/>
          <a:p>
            <a:r>
              <a:rPr lang="nl-NL" sz="1800" b="0" dirty="0"/>
              <a:t>Application Communication Diagram</a:t>
            </a:r>
          </a:p>
          <a:p>
            <a:pPr lvl="2"/>
            <a:r>
              <a:rPr lang="nl-NL" b="0" dirty="0"/>
              <a:t>The purpose of the Application Communication diagram is to depict all models and mappings related to communication between applications in the metamodel entity.</a:t>
            </a:r>
          </a:p>
          <a:p>
            <a:pPr lvl="2"/>
            <a:r>
              <a:rPr lang="nl-NL" b="0" dirty="0"/>
              <a:t>It shows application components and interfaces between components. </a:t>
            </a:r>
          </a:p>
          <a:p>
            <a:pPr lvl="2"/>
            <a:r>
              <a:rPr lang="nl-NL" b="0" dirty="0"/>
              <a:t>Interfaces may be associated with data entities where appropriate. </a:t>
            </a:r>
          </a:p>
          <a:p>
            <a:pPr lvl="2"/>
            <a:r>
              <a:rPr lang="nl-NL" b="0" dirty="0"/>
              <a:t>Applications may be associated with business services where appropriate. </a:t>
            </a:r>
          </a:p>
          <a:p>
            <a:pPr lvl="2"/>
            <a:r>
              <a:rPr lang="nl-NL" b="0" dirty="0"/>
              <a:t>Communication should be logical and should only show intermediary technology where it is architecturally relevant.</a:t>
            </a:r>
          </a:p>
        </p:txBody>
      </p:sp>
      <p:sp>
        <p:nvSpPr>
          <p:cNvPr id="86017" name="Titel 1"/>
          <p:cNvSpPr>
            <a:spLocks noGrp="1"/>
          </p:cNvSpPr>
          <p:nvPr>
            <p:ph type="title"/>
          </p:nvPr>
        </p:nvSpPr>
        <p:spPr/>
        <p:txBody>
          <a:bodyPr/>
          <a:lstStyle/>
          <a:p>
            <a:r>
              <a:rPr lang="en-US" dirty="0"/>
              <a:t>Application Communication Diagram</a:t>
            </a:r>
          </a:p>
        </p:txBody>
      </p:sp>
      <p:sp>
        <p:nvSpPr>
          <p:cNvPr id="19" name="Rectangle 18"/>
          <p:cNvSpPr/>
          <p:nvPr/>
        </p:nvSpPr>
        <p:spPr>
          <a:xfrm>
            <a:off x="6389667" y="807998"/>
            <a:ext cx="2642790" cy="5681342"/>
          </a:xfrm>
          <a:prstGeom prst="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Application </a:t>
            </a:r>
            <a:r>
              <a:rPr lang="en-US" sz="800" b="1" dirty="0">
                <a:solidFill>
                  <a:schemeClr val="tx1"/>
                </a:solidFill>
              </a:rPr>
              <a:t>Architecture</a:t>
            </a:r>
          </a:p>
        </p:txBody>
      </p:sp>
      <p:sp>
        <p:nvSpPr>
          <p:cNvPr id="20" name="Rectangle 19"/>
          <p:cNvSpPr/>
          <p:nvPr/>
        </p:nvSpPr>
        <p:spPr>
          <a:xfrm>
            <a:off x="6475569" y="1027668"/>
            <a:ext cx="2470984"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Catalogs</a:t>
            </a:r>
          </a:p>
        </p:txBody>
      </p:sp>
      <p:sp>
        <p:nvSpPr>
          <p:cNvPr id="21" name="Rectangle 20"/>
          <p:cNvSpPr/>
          <p:nvPr/>
        </p:nvSpPr>
        <p:spPr>
          <a:xfrm>
            <a:off x="6475569" y="1976168"/>
            <a:ext cx="2470984" cy="144000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Matrices</a:t>
            </a:r>
            <a:endParaRPr lang="en-US" sz="800" b="1" dirty="0">
              <a:solidFill>
                <a:schemeClr val="tx1"/>
              </a:solidFill>
            </a:endParaRPr>
          </a:p>
        </p:txBody>
      </p:sp>
      <p:sp>
        <p:nvSpPr>
          <p:cNvPr id="22" name="Rectangle 21"/>
          <p:cNvSpPr/>
          <p:nvPr/>
        </p:nvSpPr>
        <p:spPr>
          <a:xfrm>
            <a:off x="6475569" y="3474207"/>
            <a:ext cx="2470984" cy="117000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Core Diagrams</a:t>
            </a:r>
            <a:endParaRPr lang="en-US" sz="800" b="1" dirty="0">
              <a:solidFill>
                <a:schemeClr val="tx1"/>
              </a:solidFill>
            </a:endParaRPr>
          </a:p>
        </p:txBody>
      </p:sp>
      <p:sp>
        <p:nvSpPr>
          <p:cNvPr id="23" name="Rectangle 22"/>
          <p:cNvSpPr/>
          <p:nvPr/>
        </p:nvSpPr>
        <p:spPr>
          <a:xfrm>
            <a:off x="6587884" y="4018684"/>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 and User Location Diagram</a:t>
            </a:r>
            <a:endParaRPr lang="en-US" sz="800" dirty="0">
              <a:solidFill>
                <a:schemeClr val="tx1"/>
              </a:solidFill>
            </a:endParaRPr>
          </a:p>
        </p:txBody>
      </p:sp>
      <p:sp>
        <p:nvSpPr>
          <p:cNvPr id="24" name="Rectangle 23"/>
          <p:cNvSpPr/>
          <p:nvPr/>
        </p:nvSpPr>
        <p:spPr>
          <a:xfrm>
            <a:off x="6475569" y="4702831"/>
            <a:ext cx="2470984" cy="1678498"/>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Extension Diagrams</a:t>
            </a:r>
          </a:p>
        </p:txBody>
      </p:sp>
      <p:sp>
        <p:nvSpPr>
          <p:cNvPr id="25" name="Rectangle 24"/>
          <p:cNvSpPr/>
          <p:nvPr/>
        </p:nvSpPr>
        <p:spPr>
          <a:xfrm>
            <a:off x="6587884" y="4922390"/>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Enterprise Manageability Diagram</a:t>
            </a:r>
            <a:endParaRPr lang="en-US" sz="800" dirty="0">
              <a:solidFill>
                <a:schemeClr val="tx1"/>
              </a:solidFill>
            </a:endParaRPr>
          </a:p>
        </p:txBody>
      </p:sp>
      <p:sp>
        <p:nvSpPr>
          <p:cNvPr id="26" name="Rectangle 25"/>
          <p:cNvSpPr/>
          <p:nvPr/>
        </p:nvSpPr>
        <p:spPr>
          <a:xfrm>
            <a:off x="6587884" y="5230296"/>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Process/Application </a:t>
            </a:r>
            <a:r>
              <a:rPr lang="en-US" sz="800" dirty="0">
                <a:solidFill>
                  <a:schemeClr val="tx1"/>
                </a:solidFill>
              </a:rPr>
              <a:t>Realization Diagram</a:t>
            </a:r>
          </a:p>
        </p:txBody>
      </p:sp>
      <p:sp>
        <p:nvSpPr>
          <p:cNvPr id="27" name="Rectangle 26"/>
          <p:cNvSpPr/>
          <p:nvPr/>
        </p:nvSpPr>
        <p:spPr>
          <a:xfrm>
            <a:off x="6587884" y="5527512"/>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Software Engineering Diagram</a:t>
            </a:r>
            <a:endParaRPr lang="en-US" sz="800" dirty="0">
              <a:solidFill>
                <a:schemeClr val="tx1"/>
              </a:solidFill>
            </a:endParaRPr>
          </a:p>
        </p:txBody>
      </p:sp>
      <p:sp>
        <p:nvSpPr>
          <p:cNvPr id="28" name="Rectangle 27"/>
          <p:cNvSpPr/>
          <p:nvPr/>
        </p:nvSpPr>
        <p:spPr>
          <a:xfrm>
            <a:off x="6594563" y="4338604"/>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 Use-Case Diagram</a:t>
            </a:r>
            <a:endParaRPr lang="en-US" sz="800" dirty="0">
              <a:solidFill>
                <a:schemeClr val="tx1"/>
              </a:solidFill>
            </a:endParaRPr>
          </a:p>
        </p:txBody>
      </p:sp>
      <p:sp>
        <p:nvSpPr>
          <p:cNvPr id="29" name="Rectangle 28"/>
          <p:cNvSpPr/>
          <p:nvPr/>
        </p:nvSpPr>
        <p:spPr>
          <a:xfrm>
            <a:off x="6547455" y="1283568"/>
            <a:ext cx="2286778"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Application Portfolio Catalog</a:t>
            </a:r>
          </a:p>
        </p:txBody>
      </p:sp>
      <p:sp>
        <p:nvSpPr>
          <p:cNvPr id="30" name="Rectangle 29"/>
          <p:cNvSpPr/>
          <p:nvPr/>
        </p:nvSpPr>
        <p:spPr>
          <a:xfrm>
            <a:off x="6587888" y="2493158"/>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Role/Application Matrix</a:t>
            </a:r>
            <a:endParaRPr lang="en-US" sz="800" dirty="0">
              <a:solidFill>
                <a:schemeClr val="tx1"/>
              </a:solidFill>
            </a:endParaRPr>
          </a:p>
        </p:txBody>
      </p:sp>
      <p:sp>
        <p:nvSpPr>
          <p:cNvPr id="45" name="Rectangle 44"/>
          <p:cNvSpPr/>
          <p:nvPr/>
        </p:nvSpPr>
        <p:spPr>
          <a:xfrm>
            <a:off x="6594564" y="2199475"/>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Application/Organization </a:t>
            </a:r>
            <a:r>
              <a:rPr lang="en-US" sz="800" dirty="0">
                <a:solidFill>
                  <a:schemeClr val="tx1"/>
                </a:solidFill>
              </a:rPr>
              <a:t>Matrix</a:t>
            </a:r>
          </a:p>
        </p:txBody>
      </p:sp>
      <p:sp>
        <p:nvSpPr>
          <p:cNvPr id="46" name="Rectangle 45"/>
          <p:cNvSpPr/>
          <p:nvPr/>
        </p:nvSpPr>
        <p:spPr>
          <a:xfrm>
            <a:off x="6563375" y="1599744"/>
            <a:ext cx="2286778"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Interface Catalog</a:t>
            </a:r>
            <a:endParaRPr lang="en-US" sz="800" dirty="0">
              <a:solidFill>
                <a:schemeClr val="tx1"/>
              </a:solidFill>
            </a:endParaRPr>
          </a:p>
        </p:txBody>
      </p:sp>
      <p:sp>
        <p:nvSpPr>
          <p:cNvPr id="47" name="Rectangle 46"/>
          <p:cNvSpPr/>
          <p:nvPr/>
        </p:nvSpPr>
        <p:spPr>
          <a:xfrm>
            <a:off x="6604319" y="3095981"/>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 Interaction Matrix</a:t>
            </a:r>
            <a:endParaRPr lang="en-US" sz="800" dirty="0">
              <a:solidFill>
                <a:schemeClr val="tx1"/>
              </a:solidFill>
            </a:endParaRPr>
          </a:p>
        </p:txBody>
      </p:sp>
      <p:sp>
        <p:nvSpPr>
          <p:cNvPr id="48" name="Rectangle 47"/>
          <p:cNvSpPr/>
          <p:nvPr/>
        </p:nvSpPr>
        <p:spPr>
          <a:xfrm>
            <a:off x="6610995" y="2802298"/>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Application/Function </a:t>
            </a:r>
            <a:r>
              <a:rPr lang="en-US" sz="800" dirty="0">
                <a:solidFill>
                  <a:schemeClr val="tx1"/>
                </a:solidFill>
              </a:rPr>
              <a:t>Matrix</a:t>
            </a:r>
          </a:p>
        </p:txBody>
      </p:sp>
      <p:sp>
        <p:nvSpPr>
          <p:cNvPr id="49" name="Rectangle 48"/>
          <p:cNvSpPr/>
          <p:nvPr/>
        </p:nvSpPr>
        <p:spPr>
          <a:xfrm>
            <a:off x="6603804" y="5807713"/>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 Migration Diagram</a:t>
            </a:r>
            <a:endParaRPr lang="en-US" sz="800" dirty="0">
              <a:solidFill>
                <a:schemeClr val="tx1"/>
              </a:solidFill>
            </a:endParaRPr>
          </a:p>
        </p:txBody>
      </p:sp>
      <p:sp>
        <p:nvSpPr>
          <p:cNvPr id="50" name="Rectangle 49"/>
          <p:cNvSpPr/>
          <p:nvPr/>
        </p:nvSpPr>
        <p:spPr>
          <a:xfrm>
            <a:off x="6587888" y="6107794"/>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Software </a:t>
            </a:r>
            <a:r>
              <a:rPr lang="en-US" sz="800" dirty="0" smtClean="0">
                <a:solidFill>
                  <a:schemeClr val="tx1"/>
                </a:solidFill>
              </a:rPr>
              <a:t>Distribution </a:t>
            </a:r>
            <a:r>
              <a:rPr lang="en-US" sz="800" dirty="0">
                <a:solidFill>
                  <a:schemeClr val="tx1"/>
                </a:solidFill>
              </a:rPr>
              <a:t>Diagram</a:t>
            </a:r>
          </a:p>
        </p:txBody>
      </p:sp>
      <p:sp>
        <p:nvSpPr>
          <p:cNvPr id="51" name="Rectangle 50"/>
          <p:cNvSpPr/>
          <p:nvPr/>
        </p:nvSpPr>
        <p:spPr>
          <a:xfrm>
            <a:off x="6587884" y="3708839"/>
            <a:ext cx="2246349" cy="237600"/>
          </a:xfrm>
          <a:prstGeom prst="rect">
            <a:avLst/>
          </a:prstGeom>
          <a:solidFill>
            <a:srgbClr val="3D7F6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rPr>
              <a:t>Application Communication Diagram</a:t>
            </a:r>
          </a:p>
        </p:txBody>
      </p:sp>
    </p:spTree>
    <p:extLst>
      <p:ext uri="{BB962C8B-B14F-4D97-AF65-F5344CB8AC3E}">
        <p14:creationId xmlns:p14="http://schemas.microsoft.com/office/powerpoint/2010/main" val="3908933468"/>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Application Communication Diagram</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126" y="1063077"/>
            <a:ext cx="7204074" cy="5299355"/>
          </a:xfrm>
          <a:prstGeom prst="rect">
            <a:avLst/>
          </a:prstGeom>
        </p:spPr>
      </p:pic>
    </p:spTree>
    <p:extLst>
      <p:ext uri="{BB962C8B-B14F-4D97-AF65-F5344CB8AC3E}">
        <p14:creationId xmlns:p14="http://schemas.microsoft.com/office/powerpoint/2010/main" val="1143264530"/>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jdelijke aanduiding voor inhoud 2"/>
          <p:cNvSpPr>
            <a:spLocks noGrp="1"/>
          </p:cNvSpPr>
          <p:nvPr>
            <p:ph idx="1"/>
          </p:nvPr>
        </p:nvSpPr>
        <p:spPr>
          <a:xfrm>
            <a:off x="457511" y="987990"/>
            <a:ext cx="5914576" cy="5312141"/>
          </a:xfrm>
        </p:spPr>
        <p:txBody>
          <a:bodyPr>
            <a:noAutofit/>
          </a:bodyPr>
          <a:lstStyle/>
          <a:p>
            <a:r>
              <a:rPr lang="nl-NL" sz="1800" b="0" dirty="0"/>
              <a:t>Application/Function Matrix</a:t>
            </a:r>
          </a:p>
          <a:p>
            <a:pPr lvl="2"/>
            <a:r>
              <a:rPr lang="nl-NL" b="0" dirty="0"/>
              <a:t>The purpose of the Application/Function matrix is to depict the relationship between applications and business functions within the enterprise.</a:t>
            </a:r>
          </a:p>
          <a:p>
            <a:pPr lvl="2"/>
            <a:r>
              <a:rPr lang="nl-NL" b="0" dirty="0"/>
              <a:t>The mapping of the Application Component-Function relationship is an important step as it enables the following to take place:</a:t>
            </a:r>
          </a:p>
          <a:p>
            <a:pPr lvl="3"/>
            <a:r>
              <a:rPr lang="nl-NL" b="0" dirty="0"/>
              <a:t>Assign usage of applications to the business functions that are supported by them</a:t>
            </a:r>
          </a:p>
          <a:p>
            <a:pPr lvl="3"/>
            <a:r>
              <a:rPr lang="nl-NL" b="0" dirty="0"/>
              <a:t>Understand the application support requirements of the business services and processes carried out</a:t>
            </a:r>
          </a:p>
          <a:p>
            <a:pPr lvl="3"/>
            <a:r>
              <a:rPr lang="nl-NL" b="0" dirty="0"/>
              <a:t>Support the gap analysis and determine whether any of the applications are missing and as a result need to be created</a:t>
            </a:r>
          </a:p>
          <a:p>
            <a:pPr lvl="3"/>
            <a:r>
              <a:rPr lang="nl-NL" b="0" dirty="0"/>
              <a:t>Define the application set used by a particular business function</a:t>
            </a:r>
          </a:p>
        </p:txBody>
      </p:sp>
      <p:sp>
        <p:nvSpPr>
          <p:cNvPr id="86017" name="Titel 1"/>
          <p:cNvSpPr>
            <a:spLocks noGrp="1"/>
          </p:cNvSpPr>
          <p:nvPr>
            <p:ph type="title"/>
          </p:nvPr>
        </p:nvSpPr>
        <p:spPr/>
        <p:txBody>
          <a:bodyPr/>
          <a:lstStyle/>
          <a:p>
            <a:r>
              <a:rPr lang="en-US" dirty="0"/>
              <a:t>Application/Function Matrix</a:t>
            </a:r>
          </a:p>
        </p:txBody>
      </p:sp>
      <p:sp>
        <p:nvSpPr>
          <p:cNvPr id="19" name="Rectangle 18"/>
          <p:cNvSpPr/>
          <p:nvPr/>
        </p:nvSpPr>
        <p:spPr>
          <a:xfrm>
            <a:off x="6389667" y="807998"/>
            <a:ext cx="2642790" cy="5681342"/>
          </a:xfrm>
          <a:prstGeom prst="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Application </a:t>
            </a:r>
            <a:r>
              <a:rPr lang="en-US" sz="800" b="1" dirty="0">
                <a:solidFill>
                  <a:schemeClr val="tx1"/>
                </a:solidFill>
              </a:rPr>
              <a:t>Architecture</a:t>
            </a:r>
          </a:p>
        </p:txBody>
      </p:sp>
      <p:sp>
        <p:nvSpPr>
          <p:cNvPr id="20" name="Rectangle 19"/>
          <p:cNvSpPr/>
          <p:nvPr/>
        </p:nvSpPr>
        <p:spPr>
          <a:xfrm>
            <a:off x="6475569" y="1027668"/>
            <a:ext cx="2470984"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Catalogs</a:t>
            </a:r>
          </a:p>
        </p:txBody>
      </p:sp>
      <p:sp>
        <p:nvSpPr>
          <p:cNvPr id="21" name="Rectangle 20"/>
          <p:cNvSpPr/>
          <p:nvPr/>
        </p:nvSpPr>
        <p:spPr>
          <a:xfrm>
            <a:off x="6475569" y="1976168"/>
            <a:ext cx="2470984" cy="144000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Matrices</a:t>
            </a:r>
            <a:endParaRPr lang="en-US" sz="800" b="1" dirty="0">
              <a:solidFill>
                <a:schemeClr val="tx1"/>
              </a:solidFill>
            </a:endParaRPr>
          </a:p>
        </p:txBody>
      </p:sp>
      <p:sp>
        <p:nvSpPr>
          <p:cNvPr id="22" name="Rectangle 21"/>
          <p:cNvSpPr/>
          <p:nvPr/>
        </p:nvSpPr>
        <p:spPr>
          <a:xfrm>
            <a:off x="6475569" y="3474207"/>
            <a:ext cx="2470984" cy="117000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Core Diagrams</a:t>
            </a:r>
            <a:endParaRPr lang="en-US" sz="800" b="1" dirty="0">
              <a:solidFill>
                <a:schemeClr val="tx1"/>
              </a:solidFill>
            </a:endParaRPr>
          </a:p>
        </p:txBody>
      </p:sp>
      <p:sp>
        <p:nvSpPr>
          <p:cNvPr id="23" name="Rectangle 22"/>
          <p:cNvSpPr/>
          <p:nvPr/>
        </p:nvSpPr>
        <p:spPr>
          <a:xfrm>
            <a:off x="6587884" y="4018684"/>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 and User Location Diagram</a:t>
            </a:r>
            <a:endParaRPr lang="en-US" sz="800" dirty="0">
              <a:solidFill>
                <a:schemeClr val="tx1"/>
              </a:solidFill>
            </a:endParaRPr>
          </a:p>
        </p:txBody>
      </p:sp>
      <p:sp>
        <p:nvSpPr>
          <p:cNvPr id="24" name="Rectangle 23"/>
          <p:cNvSpPr/>
          <p:nvPr/>
        </p:nvSpPr>
        <p:spPr>
          <a:xfrm>
            <a:off x="6475569" y="4702831"/>
            <a:ext cx="2470984" cy="1678498"/>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Extension Diagrams</a:t>
            </a:r>
          </a:p>
        </p:txBody>
      </p:sp>
      <p:sp>
        <p:nvSpPr>
          <p:cNvPr id="25" name="Rectangle 24"/>
          <p:cNvSpPr/>
          <p:nvPr/>
        </p:nvSpPr>
        <p:spPr>
          <a:xfrm>
            <a:off x="6587884" y="4922390"/>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Enterprise Manageability Diagram</a:t>
            </a:r>
            <a:endParaRPr lang="en-US" sz="800" dirty="0">
              <a:solidFill>
                <a:schemeClr val="tx1"/>
              </a:solidFill>
            </a:endParaRPr>
          </a:p>
        </p:txBody>
      </p:sp>
      <p:sp>
        <p:nvSpPr>
          <p:cNvPr id="26" name="Rectangle 25"/>
          <p:cNvSpPr/>
          <p:nvPr/>
        </p:nvSpPr>
        <p:spPr>
          <a:xfrm>
            <a:off x="6587884" y="5230296"/>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Process/Application </a:t>
            </a:r>
            <a:r>
              <a:rPr lang="en-US" sz="800" dirty="0">
                <a:solidFill>
                  <a:schemeClr val="tx1"/>
                </a:solidFill>
              </a:rPr>
              <a:t>Realization Diagram</a:t>
            </a:r>
          </a:p>
        </p:txBody>
      </p:sp>
      <p:sp>
        <p:nvSpPr>
          <p:cNvPr id="27" name="Rectangle 26"/>
          <p:cNvSpPr/>
          <p:nvPr/>
        </p:nvSpPr>
        <p:spPr>
          <a:xfrm>
            <a:off x="6587884" y="5527512"/>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Software Engineering Diagram</a:t>
            </a:r>
            <a:endParaRPr lang="en-US" sz="800" dirty="0">
              <a:solidFill>
                <a:schemeClr val="tx1"/>
              </a:solidFill>
            </a:endParaRPr>
          </a:p>
        </p:txBody>
      </p:sp>
      <p:sp>
        <p:nvSpPr>
          <p:cNvPr id="28" name="Rectangle 27"/>
          <p:cNvSpPr/>
          <p:nvPr/>
        </p:nvSpPr>
        <p:spPr>
          <a:xfrm>
            <a:off x="6594563" y="4338604"/>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 Use-Case Diagram</a:t>
            </a:r>
            <a:endParaRPr lang="en-US" sz="800" dirty="0">
              <a:solidFill>
                <a:schemeClr val="tx1"/>
              </a:solidFill>
            </a:endParaRPr>
          </a:p>
        </p:txBody>
      </p:sp>
      <p:sp>
        <p:nvSpPr>
          <p:cNvPr id="29" name="Rectangle 28"/>
          <p:cNvSpPr/>
          <p:nvPr/>
        </p:nvSpPr>
        <p:spPr>
          <a:xfrm>
            <a:off x="6547455" y="1283568"/>
            <a:ext cx="2286778"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Application Portfolio Catalog</a:t>
            </a:r>
          </a:p>
        </p:txBody>
      </p:sp>
      <p:sp>
        <p:nvSpPr>
          <p:cNvPr id="30" name="Rectangle 29"/>
          <p:cNvSpPr/>
          <p:nvPr/>
        </p:nvSpPr>
        <p:spPr>
          <a:xfrm>
            <a:off x="6587888" y="2493158"/>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Role/Application Matrix</a:t>
            </a:r>
            <a:endParaRPr lang="en-US" sz="800" dirty="0">
              <a:solidFill>
                <a:schemeClr val="tx1"/>
              </a:solidFill>
            </a:endParaRPr>
          </a:p>
        </p:txBody>
      </p:sp>
      <p:sp>
        <p:nvSpPr>
          <p:cNvPr id="45" name="Rectangle 44"/>
          <p:cNvSpPr/>
          <p:nvPr/>
        </p:nvSpPr>
        <p:spPr>
          <a:xfrm>
            <a:off x="6594564" y="2199475"/>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Application/Organization </a:t>
            </a:r>
            <a:r>
              <a:rPr lang="en-US" sz="800" dirty="0">
                <a:solidFill>
                  <a:schemeClr val="tx1"/>
                </a:solidFill>
              </a:rPr>
              <a:t>Matrix</a:t>
            </a:r>
          </a:p>
        </p:txBody>
      </p:sp>
      <p:sp>
        <p:nvSpPr>
          <p:cNvPr id="46" name="Rectangle 45"/>
          <p:cNvSpPr/>
          <p:nvPr/>
        </p:nvSpPr>
        <p:spPr>
          <a:xfrm>
            <a:off x="6563375" y="1599744"/>
            <a:ext cx="2286778"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Interface Catalog</a:t>
            </a:r>
            <a:endParaRPr lang="en-US" sz="800" dirty="0">
              <a:solidFill>
                <a:schemeClr val="tx1"/>
              </a:solidFill>
            </a:endParaRPr>
          </a:p>
        </p:txBody>
      </p:sp>
      <p:sp>
        <p:nvSpPr>
          <p:cNvPr id="47" name="Rectangle 46"/>
          <p:cNvSpPr/>
          <p:nvPr/>
        </p:nvSpPr>
        <p:spPr>
          <a:xfrm>
            <a:off x="6604319" y="3095981"/>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 Interaction Matrix</a:t>
            </a:r>
            <a:endParaRPr lang="en-US" sz="800" dirty="0">
              <a:solidFill>
                <a:schemeClr val="tx1"/>
              </a:solidFill>
            </a:endParaRPr>
          </a:p>
        </p:txBody>
      </p:sp>
      <p:sp>
        <p:nvSpPr>
          <p:cNvPr id="48" name="Rectangle 47"/>
          <p:cNvSpPr/>
          <p:nvPr/>
        </p:nvSpPr>
        <p:spPr>
          <a:xfrm>
            <a:off x="6610995" y="2802298"/>
            <a:ext cx="2246349" cy="238440"/>
          </a:xfrm>
          <a:prstGeom prst="rect">
            <a:avLst/>
          </a:prstGeom>
          <a:solidFill>
            <a:srgbClr val="3D7F6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rPr>
              <a:t>Application/Function Matrix</a:t>
            </a:r>
          </a:p>
        </p:txBody>
      </p:sp>
      <p:sp>
        <p:nvSpPr>
          <p:cNvPr id="49" name="Rectangle 48"/>
          <p:cNvSpPr/>
          <p:nvPr/>
        </p:nvSpPr>
        <p:spPr>
          <a:xfrm>
            <a:off x="6603804" y="5807713"/>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 Migration Diagram</a:t>
            </a:r>
            <a:endParaRPr lang="en-US" sz="800" dirty="0">
              <a:solidFill>
                <a:schemeClr val="tx1"/>
              </a:solidFill>
            </a:endParaRPr>
          </a:p>
        </p:txBody>
      </p:sp>
      <p:sp>
        <p:nvSpPr>
          <p:cNvPr id="50" name="Rectangle 49"/>
          <p:cNvSpPr/>
          <p:nvPr/>
        </p:nvSpPr>
        <p:spPr>
          <a:xfrm>
            <a:off x="6587888" y="6107794"/>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Software </a:t>
            </a:r>
            <a:r>
              <a:rPr lang="en-US" sz="800" dirty="0" smtClean="0">
                <a:solidFill>
                  <a:schemeClr val="tx1"/>
                </a:solidFill>
              </a:rPr>
              <a:t>Distribution </a:t>
            </a:r>
            <a:r>
              <a:rPr lang="en-US" sz="800" dirty="0">
                <a:solidFill>
                  <a:schemeClr val="tx1"/>
                </a:solidFill>
              </a:rPr>
              <a:t>Diagram</a:t>
            </a:r>
          </a:p>
        </p:txBody>
      </p:sp>
      <p:sp>
        <p:nvSpPr>
          <p:cNvPr id="51" name="Rectangle 50"/>
          <p:cNvSpPr/>
          <p:nvPr/>
        </p:nvSpPr>
        <p:spPr>
          <a:xfrm>
            <a:off x="6587884" y="3708839"/>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Application Communication Diagram</a:t>
            </a:r>
          </a:p>
        </p:txBody>
      </p:sp>
    </p:spTree>
    <p:extLst>
      <p:ext uri="{BB962C8B-B14F-4D97-AF65-F5344CB8AC3E}">
        <p14:creationId xmlns:p14="http://schemas.microsoft.com/office/powerpoint/2010/main" val="3430720904"/>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Application/Function Matrix</a:t>
            </a:r>
            <a:endParaRPr lang="en-IN" dirty="0"/>
          </a:p>
        </p:txBody>
      </p:sp>
      <p:graphicFrame>
        <p:nvGraphicFramePr>
          <p:cNvPr id="7" name="Table 6"/>
          <p:cNvGraphicFramePr>
            <a:graphicFrameLocks noGrp="1"/>
          </p:cNvGraphicFramePr>
          <p:nvPr>
            <p:extLst>
              <p:ext uri="{D42A27DB-BD31-4B8C-83A1-F6EECF244321}">
                <p14:modId xmlns:p14="http://schemas.microsoft.com/office/powerpoint/2010/main" val="3126081728"/>
              </p:ext>
            </p:extLst>
          </p:nvPr>
        </p:nvGraphicFramePr>
        <p:xfrm>
          <a:off x="569913" y="1135063"/>
          <a:ext cx="6380513" cy="4894263"/>
        </p:xfrm>
        <a:graphic>
          <a:graphicData uri="http://schemas.openxmlformats.org/drawingml/2006/table">
            <a:tbl>
              <a:tblPr firstRow="1" bandRow="1">
                <a:tableStyleId>{ED083AE6-46FA-4A59-8FB0-9F97EB10719F}</a:tableStyleId>
              </a:tblPr>
              <a:tblGrid>
                <a:gridCol w="3140513"/>
                <a:gridCol w="540000"/>
                <a:gridCol w="540000"/>
                <a:gridCol w="540000"/>
                <a:gridCol w="540000"/>
                <a:gridCol w="540000"/>
                <a:gridCol w="540000"/>
              </a:tblGrid>
              <a:tr h="2558926">
                <a:tc>
                  <a:txBody>
                    <a:bodyPr/>
                    <a:lstStyle/>
                    <a:p>
                      <a:endParaRPr lang="en-US" sz="1500" dirty="0"/>
                    </a:p>
                  </a:txBody>
                  <a:tcPr marL="44385" marR="44385" marT="22192" marB="2219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b="1" dirty="0" smtClean="0"/>
                        <a:t>Education development</a:t>
                      </a:r>
                    </a:p>
                  </a:txBody>
                  <a:tcPr marL="44385" marR="44385"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500" b="1" dirty="0" smtClean="0"/>
                        <a:t>Marketing</a:t>
                      </a:r>
                      <a:r>
                        <a:rPr lang="en-US" sz="1500" b="1" baseline="0" dirty="0" smtClean="0"/>
                        <a:t> and sales</a:t>
                      </a:r>
                      <a:endParaRPr lang="en-US" sz="1500" b="1" dirty="0"/>
                    </a:p>
                  </a:txBody>
                  <a:tcPr marL="44385" marR="44385"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500" b="1" dirty="0" smtClean="0"/>
                        <a:t>Planning</a:t>
                      </a:r>
                      <a:r>
                        <a:rPr lang="en-US" sz="1500" b="1" baseline="0" dirty="0" smtClean="0"/>
                        <a:t> and scheduling</a:t>
                      </a:r>
                      <a:endParaRPr lang="en-US" sz="1500" b="1" dirty="0"/>
                    </a:p>
                  </a:txBody>
                  <a:tcPr marL="44385" marR="44385"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500" b="1" dirty="0" smtClean="0"/>
                        <a:t>Registration</a:t>
                      </a:r>
                      <a:endParaRPr lang="en-US" sz="1500" b="1" kern="1200" dirty="0">
                        <a:solidFill>
                          <a:schemeClr val="tx1"/>
                        </a:solidFill>
                        <a:latin typeface="+mn-lt"/>
                        <a:ea typeface="+mn-ea"/>
                        <a:cs typeface="+mn-cs"/>
                      </a:endParaRPr>
                    </a:p>
                  </a:txBody>
                  <a:tcPr marL="44385" marR="44385"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500" b="1" dirty="0" smtClean="0"/>
                        <a:t>Provide</a:t>
                      </a:r>
                      <a:r>
                        <a:rPr lang="en-US" sz="1500" b="1" baseline="0" dirty="0" smtClean="0"/>
                        <a:t> education</a:t>
                      </a:r>
                      <a:endParaRPr lang="en-US" sz="1500" b="1" dirty="0"/>
                    </a:p>
                  </a:txBody>
                  <a:tcPr marL="44385" marR="44385"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500" b="1" dirty="0" smtClean="0"/>
                        <a:t>Test</a:t>
                      </a:r>
                      <a:r>
                        <a:rPr lang="en-US" sz="1500" b="1" baseline="0" dirty="0" smtClean="0"/>
                        <a:t> and certify</a:t>
                      </a:r>
                      <a:endParaRPr lang="en-US" sz="1500" b="1" dirty="0"/>
                    </a:p>
                  </a:txBody>
                  <a:tcPr marL="44385" marR="44385"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491650">
                <a:tc>
                  <a:txBody>
                    <a:bodyPr/>
                    <a:lstStyle/>
                    <a:p>
                      <a:r>
                        <a:rPr lang="en-US" sz="1500" dirty="0" smtClean="0"/>
                        <a:t>Learning</a:t>
                      </a:r>
                      <a:r>
                        <a:rPr lang="en-US" sz="1500" baseline="0" dirty="0" smtClean="0"/>
                        <a:t> Management System</a:t>
                      </a: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dirty="0" smtClean="0"/>
                        <a:t>X</a:t>
                      </a:r>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r>
                        <a:rPr lang="en-US" sz="1500" dirty="0" smtClean="0"/>
                        <a:t>X</a:t>
                      </a: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r>
              <a:tr h="463556">
                <a:tc>
                  <a:txBody>
                    <a:bodyPr/>
                    <a:lstStyle/>
                    <a:p>
                      <a:r>
                        <a:rPr lang="en-US" sz="1500" dirty="0" smtClean="0"/>
                        <a:t>Student Information System</a:t>
                      </a: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sz="1500" dirty="0" smtClean="0"/>
                        <a:t>X</a:t>
                      </a:r>
                      <a:endParaRPr lang="en-US" sz="1500" kern="1200" dirty="0">
                        <a:solidFill>
                          <a:schemeClr val="tx1"/>
                        </a:solidFill>
                        <a:latin typeface="+mn-lt"/>
                        <a:ea typeface="+mn-ea"/>
                        <a:cs typeface="+mn-cs"/>
                      </a:endParaRPr>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1500" dirty="0" smtClean="0"/>
                        <a:t>X</a:t>
                      </a: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1500" dirty="0" smtClean="0"/>
                        <a:t>X</a:t>
                      </a: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1500" dirty="0" smtClean="0"/>
                        <a:t>X</a:t>
                      </a: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1500" dirty="0" smtClean="0"/>
                        <a:t>X</a:t>
                      </a: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1500" dirty="0" smtClean="0"/>
                        <a:t>X</a:t>
                      </a: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484626">
                <a:tc>
                  <a:txBody>
                    <a:bodyPr/>
                    <a:lstStyle/>
                    <a:p>
                      <a:r>
                        <a:rPr lang="en-US" sz="1500" dirty="0" smtClean="0"/>
                        <a:t>Digital Test System</a:t>
                      </a: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marL="0" algn="ctr" defTabSz="914400" rtl="0" eaLnBrk="1" latinLnBrk="0" hangingPunct="1"/>
                      <a:endParaRPr lang="en-US" sz="1500" kern="1200" dirty="0">
                        <a:solidFill>
                          <a:schemeClr val="tx1"/>
                        </a:solidFill>
                        <a:latin typeface="+mn-lt"/>
                        <a:ea typeface="+mn-ea"/>
                        <a:cs typeface="+mn-cs"/>
                      </a:endParaRPr>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50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r>
                        <a:rPr lang="en-US" sz="1500" dirty="0" smtClean="0"/>
                        <a:t>X</a:t>
                      </a: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r>
              <a:tr h="453020">
                <a:tc>
                  <a:txBody>
                    <a:bodyPr/>
                    <a:lstStyle/>
                    <a:p>
                      <a:r>
                        <a:rPr lang="en-US" sz="1500" dirty="0" smtClean="0"/>
                        <a:t>Scheduling System</a:t>
                      </a: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4400" rtl="0" eaLnBrk="1" latinLnBrk="0" hangingPunct="1"/>
                      <a:endParaRPr lang="en-US" sz="1500" kern="1200">
                        <a:solidFill>
                          <a:schemeClr val="tx1"/>
                        </a:solidFill>
                        <a:latin typeface="+mn-lt"/>
                        <a:ea typeface="+mn-ea"/>
                        <a:cs typeface="+mn-cs"/>
                      </a:endParaRPr>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en-US" sz="150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1500" dirty="0" smtClean="0"/>
                        <a:t>X</a:t>
                      </a: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442485">
                <a:tc>
                  <a:txBody>
                    <a:bodyPr/>
                    <a:lstStyle/>
                    <a:p>
                      <a:r>
                        <a:rPr lang="en-US" sz="1500" dirty="0" smtClean="0"/>
                        <a:t>HR</a:t>
                      </a:r>
                      <a:r>
                        <a:rPr lang="en-US" sz="1500" baseline="0" dirty="0" smtClean="0"/>
                        <a:t> System</a:t>
                      </a: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marL="0" algn="ctr" defTabSz="914400" rtl="0" eaLnBrk="1" latinLnBrk="0" hangingPunct="1"/>
                      <a:r>
                        <a:rPr lang="en-US" sz="1500" kern="1200" dirty="0" smtClean="0">
                          <a:solidFill>
                            <a:schemeClr val="tx1"/>
                          </a:solidFill>
                          <a:latin typeface="+mn-lt"/>
                          <a:ea typeface="+mn-ea"/>
                          <a:cs typeface="+mn-cs"/>
                        </a:rPr>
                        <a:t>X</a:t>
                      </a:r>
                      <a:endParaRPr lang="en-US" sz="1500" kern="1200" dirty="0">
                        <a:solidFill>
                          <a:schemeClr val="tx1"/>
                        </a:solidFill>
                        <a:latin typeface="+mn-lt"/>
                        <a:ea typeface="+mn-ea"/>
                        <a:cs typeface="+mn-cs"/>
                      </a:endParaRPr>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r>
                        <a:rPr lang="en-US" sz="1500" dirty="0" smtClean="0"/>
                        <a:t>X</a:t>
                      </a: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r>
                        <a:rPr lang="en-US" sz="1500" dirty="0" smtClean="0"/>
                        <a:t>X</a:t>
                      </a: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r>
                        <a:rPr lang="en-US" sz="1500" dirty="0" smtClean="0"/>
                        <a:t>X</a:t>
                      </a: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r>
                        <a:rPr lang="en-US" sz="1500" dirty="0" smtClean="0"/>
                        <a:t>X</a:t>
                      </a: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r>
                        <a:rPr lang="en-US" sz="1500" dirty="0" smtClean="0"/>
                        <a:t>X</a:t>
                      </a:r>
                      <a:endParaRPr lang="en-US" sz="1500" dirty="0"/>
                    </a:p>
                  </a:txBody>
                  <a:tcPr marL="44385" marR="44385" marT="22192" marB="221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r>
            </a:tbl>
          </a:graphicData>
        </a:graphic>
      </p:graphicFrame>
    </p:spTree>
    <p:extLst>
      <p:ext uri="{BB962C8B-B14F-4D97-AF65-F5344CB8AC3E}">
        <p14:creationId xmlns:p14="http://schemas.microsoft.com/office/powerpoint/2010/main" val="1803692902"/>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jdelijke aanduiding voor inhoud 2"/>
          <p:cNvSpPr>
            <a:spLocks noGrp="1"/>
          </p:cNvSpPr>
          <p:nvPr>
            <p:ph idx="1"/>
          </p:nvPr>
        </p:nvSpPr>
        <p:spPr>
          <a:xfrm>
            <a:off x="457511" y="987990"/>
            <a:ext cx="5914576" cy="5312141"/>
          </a:xfrm>
        </p:spPr>
        <p:txBody>
          <a:bodyPr>
            <a:noAutofit/>
          </a:bodyPr>
          <a:lstStyle/>
          <a:p>
            <a:r>
              <a:rPr lang="nl-NL" sz="1800" b="0" dirty="0"/>
              <a:t>Application Use-Case Diagram</a:t>
            </a:r>
          </a:p>
          <a:p>
            <a:pPr lvl="2"/>
            <a:r>
              <a:rPr lang="nl-NL" b="0" dirty="0"/>
              <a:t>An Application Use-Case diagram displays the relationships between consumers and providers of application services. Application services are consumed by actors or other application services and the Application Use-Case diagram provides added richness in describing application functionality by illustrating how and when that functionality is used.</a:t>
            </a:r>
          </a:p>
          <a:p>
            <a:pPr lvl="2"/>
            <a:r>
              <a:rPr lang="nl-NL" b="0" dirty="0"/>
              <a:t>The purpose of the System Use-Case diagram is to help to describe and validate the interaction between actors and their roles with applications. As the architecture progresses, the use-case can evolve from functional information to include technical realization detail.</a:t>
            </a:r>
          </a:p>
          <a:p>
            <a:pPr lvl="2"/>
            <a:r>
              <a:rPr lang="nl-NL" b="0" dirty="0"/>
              <a:t>Application use-cases can also be re-used in more detailed systems design work.</a:t>
            </a:r>
          </a:p>
        </p:txBody>
      </p:sp>
      <p:sp>
        <p:nvSpPr>
          <p:cNvPr id="86017" name="Titel 1"/>
          <p:cNvSpPr>
            <a:spLocks noGrp="1"/>
          </p:cNvSpPr>
          <p:nvPr>
            <p:ph type="title"/>
          </p:nvPr>
        </p:nvSpPr>
        <p:spPr/>
        <p:txBody>
          <a:bodyPr/>
          <a:lstStyle/>
          <a:p>
            <a:r>
              <a:rPr lang="en-US" dirty="0"/>
              <a:t>Application Use-Case Diagram</a:t>
            </a:r>
          </a:p>
        </p:txBody>
      </p:sp>
      <p:sp>
        <p:nvSpPr>
          <p:cNvPr id="19" name="Rectangle 18"/>
          <p:cNvSpPr/>
          <p:nvPr/>
        </p:nvSpPr>
        <p:spPr>
          <a:xfrm>
            <a:off x="6389667" y="807998"/>
            <a:ext cx="2642790" cy="5681342"/>
          </a:xfrm>
          <a:prstGeom prst="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Application </a:t>
            </a:r>
            <a:r>
              <a:rPr lang="en-US" sz="800" b="1" dirty="0">
                <a:solidFill>
                  <a:schemeClr val="tx1"/>
                </a:solidFill>
              </a:rPr>
              <a:t>Architecture</a:t>
            </a:r>
          </a:p>
        </p:txBody>
      </p:sp>
      <p:sp>
        <p:nvSpPr>
          <p:cNvPr id="20" name="Rectangle 19"/>
          <p:cNvSpPr/>
          <p:nvPr/>
        </p:nvSpPr>
        <p:spPr>
          <a:xfrm>
            <a:off x="6475569" y="1027668"/>
            <a:ext cx="2470984"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Catalogs</a:t>
            </a:r>
          </a:p>
        </p:txBody>
      </p:sp>
      <p:sp>
        <p:nvSpPr>
          <p:cNvPr id="21" name="Rectangle 20"/>
          <p:cNvSpPr/>
          <p:nvPr/>
        </p:nvSpPr>
        <p:spPr>
          <a:xfrm>
            <a:off x="6475569" y="1976168"/>
            <a:ext cx="2470984" cy="144000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Matrices</a:t>
            </a:r>
            <a:endParaRPr lang="en-US" sz="800" b="1" dirty="0">
              <a:solidFill>
                <a:schemeClr val="tx1"/>
              </a:solidFill>
            </a:endParaRPr>
          </a:p>
        </p:txBody>
      </p:sp>
      <p:sp>
        <p:nvSpPr>
          <p:cNvPr id="22" name="Rectangle 21"/>
          <p:cNvSpPr/>
          <p:nvPr/>
        </p:nvSpPr>
        <p:spPr>
          <a:xfrm>
            <a:off x="6475569" y="3474207"/>
            <a:ext cx="2470984" cy="117000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Core Diagrams</a:t>
            </a:r>
            <a:endParaRPr lang="en-US" sz="800" b="1" dirty="0">
              <a:solidFill>
                <a:schemeClr val="tx1"/>
              </a:solidFill>
            </a:endParaRPr>
          </a:p>
        </p:txBody>
      </p:sp>
      <p:sp>
        <p:nvSpPr>
          <p:cNvPr id="23" name="Rectangle 22"/>
          <p:cNvSpPr/>
          <p:nvPr/>
        </p:nvSpPr>
        <p:spPr>
          <a:xfrm>
            <a:off x="6587884" y="4018684"/>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 and User Location Diagram</a:t>
            </a:r>
            <a:endParaRPr lang="en-US" sz="800" dirty="0">
              <a:solidFill>
                <a:schemeClr val="tx1"/>
              </a:solidFill>
            </a:endParaRPr>
          </a:p>
        </p:txBody>
      </p:sp>
      <p:sp>
        <p:nvSpPr>
          <p:cNvPr id="24" name="Rectangle 23"/>
          <p:cNvSpPr/>
          <p:nvPr/>
        </p:nvSpPr>
        <p:spPr>
          <a:xfrm>
            <a:off x="6475569" y="4702831"/>
            <a:ext cx="2470984" cy="1678498"/>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Extension Diagrams</a:t>
            </a:r>
          </a:p>
        </p:txBody>
      </p:sp>
      <p:sp>
        <p:nvSpPr>
          <p:cNvPr id="25" name="Rectangle 24"/>
          <p:cNvSpPr/>
          <p:nvPr/>
        </p:nvSpPr>
        <p:spPr>
          <a:xfrm>
            <a:off x="6587884" y="4922390"/>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Enterprise Manageability Diagram</a:t>
            </a:r>
            <a:endParaRPr lang="en-US" sz="800" dirty="0">
              <a:solidFill>
                <a:schemeClr val="tx1"/>
              </a:solidFill>
            </a:endParaRPr>
          </a:p>
        </p:txBody>
      </p:sp>
      <p:sp>
        <p:nvSpPr>
          <p:cNvPr id="26" name="Rectangle 25"/>
          <p:cNvSpPr/>
          <p:nvPr/>
        </p:nvSpPr>
        <p:spPr>
          <a:xfrm>
            <a:off x="6587884" y="5230296"/>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Process/Application </a:t>
            </a:r>
            <a:r>
              <a:rPr lang="en-US" sz="800" dirty="0">
                <a:solidFill>
                  <a:schemeClr val="tx1"/>
                </a:solidFill>
              </a:rPr>
              <a:t>Realization Diagram</a:t>
            </a:r>
          </a:p>
        </p:txBody>
      </p:sp>
      <p:sp>
        <p:nvSpPr>
          <p:cNvPr id="27" name="Rectangle 26"/>
          <p:cNvSpPr/>
          <p:nvPr/>
        </p:nvSpPr>
        <p:spPr>
          <a:xfrm>
            <a:off x="6587884" y="5527512"/>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Software Engineering Diagram</a:t>
            </a:r>
            <a:endParaRPr lang="en-US" sz="800" dirty="0">
              <a:solidFill>
                <a:schemeClr val="tx1"/>
              </a:solidFill>
            </a:endParaRPr>
          </a:p>
        </p:txBody>
      </p:sp>
      <p:sp>
        <p:nvSpPr>
          <p:cNvPr id="28" name="Rectangle 27"/>
          <p:cNvSpPr/>
          <p:nvPr/>
        </p:nvSpPr>
        <p:spPr>
          <a:xfrm>
            <a:off x="6594563" y="4338604"/>
            <a:ext cx="2246349" cy="238440"/>
          </a:xfrm>
          <a:prstGeom prst="rect">
            <a:avLst/>
          </a:prstGeom>
          <a:solidFill>
            <a:srgbClr val="3D7F6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rPr>
              <a:t>Application Use-Case Diagram</a:t>
            </a:r>
          </a:p>
        </p:txBody>
      </p:sp>
      <p:sp>
        <p:nvSpPr>
          <p:cNvPr id="29" name="Rectangle 28"/>
          <p:cNvSpPr/>
          <p:nvPr/>
        </p:nvSpPr>
        <p:spPr>
          <a:xfrm>
            <a:off x="6547455" y="1283568"/>
            <a:ext cx="2286778"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Application Portfolio Catalog</a:t>
            </a:r>
          </a:p>
        </p:txBody>
      </p:sp>
      <p:sp>
        <p:nvSpPr>
          <p:cNvPr id="30" name="Rectangle 29"/>
          <p:cNvSpPr/>
          <p:nvPr/>
        </p:nvSpPr>
        <p:spPr>
          <a:xfrm>
            <a:off x="6587888" y="2493158"/>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Role/Application Matrix</a:t>
            </a:r>
            <a:endParaRPr lang="en-US" sz="800" dirty="0">
              <a:solidFill>
                <a:schemeClr val="tx1"/>
              </a:solidFill>
            </a:endParaRPr>
          </a:p>
        </p:txBody>
      </p:sp>
      <p:sp>
        <p:nvSpPr>
          <p:cNvPr id="45" name="Rectangle 44"/>
          <p:cNvSpPr/>
          <p:nvPr/>
        </p:nvSpPr>
        <p:spPr>
          <a:xfrm>
            <a:off x="6594564" y="2199475"/>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Application/Organization </a:t>
            </a:r>
            <a:r>
              <a:rPr lang="en-US" sz="800" dirty="0">
                <a:solidFill>
                  <a:schemeClr val="tx1"/>
                </a:solidFill>
              </a:rPr>
              <a:t>Matrix</a:t>
            </a:r>
          </a:p>
        </p:txBody>
      </p:sp>
      <p:sp>
        <p:nvSpPr>
          <p:cNvPr id="46" name="Rectangle 45"/>
          <p:cNvSpPr/>
          <p:nvPr/>
        </p:nvSpPr>
        <p:spPr>
          <a:xfrm>
            <a:off x="6563375" y="1599744"/>
            <a:ext cx="2286778"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Interface Catalog</a:t>
            </a:r>
            <a:endParaRPr lang="en-US" sz="800" dirty="0">
              <a:solidFill>
                <a:schemeClr val="tx1"/>
              </a:solidFill>
            </a:endParaRPr>
          </a:p>
        </p:txBody>
      </p:sp>
      <p:sp>
        <p:nvSpPr>
          <p:cNvPr id="47" name="Rectangle 46"/>
          <p:cNvSpPr/>
          <p:nvPr/>
        </p:nvSpPr>
        <p:spPr>
          <a:xfrm>
            <a:off x="6604319" y="3095981"/>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 Interaction Matrix</a:t>
            </a:r>
            <a:endParaRPr lang="en-US" sz="800" dirty="0">
              <a:solidFill>
                <a:schemeClr val="tx1"/>
              </a:solidFill>
            </a:endParaRPr>
          </a:p>
        </p:txBody>
      </p:sp>
      <p:sp>
        <p:nvSpPr>
          <p:cNvPr id="48" name="Rectangle 47"/>
          <p:cNvSpPr/>
          <p:nvPr/>
        </p:nvSpPr>
        <p:spPr>
          <a:xfrm>
            <a:off x="6610995" y="2802298"/>
            <a:ext cx="2246349"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Application/Function </a:t>
            </a:r>
            <a:r>
              <a:rPr lang="en-US" sz="800" dirty="0">
                <a:solidFill>
                  <a:schemeClr val="tx1"/>
                </a:solidFill>
              </a:rPr>
              <a:t>Matrix</a:t>
            </a:r>
          </a:p>
        </p:txBody>
      </p:sp>
      <p:sp>
        <p:nvSpPr>
          <p:cNvPr id="49" name="Rectangle 48"/>
          <p:cNvSpPr/>
          <p:nvPr/>
        </p:nvSpPr>
        <p:spPr>
          <a:xfrm>
            <a:off x="6603804" y="5807713"/>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 Migration Diagram</a:t>
            </a:r>
            <a:endParaRPr lang="en-US" sz="800" dirty="0">
              <a:solidFill>
                <a:schemeClr val="tx1"/>
              </a:solidFill>
            </a:endParaRPr>
          </a:p>
        </p:txBody>
      </p:sp>
      <p:sp>
        <p:nvSpPr>
          <p:cNvPr id="50" name="Rectangle 49"/>
          <p:cNvSpPr/>
          <p:nvPr/>
        </p:nvSpPr>
        <p:spPr>
          <a:xfrm>
            <a:off x="6587888" y="6107794"/>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Software </a:t>
            </a:r>
            <a:r>
              <a:rPr lang="en-US" sz="800" dirty="0" smtClean="0">
                <a:solidFill>
                  <a:schemeClr val="tx1"/>
                </a:solidFill>
              </a:rPr>
              <a:t>Distribution </a:t>
            </a:r>
            <a:r>
              <a:rPr lang="en-US" sz="800" dirty="0">
                <a:solidFill>
                  <a:schemeClr val="tx1"/>
                </a:solidFill>
              </a:rPr>
              <a:t>Diagram</a:t>
            </a:r>
          </a:p>
        </p:txBody>
      </p:sp>
      <p:sp>
        <p:nvSpPr>
          <p:cNvPr id="51" name="Rectangle 50"/>
          <p:cNvSpPr/>
          <p:nvPr/>
        </p:nvSpPr>
        <p:spPr>
          <a:xfrm>
            <a:off x="6587884" y="3708839"/>
            <a:ext cx="2246349" cy="23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Application Communication Diagram</a:t>
            </a:r>
          </a:p>
        </p:txBody>
      </p:sp>
    </p:spTree>
    <p:extLst>
      <p:ext uri="{BB962C8B-B14F-4D97-AF65-F5344CB8AC3E}">
        <p14:creationId xmlns:p14="http://schemas.microsoft.com/office/powerpoint/2010/main" val="1062213964"/>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Application Use-Case Diagram</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4836" y="1311471"/>
            <a:ext cx="7354327" cy="4696481"/>
          </a:xfrm>
          <a:prstGeom prst="rect">
            <a:avLst/>
          </a:prstGeom>
        </p:spPr>
      </p:pic>
    </p:spTree>
    <p:extLst>
      <p:ext uri="{BB962C8B-B14F-4D97-AF65-F5344CB8AC3E}">
        <p14:creationId xmlns:p14="http://schemas.microsoft.com/office/powerpoint/2010/main" val="9036368"/>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Technology Architecture Artifacts</a:t>
            </a:r>
          </a:p>
        </p:txBody>
      </p:sp>
      <p:sp>
        <p:nvSpPr>
          <p:cNvPr id="39" name="Rectangle 38"/>
          <p:cNvSpPr/>
          <p:nvPr/>
        </p:nvSpPr>
        <p:spPr>
          <a:xfrm>
            <a:off x="3529410" y="810510"/>
            <a:ext cx="2103755" cy="5660871"/>
          </a:xfrm>
          <a:prstGeom prst="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Technology Architecture</a:t>
            </a:r>
          </a:p>
        </p:txBody>
      </p:sp>
      <p:sp>
        <p:nvSpPr>
          <p:cNvPr id="40" name="Rectangle 39"/>
          <p:cNvSpPr/>
          <p:nvPr/>
        </p:nvSpPr>
        <p:spPr>
          <a:xfrm>
            <a:off x="3597791" y="1057476"/>
            <a:ext cx="1966991"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Catalogs</a:t>
            </a:r>
          </a:p>
        </p:txBody>
      </p:sp>
      <p:sp>
        <p:nvSpPr>
          <p:cNvPr id="41" name="Rectangle 40"/>
          <p:cNvSpPr/>
          <p:nvPr/>
        </p:nvSpPr>
        <p:spPr>
          <a:xfrm>
            <a:off x="3597791" y="2065010"/>
            <a:ext cx="1966991"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Matrices</a:t>
            </a:r>
            <a:endParaRPr lang="en-US" sz="800" b="1" dirty="0">
              <a:solidFill>
                <a:schemeClr val="tx1"/>
              </a:solidFill>
            </a:endParaRPr>
          </a:p>
        </p:txBody>
      </p:sp>
      <p:sp>
        <p:nvSpPr>
          <p:cNvPr id="42" name="Rectangle 41"/>
          <p:cNvSpPr/>
          <p:nvPr/>
        </p:nvSpPr>
        <p:spPr>
          <a:xfrm>
            <a:off x="3597791" y="3072545"/>
            <a:ext cx="1966991" cy="987224"/>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Core Diagrams</a:t>
            </a:r>
            <a:endParaRPr lang="en-US" sz="800" b="1" dirty="0">
              <a:solidFill>
                <a:schemeClr val="tx1"/>
              </a:solidFill>
            </a:endParaRPr>
          </a:p>
        </p:txBody>
      </p:sp>
      <p:sp>
        <p:nvSpPr>
          <p:cNvPr id="44" name="Rectangle 43"/>
          <p:cNvSpPr/>
          <p:nvPr/>
        </p:nvSpPr>
        <p:spPr>
          <a:xfrm>
            <a:off x="3687198" y="3730608"/>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Platform Decomposition Diagram</a:t>
            </a:r>
            <a:endParaRPr lang="en-US" sz="800" dirty="0">
              <a:solidFill>
                <a:schemeClr val="tx1"/>
              </a:solidFill>
            </a:endParaRPr>
          </a:p>
        </p:txBody>
      </p:sp>
      <p:sp>
        <p:nvSpPr>
          <p:cNvPr id="48" name="Rectangle 47"/>
          <p:cNvSpPr/>
          <p:nvPr/>
        </p:nvSpPr>
        <p:spPr>
          <a:xfrm>
            <a:off x="3597791" y="4342555"/>
            <a:ext cx="1966991" cy="140209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Extension Diagrams</a:t>
            </a:r>
          </a:p>
        </p:txBody>
      </p:sp>
      <p:sp>
        <p:nvSpPr>
          <p:cNvPr id="49" name="Rectangle 48"/>
          <p:cNvSpPr/>
          <p:nvPr/>
        </p:nvSpPr>
        <p:spPr>
          <a:xfrm>
            <a:off x="3687198" y="4571159"/>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Processing Diagram</a:t>
            </a:r>
          </a:p>
        </p:txBody>
      </p:sp>
      <p:sp>
        <p:nvSpPr>
          <p:cNvPr id="50" name="Rectangle 49"/>
          <p:cNvSpPr/>
          <p:nvPr/>
        </p:nvSpPr>
        <p:spPr>
          <a:xfrm>
            <a:off x="3687198" y="4882080"/>
            <a:ext cx="1788174" cy="33280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Networked Computing/ </a:t>
            </a:r>
            <a:br>
              <a:rPr lang="en-US" sz="800" dirty="0">
                <a:solidFill>
                  <a:schemeClr val="tx1"/>
                </a:solidFill>
              </a:rPr>
            </a:br>
            <a:r>
              <a:rPr lang="en-US" sz="800" dirty="0">
                <a:solidFill>
                  <a:schemeClr val="tx1"/>
                </a:solidFill>
              </a:rPr>
              <a:t>Hardware Diagram</a:t>
            </a:r>
          </a:p>
        </p:txBody>
      </p:sp>
      <p:sp>
        <p:nvSpPr>
          <p:cNvPr id="51" name="Rectangle 50"/>
          <p:cNvSpPr/>
          <p:nvPr/>
        </p:nvSpPr>
        <p:spPr>
          <a:xfrm>
            <a:off x="3597791" y="5939218"/>
            <a:ext cx="1966991" cy="450122"/>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800" dirty="0">
              <a:solidFill>
                <a:schemeClr val="tx1"/>
              </a:solidFill>
            </a:endParaRPr>
          </a:p>
        </p:txBody>
      </p:sp>
      <p:sp>
        <p:nvSpPr>
          <p:cNvPr id="52" name="Rectangle 51"/>
          <p:cNvSpPr/>
          <p:nvPr/>
        </p:nvSpPr>
        <p:spPr>
          <a:xfrm>
            <a:off x="3687198" y="6044378"/>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Benefits Diagram</a:t>
            </a:r>
            <a:endParaRPr lang="en-US" sz="800" dirty="0">
              <a:solidFill>
                <a:schemeClr val="tx1"/>
              </a:solidFill>
            </a:endParaRPr>
          </a:p>
        </p:txBody>
      </p:sp>
      <p:sp>
        <p:nvSpPr>
          <p:cNvPr id="53" name="Rectangle 52"/>
          <p:cNvSpPr/>
          <p:nvPr/>
        </p:nvSpPr>
        <p:spPr>
          <a:xfrm>
            <a:off x="3687198" y="5288480"/>
            <a:ext cx="1788174" cy="33280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Communications </a:t>
            </a:r>
            <a:r>
              <a:rPr lang="en-US" sz="800" dirty="0" smtClean="0">
                <a:solidFill>
                  <a:schemeClr val="tx1"/>
                </a:solidFill>
              </a:rPr>
              <a:t>Engineering Diagram</a:t>
            </a:r>
            <a:endParaRPr lang="en-US" sz="800" dirty="0">
              <a:solidFill>
                <a:schemeClr val="tx1"/>
              </a:solidFill>
            </a:endParaRPr>
          </a:p>
        </p:txBody>
      </p:sp>
      <p:sp>
        <p:nvSpPr>
          <p:cNvPr id="54" name="Rectangle 53"/>
          <p:cNvSpPr/>
          <p:nvPr/>
        </p:nvSpPr>
        <p:spPr>
          <a:xfrm>
            <a:off x="3687198" y="1286080"/>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Technology Standards Catalog</a:t>
            </a:r>
            <a:endParaRPr lang="en-US" sz="800" dirty="0">
              <a:solidFill>
                <a:schemeClr val="tx1"/>
              </a:solidFill>
            </a:endParaRPr>
          </a:p>
        </p:txBody>
      </p:sp>
      <p:sp>
        <p:nvSpPr>
          <p:cNvPr id="55" name="Rectangle 54"/>
          <p:cNvSpPr/>
          <p:nvPr/>
        </p:nvSpPr>
        <p:spPr>
          <a:xfrm>
            <a:off x="3687198" y="1597002"/>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Technology Portfolio Catalog</a:t>
            </a:r>
            <a:endParaRPr lang="en-US" sz="800" dirty="0">
              <a:solidFill>
                <a:schemeClr val="tx1"/>
              </a:solidFill>
            </a:endParaRPr>
          </a:p>
        </p:txBody>
      </p:sp>
      <p:sp>
        <p:nvSpPr>
          <p:cNvPr id="56" name="Rectangle 55"/>
          <p:cNvSpPr/>
          <p:nvPr/>
        </p:nvSpPr>
        <p:spPr>
          <a:xfrm>
            <a:off x="3687198" y="2293614"/>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Application/Technology </a:t>
            </a:r>
            <a:r>
              <a:rPr lang="en-US" sz="800" dirty="0">
                <a:solidFill>
                  <a:schemeClr val="tx1"/>
                </a:solidFill>
              </a:rPr>
              <a:t>Matrix</a:t>
            </a:r>
          </a:p>
        </p:txBody>
      </p:sp>
      <p:sp>
        <p:nvSpPr>
          <p:cNvPr id="57" name="Rectangle 56"/>
          <p:cNvSpPr/>
          <p:nvPr/>
        </p:nvSpPr>
        <p:spPr>
          <a:xfrm>
            <a:off x="3687198" y="3301147"/>
            <a:ext cx="1788174" cy="33979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Environments and Locations Diagram</a:t>
            </a:r>
          </a:p>
        </p:txBody>
      </p:sp>
      <p:sp>
        <p:nvSpPr>
          <p:cNvPr id="19" name="Rectangle 18"/>
          <p:cNvSpPr/>
          <p:nvPr/>
        </p:nvSpPr>
        <p:spPr>
          <a:xfrm>
            <a:off x="2821" y="6265333"/>
            <a:ext cx="2962671" cy="230832"/>
          </a:xfrm>
          <a:prstGeom prst="rect">
            <a:avLst/>
          </a:prstGeom>
        </p:spPr>
        <p:txBody>
          <a:bodyPr wrap="none">
            <a:spAutoFit/>
          </a:bodyPr>
          <a:lstStyle/>
          <a:p>
            <a:r>
              <a:rPr lang="en-IN" sz="900" dirty="0"/>
              <a:t>Source: </a:t>
            </a:r>
            <a:r>
              <a:rPr lang="en-IN" sz="900" i="1" dirty="0"/>
              <a:t>TOGAF</a:t>
            </a:r>
            <a:r>
              <a:rPr lang="en-IN" sz="900" i="1" baseline="30000" dirty="0"/>
              <a:t>®</a:t>
            </a:r>
            <a:r>
              <a:rPr lang="en-IN" sz="900" i="1" dirty="0"/>
              <a:t> Version 9.1</a:t>
            </a:r>
            <a:r>
              <a:rPr lang="en-IN" sz="900" dirty="0"/>
              <a:t>, The Open Group, </a:t>
            </a:r>
            <a:r>
              <a:rPr lang="en-IN" sz="900" dirty="0" smtClean="0"/>
              <a:t>2011</a:t>
            </a:r>
            <a:endParaRPr lang="en-IN" sz="900" dirty="0"/>
          </a:p>
        </p:txBody>
      </p:sp>
    </p:spTree>
    <p:extLst>
      <p:ext uri="{BB962C8B-B14F-4D97-AF65-F5344CB8AC3E}">
        <p14:creationId xmlns:p14="http://schemas.microsoft.com/office/powerpoint/2010/main" val="3032653311"/>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jdelijke aanduiding voor inhoud 2"/>
          <p:cNvSpPr>
            <a:spLocks noGrp="1"/>
          </p:cNvSpPr>
          <p:nvPr>
            <p:ph idx="1"/>
          </p:nvPr>
        </p:nvSpPr>
        <p:spPr>
          <a:xfrm>
            <a:off x="457511" y="987990"/>
            <a:ext cx="6105214" cy="5312141"/>
          </a:xfrm>
        </p:spPr>
        <p:txBody>
          <a:bodyPr>
            <a:noAutofit/>
          </a:bodyPr>
          <a:lstStyle/>
          <a:p>
            <a:r>
              <a:rPr lang="nl-NL" sz="1800" b="0" dirty="0"/>
              <a:t>Technology Standards Catalog</a:t>
            </a:r>
          </a:p>
          <a:p>
            <a:pPr lvl="2"/>
            <a:r>
              <a:rPr lang="nl-NL" b="0" dirty="0"/>
              <a:t>The Technology Standards catalog documents the agreed standards for technology across the enterprise covering technologies, and versions, the technology lifecycles, and the refresh cycles for the technology.</a:t>
            </a:r>
          </a:p>
          <a:p>
            <a:pPr lvl="2"/>
            <a:r>
              <a:rPr lang="nl-NL" b="0" dirty="0"/>
              <a:t>Depending upon the organization, this may also include location or business domain-specific standards information.</a:t>
            </a:r>
          </a:p>
          <a:p>
            <a:pPr lvl="2"/>
            <a:r>
              <a:rPr lang="nl-NL" b="0" dirty="0"/>
              <a:t>This catalog provides a snapshot of the enterprise standard technologies that are or can be deployed, and also helps identify the discrepancies across the enterprise.</a:t>
            </a:r>
          </a:p>
          <a:p>
            <a:pPr lvl="2"/>
            <a:r>
              <a:rPr lang="nl-NL" b="0" dirty="0"/>
              <a:t>If technology standards are currently in place, apply these to the Technology Portfolio catalog to gain a baseline view of compliance with technology standards.</a:t>
            </a:r>
          </a:p>
        </p:txBody>
      </p:sp>
      <p:sp>
        <p:nvSpPr>
          <p:cNvPr id="86017" name="Titel 1"/>
          <p:cNvSpPr>
            <a:spLocks noGrp="1"/>
          </p:cNvSpPr>
          <p:nvPr>
            <p:ph type="title"/>
          </p:nvPr>
        </p:nvSpPr>
        <p:spPr/>
        <p:txBody>
          <a:bodyPr/>
          <a:lstStyle/>
          <a:p>
            <a:r>
              <a:rPr lang="en-US" dirty="0"/>
              <a:t>Environments and Locations Diagram</a:t>
            </a:r>
          </a:p>
        </p:txBody>
      </p:sp>
      <p:sp>
        <p:nvSpPr>
          <p:cNvPr id="32" name="Rectangle 31"/>
          <p:cNvSpPr/>
          <p:nvPr/>
        </p:nvSpPr>
        <p:spPr>
          <a:xfrm>
            <a:off x="6941778" y="821553"/>
            <a:ext cx="2103755" cy="5660871"/>
          </a:xfrm>
          <a:prstGeom prst="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Technology Architecture</a:t>
            </a:r>
          </a:p>
        </p:txBody>
      </p:sp>
      <p:sp>
        <p:nvSpPr>
          <p:cNvPr id="33" name="Rectangle 32"/>
          <p:cNvSpPr/>
          <p:nvPr/>
        </p:nvSpPr>
        <p:spPr>
          <a:xfrm>
            <a:off x="7010159" y="1068519"/>
            <a:ext cx="1966991"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Catalogs</a:t>
            </a:r>
          </a:p>
        </p:txBody>
      </p:sp>
      <p:sp>
        <p:nvSpPr>
          <p:cNvPr id="34" name="Rectangle 33"/>
          <p:cNvSpPr/>
          <p:nvPr/>
        </p:nvSpPr>
        <p:spPr>
          <a:xfrm>
            <a:off x="7010159" y="2076053"/>
            <a:ext cx="1966991"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Matrices</a:t>
            </a:r>
            <a:endParaRPr lang="en-US" sz="800" b="1" dirty="0">
              <a:solidFill>
                <a:schemeClr val="tx1"/>
              </a:solidFill>
            </a:endParaRPr>
          </a:p>
        </p:txBody>
      </p:sp>
      <p:sp>
        <p:nvSpPr>
          <p:cNvPr id="35" name="Rectangle 34"/>
          <p:cNvSpPr/>
          <p:nvPr/>
        </p:nvSpPr>
        <p:spPr>
          <a:xfrm>
            <a:off x="7010159" y="3083588"/>
            <a:ext cx="1966991" cy="987224"/>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Core Diagrams</a:t>
            </a:r>
            <a:endParaRPr lang="en-US" sz="800" b="1" dirty="0">
              <a:solidFill>
                <a:schemeClr val="tx1"/>
              </a:solidFill>
            </a:endParaRPr>
          </a:p>
        </p:txBody>
      </p:sp>
      <p:sp>
        <p:nvSpPr>
          <p:cNvPr id="36" name="Rectangle 35"/>
          <p:cNvSpPr/>
          <p:nvPr/>
        </p:nvSpPr>
        <p:spPr>
          <a:xfrm>
            <a:off x="7099566" y="3741651"/>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Platform Decomposition Diagram</a:t>
            </a:r>
            <a:endParaRPr lang="en-US" sz="800" dirty="0">
              <a:solidFill>
                <a:schemeClr val="tx1"/>
              </a:solidFill>
            </a:endParaRPr>
          </a:p>
        </p:txBody>
      </p:sp>
      <p:sp>
        <p:nvSpPr>
          <p:cNvPr id="37" name="Rectangle 36"/>
          <p:cNvSpPr/>
          <p:nvPr/>
        </p:nvSpPr>
        <p:spPr>
          <a:xfrm>
            <a:off x="7010159" y="4353598"/>
            <a:ext cx="1966991" cy="140209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Extension Diagrams</a:t>
            </a:r>
          </a:p>
        </p:txBody>
      </p:sp>
      <p:sp>
        <p:nvSpPr>
          <p:cNvPr id="38" name="Rectangle 37"/>
          <p:cNvSpPr/>
          <p:nvPr/>
        </p:nvSpPr>
        <p:spPr>
          <a:xfrm>
            <a:off x="7099566" y="4582202"/>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Processing Diagram</a:t>
            </a:r>
          </a:p>
        </p:txBody>
      </p:sp>
      <p:sp>
        <p:nvSpPr>
          <p:cNvPr id="39" name="Rectangle 38"/>
          <p:cNvSpPr/>
          <p:nvPr/>
        </p:nvSpPr>
        <p:spPr>
          <a:xfrm>
            <a:off x="7099566" y="4893123"/>
            <a:ext cx="1788174" cy="33280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Networked Computing/ </a:t>
            </a:r>
            <a:br>
              <a:rPr lang="en-US" sz="800" dirty="0">
                <a:solidFill>
                  <a:schemeClr val="tx1"/>
                </a:solidFill>
              </a:rPr>
            </a:br>
            <a:r>
              <a:rPr lang="en-US" sz="800" dirty="0">
                <a:solidFill>
                  <a:schemeClr val="tx1"/>
                </a:solidFill>
              </a:rPr>
              <a:t>Hardware Diagram</a:t>
            </a:r>
          </a:p>
        </p:txBody>
      </p:sp>
      <p:sp>
        <p:nvSpPr>
          <p:cNvPr id="40" name="Rectangle 39"/>
          <p:cNvSpPr/>
          <p:nvPr/>
        </p:nvSpPr>
        <p:spPr>
          <a:xfrm>
            <a:off x="7010159" y="5950261"/>
            <a:ext cx="1966991" cy="450122"/>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800" dirty="0">
              <a:solidFill>
                <a:schemeClr val="tx1"/>
              </a:solidFill>
            </a:endParaRPr>
          </a:p>
        </p:txBody>
      </p:sp>
      <p:sp>
        <p:nvSpPr>
          <p:cNvPr id="41" name="Rectangle 40"/>
          <p:cNvSpPr/>
          <p:nvPr/>
        </p:nvSpPr>
        <p:spPr>
          <a:xfrm>
            <a:off x="7099566" y="6055421"/>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Benefits Diagram</a:t>
            </a:r>
            <a:endParaRPr lang="en-US" sz="800" dirty="0">
              <a:solidFill>
                <a:schemeClr val="tx1"/>
              </a:solidFill>
            </a:endParaRPr>
          </a:p>
        </p:txBody>
      </p:sp>
      <p:sp>
        <p:nvSpPr>
          <p:cNvPr id="42" name="Rectangle 41"/>
          <p:cNvSpPr/>
          <p:nvPr/>
        </p:nvSpPr>
        <p:spPr>
          <a:xfrm>
            <a:off x="7099566" y="5299523"/>
            <a:ext cx="1788174" cy="33280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Communications </a:t>
            </a:r>
            <a:r>
              <a:rPr lang="en-US" sz="800" dirty="0" smtClean="0">
                <a:solidFill>
                  <a:schemeClr val="tx1"/>
                </a:solidFill>
              </a:rPr>
              <a:t>Engineering Diagram</a:t>
            </a:r>
            <a:endParaRPr lang="en-US" sz="800" dirty="0">
              <a:solidFill>
                <a:schemeClr val="tx1"/>
              </a:solidFill>
            </a:endParaRPr>
          </a:p>
        </p:txBody>
      </p:sp>
      <p:sp>
        <p:nvSpPr>
          <p:cNvPr id="43" name="Rectangle 42"/>
          <p:cNvSpPr/>
          <p:nvPr/>
        </p:nvSpPr>
        <p:spPr>
          <a:xfrm>
            <a:off x="7099566" y="1297123"/>
            <a:ext cx="1788174" cy="238440"/>
          </a:xfrm>
          <a:prstGeom prst="rect">
            <a:avLst/>
          </a:prstGeom>
          <a:solidFill>
            <a:srgbClr val="3D7F6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rPr>
              <a:t>Technology Standards Catalog</a:t>
            </a:r>
          </a:p>
        </p:txBody>
      </p:sp>
      <p:sp>
        <p:nvSpPr>
          <p:cNvPr id="44" name="Rectangle 43"/>
          <p:cNvSpPr/>
          <p:nvPr/>
        </p:nvSpPr>
        <p:spPr>
          <a:xfrm>
            <a:off x="7099566" y="1608045"/>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Technology Portfolio Catalog</a:t>
            </a:r>
            <a:endParaRPr lang="en-US" sz="800" dirty="0">
              <a:solidFill>
                <a:schemeClr val="tx1"/>
              </a:solidFill>
            </a:endParaRPr>
          </a:p>
        </p:txBody>
      </p:sp>
      <p:sp>
        <p:nvSpPr>
          <p:cNvPr id="52" name="Rectangle 51"/>
          <p:cNvSpPr/>
          <p:nvPr/>
        </p:nvSpPr>
        <p:spPr>
          <a:xfrm>
            <a:off x="7099566" y="2304657"/>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Application/Technology </a:t>
            </a:r>
            <a:r>
              <a:rPr lang="en-US" sz="800" dirty="0">
                <a:solidFill>
                  <a:schemeClr val="tx1"/>
                </a:solidFill>
              </a:rPr>
              <a:t>Matrix</a:t>
            </a:r>
          </a:p>
        </p:txBody>
      </p:sp>
      <p:sp>
        <p:nvSpPr>
          <p:cNvPr id="53" name="Rectangle 52"/>
          <p:cNvSpPr/>
          <p:nvPr/>
        </p:nvSpPr>
        <p:spPr>
          <a:xfrm>
            <a:off x="7099566" y="3312190"/>
            <a:ext cx="1788174" cy="33979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Environments and Locations Diagram</a:t>
            </a:r>
          </a:p>
        </p:txBody>
      </p:sp>
    </p:spTree>
    <p:extLst>
      <p:ext uri="{BB962C8B-B14F-4D97-AF65-F5344CB8AC3E}">
        <p14:creationId xmlns:p14="http://schemas.microsoft.com/office/powerpoint/2010/main" val="3574029018"/>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Technology Standards Catalog</a:t>
            </a:r>
          </a:p>
        </p:txBody>
      </p:sp>
      <p:graphicFrame>
        <p:nvGraphicFramePr>
          <p:cNvPr id="5" name="Table 4"/>
          <p:cNvGraphicFramePr>
            <a:graphicFrameLocks noGrp="1"/>
          </p:cNvGraphicFramePr>
          <p:nvPr>
            <p:extLst>
              <p:ext uri="{D42A27DB-BD31-4B8C-83A1-F6EECF244321}">
                <p14:modId xmlns:p14="http://schemas.microsoft.com/office/powerpoint/2010/main" val="2182434140"/>
              </p:ext>
            </p:extLst>
          </p:nvPr>
        </p:nvGraphicFramePr>
        <p:xfrm>
          <a:off x="569913" y="1135063"/>
          <a:ext cx="8211686" cy="3563913"/>
        </p:xfrm>
        <a:graphic>
          <a:graphicData uri="http://schemas.openxmlformats.org/drawingml/2006/table">
            <a:tbl>
              <a:tblPr firstRow="1" bandRow="1">
                <a:tableStyleId>{ED083AE6-46FA-4A59-8FB0-9F97EB10719F}</a:tableStyleId>
              </a:tblPr>
              <a:tblGrid>
                <a:gridCol w="2689947"/>
                <a:gridCol w="5521739"/>
              </a:tblGrid>
              <a:tr h="450572">
                <a:tc>
                  <a:txBody>
                    <a:bodyPr/>
                    <a:lstStyle/>
                    <a:p>
                      <a:r>
                        <a:rPr lang="en-US" sz="1200" dirty="0">
                          <a:ln>
                            <a:noFill/>
                          </a:ln>
                          <a:solidFill>
                            <a:schemeClr val="bg1"/>
                          </a:solidFill>
                        </a:rPr>
                        <a:t>Technology</a:t>
                      </a:r>
                    </a:p>
                  </a:txBody>
                  <a:tcPr marL="90000" marR="90000" marT="90000" marB="9000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D7F64"/>
                    </a:solidFill>
                  </a:tcPr>
                </a:tc>
                <a:tc>
                  <a:txBody>
                    <a:bodyPr/>
                    <a:lstStyle/>
                    <a:p>
                      <a:pPr marL="88900" indent="-88900" algn="l"/>
                      <a:r>
                        <a:rPr lang="en-US" sz="1200" dirty="0" smtClean="0">
                          <a:ln>
                            <a:noFill/>
                          </a:ln>
                          <a:solidFill>
                            <a:schemeClr val="bg1"/>
                          </a:solidFill>
                        </a:rPr>
                        <a:t>Area of application</a:t>
                      </a:r>
                      <a:endParaRPr lang="en-US" sz="1200" dirty="0">
                        <a:ln>
                          <a:noFill/>
                        </a:ln>
                        <a:solidFill>
                          <a:schemeClr val="bg1"/>
                        </a:solidFill>
                      </a:endParaRPr>
                    </a:p>
                  </a:txBody>
                  <a:tcPr marL="90000" marR="90000" marT="90000" marB="9000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D7F64"/>
                    </a:solidFill>
                  </a:tcPr>
                </a:tc>
              </a:tr>
              <a:tr h="516057">
                <a:tc>
                  <a:txBody>
                    <a:bodyPr/>
                    <a:lstStyle/>
                    <a:p>
                      <a:r>
                        <a:rPr lang="en-US" sz="1200" dirty="0" smtClean="0"/>
                        <a:t>Java</a:t>
                      </a:r>
                      <a:endParaRPr lang="en-US" sz="1200" dirty="0"/>
                    </a:p>
                  </a:txBody>
                  <a:tcPr marL="90000" marR="90000" marT="90000" marB="9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nl-NL" sz="1200" kern="1200" dirty="0">
                          <a:solidFill>
                            <a:schemeClr val="tx1"/>
                          </a:solidFill>
                          <a:effectLst/>
                          <a:latin typeface="+mn-lt"/>
                          <a:ea typeface="+mn-ea"/>
                          <a:cs typeface="+mn-cs"/>
                        </a:rPr>
                        <a:t>Programming language</a:t>
                      </a:r>
                      <a:r>
                        <a:rPr lang="nl-NL" sz="1200" kern="1200" baseline="0" dirty="0">
                          <a:solidFill>
                            <a:schemeClr val="tx1"/>
                          </a:solidFill>
                          <a:effectLst/>
                          <a:latin typeface="+mn-lt"/>
                          <a:ea typeface="+mn-ea"/>
                          <a:cs typeface="+mn-cs"/>
                        </a:rPr>
                        <a:t> for custom-built back-office applications.</a:t>
                      </a:r>
                      <a:endParaRPr lang="en-US" sz="1200" dirty="0"/>
                    </a:p>
                  </a:txBody>
                  <a:tcPr marL="90000" marR="90000" marT="90000" marB="9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09652">
                <a:tc>
                  <a:txBody>
                    <a:bodyPr/>
                    <a:lstStyle/>
                    <a:p>
                      <a:r>
                        <a:rPr lang="en-US" sz="1200" dirty="0" smtClean="0"/>
                        <a:t>IBM WebSphere Application Server</a:t>
                      </a:r>
                      <a:endParaRPr lang="en-US" sz="1200" dirty="0"/>
                    </a:p>
                  </a:txBody>
                  <a:tcPr marL="90000" marR="90000" marT="90000" marB="9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kern="1200" dirty="0">
                          <a:solidFill>
                            <a:schemeClr val="tx1"/>
                          </a:solidFill>
                          <a:effectLst/>
                          <a:latin typeface="+mn-lt"/>
                          <a:ea typeface="+mn-ea"/>
                          <a:cs typeface="+mn-cs"/>
                        </a:rPr>
                        <a:t>Application</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server</a:t>
                      </a:r>
                      <a:r>
                        <a:rPr lang="en-US" sz="1200" kern="1200" baseline="0" dirty="0">
                          <a:solidFill>
                            <a:schemeClr val="tx1"/>
                          </a:solidFill>
                          <a:effectLst/>
                          <a:latin typeface="+mn-lt"/>
                          <a:ea typeface="+mn-ea"/>
                          <a:cs typeface="+mn-cs"/>
                        </a:rPr>
                        <a:t> for all custom-built back-office applications.</a:t>
                      </a:r>
                      <a:endParaRPr lang="en-US" sz="1200" dirty="0"/>
                    </a:p>
                  </a:txBody>
                  <a:tcPr marL="90000" marR="90000" marT="90000" marB="9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62366">
                <a:tc>
                  <a:txBody>
                    <a:bodyPr/>
                    <a:lstStyle/>
                    <a:p>
                      <a:r>
                        <a:rPr lang="en-US" sz="1200" kern="1200" dirty="0">
                          <a:solidFill>
                            <a:schemeClr val="tx1"/>
                          </a:solidFill>
                          <a:effectLst/>
                          <a:latin typeface="+mn-lt"/>
                          <a:ea typeface="+mn-ea"/>
                          <a:cs typeface="+mn-cs"/>
                        </a:rPr>
                        <a:t>IBM DB2</a:t>
                      </a:r>
                      <a:endParaRPr lang="en-US" sz="1200" dirty="0"/>
                    </a:p>
                  </a:txBody>
                  <a:tcPr marL="90000" marR="90000" marT="90000" marB="9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r>
                        <a:rPr lang="en-US" sz="1200" kern="1200" dirty="0">
                          <a:solidFill>
                            <a:schemeClr val="tx1"/>
                          </a:solidFill>
                          <a:effectLst/>
                          <a:latin typeface="+mn-lt"/>
                          <a:ea typeface="+mn-ea"/>
                          <a:cs typeface="+mn-cs"/>
                        </a:rPr>
                        <a:t>Database server for all back-office applications.</a:t>
                      </a:r>
                      <a:endParaRPr lang="nl-NL" sz="1200" kern="1200" dirty="0">
                        <a:solidFill>
                          <a:schemeClr val="tx1"/>
                        </a:solidFill>
                        <a:effectLst/>
                        <a:latin typeface="+mn-lt"/>
                        <a:ea typeface="+mn-ea"/>
                        <a:cs typeface="+mn-cs"/>
                      </a:endParaRPr>
                    </a:p>
                  </a:txBody>
                  <a:tcPr marL="90000" marR="90000" marT="90000" marB="9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8708">
                <a:tc>
                  <a:txBody>
                    <a:bodyPr/>
                    <a:lstStyle/>
                    <a:p>
                      <a:r>
                        <a:rPr lang="nl-NL" sz="1200" kern="1200" dirty="0">
                          <a:solidFill>
                            <a:schemeClr val="tx1"/>
                          </a:solidFill>
                          <a:effectLst/>
                          <a:latin typeface="+mn-lt"/>
                          <a:ea typeface="+mn-ea"/>
                          <a:cs typeface="+mn-cs"/>
                        </a:rPr>
                        <a:t>Microsoft</a:t>
                      </a:r>
                      <a:r>
                        <a:rPr lang="nl-NL" sz="1200" kern="1200" baseline="0" dirty="0">
                          <a:solidFill>
                            <a:schemeClr val="tx1"/>
                          </a:solidFill>
                          <a:effectLst/>
                          <a:latin typeface="+mn-lt"/>
                          <a:ea typeface="+mn-ea"/>
                          <a:cs typeface="+mn-cs"/>
                        </a:rPr>
                        <a:t> .NET</a:t>
                      </a:r>
                      <a:endParaRPr lang="en-US" sz="1200" dirty="0"/>
                    </a:p>
                  </a:txBody>
                  <a:tcPr marL="90000" marR="90000" marT="90000" marB="9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nl-NL" sz="1200" kern="1200" dirty="0">
                          <a:solidFill>
                            <a:schemeClr val="tx1"/>
                          </a:solidFill>
                          <a:effectLst/>
                          <a:latin typeface="+mn-lt"/>
                          <a:ea typeface="+mn-ea"/>
                          <a:cs typeface="+mn-cs"/>
                        </a:rPr>
                        <a:t>Application server for all custom-built front-office applications.</a:t>
                      </a:r>
                      <a:endParaRPr lang="en-US" sz="1200" dirty="0"/>
                    </a:p>
                  </a:txBody>
                  <a:tcPr marL="90000" marR="90000" marT="90000" marB="9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59774">
                <a:tc>
                  <a:txBody>
                    <a:bodyPr/>
                    <a:lstStyle/>
                    <a:p>
                      <a:r>
                        <a:rPr lang="nl-NL" sz="1200" kern="1200">
                          <a:solidFill>
                            <a:schemeClr val="tx1"/>
                          </a:solidFill>
                          <a:effectLst/>
                          <a:latin typeface="+mn-lt"/>
                          <a:ea typeface="+mn-ea"/>
                          <a:cs typeface="+mn-cs"/>
                        </a:rPr>
                        <a:t>Microsoft SQL Server</a:t>
                      </a:r>
                      <a:endParaRPr lang="en-US" sz="1200" dirty="0"/>
                    </a:p>
                  </a:txBody>
                  <a:tcPr marL="90000" marR="90000" marT="90000" marB="9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nl-NL" sz="1200" kern="1200" dirty="0">
                          <a:solidFill>
                            <a:schemeClr val="tx1"/>
                          </a:solidFill>
                          <a:effectLst/>
                          <a:latin typeface="+mn-lt"/>
                          <a:ea typeface="+mn-ea"/>
                          <a:cs typeface="+mn-cs"/>
                        </a:rPr>
                        <a:t>Database</a:t>
                      </a:r>
                      <a:r>
                        <a:rPr lang="nl-NL" sz="1200" kern="1200" baseline="0" dirty="0">
                          <a:solidFill>
                            <a:schemeClr val="tx1"/>
                          </a:solidFill>
                          <a:effectLst/>
                          <a:latin typeface="+mn-lt"/>
                          <a:ea typeface="+mn-ea"/>
                          <a:cs typeface="+mn-cs"/>
                        </a:rPr>
                        <a:t> server for all front-office applications.</a:t>
                      </a:r>
                      <a:endParaRPr lang="en-US" sz="1200" dirty="0"/>
                    </a:p>
                  </a:txBody>
                  <a:tcPr marL="90000" marR="90000" marT="90000" marB="9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98392">
                <a:tc>
                  <a:txBody>
                    <a:bodyPr/>
                    <a:lstStyle/>
                    <a:p>
                      <a:r>
                        <a:rPr lang="nl-NL" sz="1200" kern="1200">
                          <a:solidFill>
                            <a:schemeClr val="tx1"/>
                          </a:solidFill>
                          <a:effectLst/>
                          <a:latin typeface="+mn-lt"/>
                          <a:ea typeface="+mn-ea"/>
                          <a:cs typeface="+mn-cs"/>
                        </a:rPr>
                        <a:t>IBM Tivoli</a:t>
                      </a:r>
                      <a:endParaRPr lang="en-US" sz="1200" dirty="0"/>
                    </a:p>
                  </a:txBody>
                  <a:tcPr marL="90000" marR="90000" marT="90000" marB="9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nl-NL" sz="1200" kern="1200" dirty="0">
                          <a:solidFill>
                            <a:schemeClr val="tx1"/>
                          </a:solidFill>
                          <a:effectLst/>
                          <a:latin typeface="+mn-lt"/>
                          <a:ea typeface="+mn-ea"/>
                          <a:cs typeface="+mn-cs"/>
                        </a:rPr>
                        <a:t>Identity and Access management.</a:t>
                      </a:r>
                      <a:endParaRPr lang="en-US" sz="1200" dirty="0"/>
                    </a:p>
                  </a:txBody>
                  <a:tcPr marL="90000" marR="90000" marT="90000" marB="9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8392">
                <a:tc>
                  <a:txBody>
                    <a:bodyPr/>
                    <a:lstStyle/>
                    <a:p>
                      <a:r>
                        <a:rPr lang="en-US" sz="1200" dirty="0"/>
                        <a:t>Microsoft Active Directory</a:t>
                      </a:r>
                    </a:p>
                  </a:txBody>
                  <a:tcPr marL="90000" marR="90000" marT="90000" marB="9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200" dirty="0"/>
                        <a:t>Directory server for all Microsoft applications.</a:t>
                      </a:r>
                    </a:p>
                  </a:txBody>
                  <a:tcPr marL="90000" marR="90000" marT="90000" marB="9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2563730935"/>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jdelijke aanduiding voor inhoud 2"/>
          <p:cNvSpPr>
            <a:spLocks noGrp="1"/>
          </p:cNvSpPr>
          <p:nvPr>
            <p:ph idx="1"/>
          </p:nvPr>
        </p:nvSpPr>
        <p:spPr>
          <a:xfrm>
            <a:off x="457511" y="987990"/>
            <a:ext cx="5914576" cy="5312141"/>
          </a:xfrm>
        </p:spPr>
        <p:txBody>
          <a:bodyPr>
            <a:noAutofit/>
          </a:bodyPr>
          <a:lstStyle/>
          <a:p>
            <a:r>
              <a:rPr lang="nl-NL" sz="1800" b="0" dirty="0"/>
              <a:t>Environments and Locations Diagram</a:t>
            </a:r>
          </a:p>
          <a:p>
            <a:pPr lvl="2"/>
            <a:r>
              <a:rPr lang="nl-NL" b="0" dirty="0"/>
              <a:t>The Environments and Locations diagram depicts which locations host which applications, identifies what technologies and/or applications are used at which locations, and finally identifies the locations from which business users typically interact with the applications.</a:t>
            </a:r>
          </a:p>
          <a:p>
            <a:pPr lvl="2"/>
            <a:r>
              <a:rPr lang="nl-NL" b="0" dirty="0"/>
              <a:t>This diagram should also show the existence and location of different deployment environments, including non-production environments, such as development and pre production.</a:t>
            </a:r>
          </a:p>
        </p:txBody>
      </p:sp>
      <p:sp>
        <p:nvSpPr>
          <p:cNvPr id="86017" name="Titel 1"/>
          <p:cNvSpPr>
            <a:spLocks noGrp="1"/>
          </p:cNvSpPr>
          <p:nvPr>
            <p:ph type="title"/>
          </p:nvPr>
        </p:nvSpPr>
        <p:spPr/>
        <p:txBody>
          <a:bodyPr/>
          <a:lstStyle/>
          <a:p>
            <a:r>
              <a:rPr lang="en-US" dirty="0"/>
              <a:t>Environments and Locations Diagram</a:t>
            </a:r>
          </a:p>
        </p:txBody>
      </p:sp>
      <p:grpSp>
        <p:nvGrpSpPr>
          <p:cNvPr id="31" name="Group 30"/>
          <p:cNvGrpSpPr/>
          <p:nvPr/>
        </p:nvGrpSpPr>
        <p:grpSpPr>
          <a:xfrm>
            <a:off x="6941778" y="821553"/>
            <a:ext cx="2103755" cy="5660871"/>
            <a:chOff x="3529410" y="772410"/>
            <a:chExt cx="2103755" cy="5660871"/>
          </a:xfrm>
        </p:grpSpPr>
        <p:sp>
          <p:nvSpPr>
            <p:cNvPr id="32" name="Rectangle 31"/>
            <p:cNvSpPr/>
            <p:nvPr/>
          </p:nvSpPr>
          <p:spPr>
            <a:xfrm>
              <a:off x="3529410" y="772410"/>
              <a:ext cx="2103755" cy="5660871"/>
            </a:xfrm>
            <a:prstGeom prst="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Technology Architecture</a:t>
              </a:r>
            </a:p>
          </p:txBody>
        </p:sp>
        <p:sp>
          <p:nvSpPr>
            <p:cNvPr id="33" name="Rectangle 32"/>
            <p:cNvSpPr/>
            <p:nvPr/>
          </p:nvSpPr>
          <p:spPr>
            <a:xfrm>
              <a:off x="3597791" y="1019376"/>
              <a:ext cx="1966991"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Catalogs</a:t>
              </a:r>
            </a:p>
          </p:txBody>
        </p:sp>
        <p:sp>
          <p:nvSpPr>
            <p:cNvPr id="34" name="Rectangle 33"/>
            <p:cNvSpPr/>
            <p:nvPr/>
          </p:nvSpPr>
          <p:spPr>
            <a:xfrm>
              <a:off x="3597791" y="2026910"/>
              <a:ext cx="1966991"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Matrices</a:t>
              </a:r>
              <a:endParaRPr lang="en-US" sz="800" b="1" dirty="0">
                <a:solidFill>
                  <a:schemeClr val="tx1"/>
                </a:solidFill>
              </a:endParaRPr>
            </a:p>
          </p:txBody>
        </p:sp>
        <p:sp>
          <p:nvSpPr>
            <p:cNvPr id="35" name="Rectangle 34"/>
            <p:cNvSpPr/>
            <p:nvPr/>
          </p:nvSpPr>
          <p:spPr>
            <a:xfrm>
              <a:off x="3597791" y="3034445"/>
              <a:ext cx="1966991" cy="987224"/>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Core Diagrams</a:t>
              </a:r>
              <a:endParaRPr lang="en-US" sz="800" b="1" dirty="0">
                <a:solidFill>
                  <a:schemeClr val="tx1"/>
                </a:solidFill>
              </a:endParaRPr>
            </a:p>
          </p:txBody>
        </p:sp>
        <p:sp>
          <p:nvSpPr>
            <p:cNvPr id="36" name="Rectangle 35"/>
            <p:cNvSpPr/>
            <p:nvPr/>
          </p:nvSpPr>
          <p:spPr>
            <a:xfrm>
              <a:off x="3687198" y="3692508"/>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Platform Decomposition Diagram</a:t>
              </a:r>
              <a:endParaRPr lang="en-US" sz="800" dirty="0">
                <a:solidFill>
                  <a:schemeClr val="tx1"/>
                </a:solidFill>
              </a:endParaRPr>
            </a:p>
          </p:txBody>
        </p:sp>
        <p:sp>
          <p:nvSpPr>
            <p:cNvPr id="37" name="Rectangle 36"/>
            <p:cNvSpPr/>
            <p:nvPr/>
          </p:nvSpPr>
          <p:spPr>
            <a:xfrm>
              <a:off x="3597791" y="4304455"/>
              <a:ext cx="1966991" cy="140209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Extension Diagrams</a:t>
              </a:r>
            </a:p>
          </p:txBody>
        </p:sp>
        <p:sp>
          <p:nvSpPr>
            <p:cNvPr id="38" name="Rectangle 37"/>
            <p:cNvSpPr/>
            <p:nvPr/>
          </p:nvSpPr>
          <p:spPr>
            <a:xfrm>
              <a:off x="3687198" y="4533059"/>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Processing Diagram</a:t>
              </a:r>
            </a:p>
          </p:txBody>
        </p:sp>
        <p:sp>
          <p:nvSpPr>
            <p:cNvPr id="39" name="Rectangle 38"/>
            <p:cNvSpPr/>
            <p:nvPr/>
          </p:nvSpPr>
          <p:spPr>
            <a:xfrm>
              <a:off x="3687198" y="4843980"/>
              <a:ext cx="1788174" cy="33280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Networked Computing/ </a:t>
              </a:r>
              <a:br>
                <a:rPr lang="en-US" sz="800" dirty="0">
                  <a:solidFill>
                    <a:schemeClr val="tx1"/>
                  </a:solidFill>
                </a:rPr>
              </a:br>
              <a:r>
                <a:rPr lang="en-US" sz="800" dirty="0">
                  <a:solidFill>
                    <a:schemeClr val="tx1"/>
                  </a:solidFill>
                </a:rPr>
                <a:t>Hardware Diagram</a:t>
              </a:r>
            </a:p>
          </p:txBody>
        </p:sp>
        <p:sp>
          <p:nvSpPr>
            <p:cNvPr id="40" name="Rectangle 39"/>
            <p:cNvSpPr/>
            <p:nvPr/>
          </p:nvSpPr>
          <p:spPr>
            <a:xfrm>
              <a:off x="3597791" y="5901118"/>
              <a:ext cx="1966991" cy="450122"/>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800" dirty="0">
                <a:solidFill>
                  <a:schemeClr val="tx1"/>
                </a:solidFill>
              </a:endParaRPr>
            </a:p>
          </p:txBody>
        </p:sp>
        <p:sp>
          <p:nvSpPr>
            <p:cNvPr id="41" name="Rectangle 40"/>
            <p:cNvSpPr/>
            <p:nvPr/>
          </p:nvSpPr>
          <p:spPr>
            <a:xfrm>
              <a:off x="3687198" y="6006278"/>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Benefits Diagram</a:t>
              </a:r>
              <a:endParaRPr lang="en-US" sz="800" dirty="0">
                <a:solidFill>
                  <a:schemeClr val="tx1"/>
                </a:solidFill>
              </a:endParaRPr>
            </a:p>
          </p:txBody>
        </p:sp>
        <p:sp>
          <p:nvSpPr>
            <p:cNvPr id="42" name="Rectangle 41"/>
            <p:cNvSpPr/>
            <p:nvPr/>
          </p:nvSpPr>
          <p:spPr>
            <a:xfrm>
              <a:off x="3687198" y="5250380"/>
              <a:ext cx="1788174" cy="33280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Communications </a:t>
              </a:r>
              <a:r>
                <a:rPr lang="en-US" sz="800" dirty="0" smtClean="0">
                  <a:solidFill>
                    <a:schemeClr val="tx1"/>
                  </a:solidFill>
                </a:rPr>
                <a:t>Engineering Diagram</a:t>
              </a:r>
              <a:endParaRPr lang="en-US" sz="800" dirty="0">
                <a:solidFill>
                  <a:schemeClr val="tx1"/>
                </a:solidFill>
              </a:endParaRPr>
            </a:p>
          </p:txBody>
        </p:sp>
        <p:sp>
          <p:nvSpPr>
            <p:cNvPr id="43" name="Rectangle 42"/>
            <p:cNvSpPr/>
            <p:nvPr/>
          </p:nvSpPr>
          <p:spPr>
            <a:xfrm>
              <a:off x="3687198" y="1247980"/>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Technology Standards Catalog</a:t>
              </a:r>
              <a:endParaRPr lang="en-US" sz="800" dirty="0">
                <a:solidFill>
                  <a:schemeClr val="tx1"/>
                </a:solidFill>
              </a:endParaRPr>
            </a:p>
          </p:txBody>
        </p:sp>
        <p:sp>
          <p:nvSpPr>
            <p:cNvPr id="44" name="Rectangle 43"/>
            <p:cNvSpPr/>
            <p:nvPr/>
          </p:nvSpPr>
          <p:spPr>
            <a:xfrm>
              <a:off x="3687198" y="1558902"/>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Technology Portfolio Catalog</a:t>
              </a:r>
              <a:endParaRPr lang="en-US" sz="800" dirty="0">
                <a:solidFill>
                  <a:schemeClr val="tx1"/>
                </a:solidFill>
              </a:endParaRPr>
            </a:p>
          </p:txBody>
        </p:sp>
        <p:sp>
          <p:nvSpPr>
            <p:cNvPr id="52" name="Rectangle 51"/>
            <p:cNvSpPr/>
            <p:nvPr/>
          </p:nvSpPr>
          <p:spPr>
            <a:xfrm>
              <a:off x="3687198" y="2255514"/>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Application/Technology </a:t>
              </a:r>
              <a:r>
                <a:rPr lang="en-US" sz="800" dirty="0">
                  <a:solidFill>
                    <a:schemeClr val="tx1"/>
                  </a:solidFill>
                </a:rPr>
                <a:t>Matrix</a:t>
              </a:r>
            </a:p>
          </p:txBody>
        </p:sp>
      </p:grpSp>
      <p:sp>
        <p:nvSpPr>
          <p:cNvPr id="53" name="Rectangle 52"/>
          <p:cNvSpPr/>
          <p:nvPr/>
        </p:nvSpPr>
        <p:spPr>
          <a:xfrm>
            <a:off x="7099566" y="3312190"/>
            <a:ext cx="1788174" cy="339797"/>
          </a:xfrm>
          <a:prstGeom prst="rect">
            <a:avLst/>
          </a:prstGeom>
          <a:solidFill>
            <a:srgbClr val="3D7F6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rPr>
              <a:t>Environments and Locations Diagram</a:t>
            </a:r>
          </a:p>
        </p:txBody>
      </p:sp>
    </p:spTree>
    <p:extLst>
      <p:ext uri="{BB962C8B-B14F-4D97-AF65-F5344CB8AC3E}">
        <p14:creationId xmlns:p14="http://schemas.microsoft.com/office/powerpoint/2010/main" val="4052186853"/>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Environments and Locations Diagram</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39" y="1210741"/>
            <a:ext cx="8963827" cy="4833051"/>
          </a:xfrm>
          <a:prstGeom prst="rect">
            <a:avLst/>
          </a:prstGeom>
        </p:spPr>
      </p:pic>
    </p:spTree>
    <p:extLst>
      <p:ext uri="{BB962C8B-B14F-4D97-AF65-F5344CB8AC3E}">
        <p14:creationId xmlns:p14="http://schemas.microsoft.com/office/powerpoint/2010/main" val="4011353272"/>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jdelijke aanduiding voor inhoud 2"/>
          <p:cNvSpPr>
            <a:spLocks noGrp="1"/>
          </p:cNvSpPr>
          <p:nvPr>
            <p:ph idx="1"/>
          </p:nvPr>
        </p:nvSpPr>
        <p:spPr>
          <a:xfrm>
            <a:off x="457511" y="987990"/>
            <a:ext cx="5914576" cy="5312141"/>
          </a:xfrm>
        </p:spPr>
        <p:txBody>
          <a:bodyPr>
            <a:noAutofit/>
          </a:bodyPr>
          <a:lstStyle/>
          <a:p>
            <a:r>
              <a:rPr lang="nl-NL" sz="1800" b="0" dirty="0"/>
              <a:t>Platform Decomposition Diagram</a:t>
            </a:r>
          </a:p>
          <a:p>
            <a:pPr lvl="2"/>
            <a:r>
              <a:rPr lang="nl-NL" b="0" dirty="0"/>
              <a:t>The Platform Decomposition diagram depicts the technology platform that supports the operations of the Information Systems Architecture.</a:t>
            </a:r>
          </a:p>
          <a:p>
            <a:pPr lvl="2"/>
            <a:r>
              <a:rPr lang="nl-NL" b="0" dirty="0"/>
              <a:t>The diagram covers all aspects of the infrastructure platform and provides an overview of the enterprise's technology platform. </a:t>
            </a:r>
          </a:p>
          <a:p>
            <a:pPr lvl="2"/>
            <a:r>
              <a:rPr lang="nl-NL" b="0" dirty="0"/>
              <a:t>The diagram can be expanded to map the technology platform to appropriate application components within a specific functional or process area. </a:t>
            </a:r>
          </a:p>
          <a:p>
            <a:pPr lvl="2"/>
            <a:r>
              <a:rPr lang="nl-NL" b="0" dirty="0"/>
              <a:t>This diagram may show details of specification, such as product versions, number of CPUs, etc. or simply could be an informal "eye-chart" providing an overview of the technical environment.</a:t>
            </a:r>
          </a:p>
        </p:txBody>
      </p:sp>
      <p:sp>
        <p:nvSpPr>
          <p:cNvPr id="86017" name="Titel 1"/>
          <p:cNvSpPr>
            <a:spLocks noGrp="1"/>
          </p:cNvSpPr>
          <p:nvPr>
            <p:ph type="title"/>
          </p:nvPr>
        </p:nvSpPr>
        <p:spPr/>
        <p:txBody>
          <a:bodyPr/>
          <a:lstStyle/>
          <a:p>
            <a:r>
              <a:rPr lang="en-US" dirty="0"/>
              <a:t>Platform Decomposition Diagram</a:t>
            </a:r>
          </a:p>
        </p:txBody>
      </p:sp>
      <p:sp>
        <p:nvSpPr>
          <p:cNvPr id="32" name="Rectangle 31"/>
          <p:cNvSpPr/>
          <p:nvPr/>
        </p:nvSpPr>
        <p:spPr>
          <a:xfrm>
            <a:off x="6941778" y="821553"/>
            <a:ext cx="2103755" cy="5660871"/>
          </a:xfrm>
          <a:prstGeom prst="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Technology Architecture</a:t>
            </a:r>
          </a:p>
        </p:txBody>
      </p:sp>
      <p:sp>
        <p:nvSpPr>
          <p:cNvPr id="33" name="Rectangle 32"/>
          <p:cNvSpPr/>
          <p:nvPr/>
        </p:nvSpPr>
        <p:spPr>
          <a:xfrm>
            <a:off x="7010159" y="1068519"/>
            <a:ext cx="1966991"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Catalogs</a:t>
            </a:r>
          </a:p>
        </p:txBody>
      </p:sp>
      <p:sp>
        <p:nvSpPr>
          <p:cNvPr id="34" name="Rectangle 33"/>
          <p:cNvSpPr/>
          <p:nvPr/>
        </p:nvSpPr>
        <p:spPr>
          <a:xfrm>
            <a:off x="7010159" y="2076053"/>
            <a:ext cx="1966991"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Matrices</a:t>
            </a:r>
            <a:endParaRPr lang="en-US" sz="800" b="1" dirty="0">
              <a:solidFill>
                <a:schemeClr val="tx1"/>
              </a:solidFill>
            </a:endParaRPr>
          </a:p>
        </p:txBody>
      </p:sp>
      <p:sp>
        <p:nvSpPr>
          <p:cNvPr id="35" name="Rectangle 34"/>
          <p:cNvSpPr/>
          <p:nvPr/>
        </p:nvSpPr>
        <p:spPr>
          <a:xfrm>
            <a:off x="7010159" y="3083588"/>
            <a:ext cx="1966991" cy="987224"/>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Core Diagrams</a:t>
            </a:r>
            <a:endParaRPr lang="en-US" sz="800" b="1" dirty="0">
              <a:solidFill>
                <a:schemeClr val="tx1"/>
              </a:solidFill>
            </a:endParaRPr>
          </a:p>
        </p:txBody>
      </p:sp>
      <p:sp>
        <p:nvSpPr>
          <p:cNvPr id="36" name="Rectangle 35"/>
          <p:cNvSpPr/>
          <p:nvPr/>
        </p:nvSpPr>
        <p:spPr>
          <a:xfrm>
            <a:off x="7099566" y="3741651"/>
            <a:ext cx="1788174" cy="238440"/>
          </a:xfrm>
          <a:prstGeom prst="rect">
            <a:avLst/>
          </a:prstGeom>
          <a:solidFill>
            <a:srgbClr val="3D7F6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rPr>
              <a:t>Platform Decomposition Diagram</a:t>
            </a:r>
          </a:p>
        </p:txBody>
      </p:sp>
      <p:sp>
        <p:nvSpPr>
          <p:cNvPr id="37" name="Rectangle 36"/>
          <p:cNvSpPr/>
          <p:nvPr/>
        </p:nvSpPr>
        <p:spPr>
          <a:xfrm>
            <a:off x="7010159" y="4353598"/>
            <a:ext cx="1966991" cy="140209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Extension Diagrams</a:t>
            </a:r>
          </a:p>
        </p:txBody>
      </p:sp>
      <p:sp>
        <p:nvSpPr>
          <p:cNvPr id="38" name="Rectangle 37"/>
          <p:cNvSpPr/>
          <p:nvPr/>
        </p:nvSpPr>
        <p:spPr>
          <a:xfrm>
            <a:off x="7099566" y="4582202"/>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Processing Diagram</a:t>
            </a:r>
          </a:p>
        </p:txBody>
      </p:sp>
      <p:sp>
        <p:nvSpPr>
          <p:cNvPr id="39" name="Rectangle 38"/>
          <p:cNvSpPr/>
          <p:nvPr/>
        </p:nvSpPr>
        <p:spPr>
          <a:xfrm>
            <a:off x="7099566" y="4893123"/>
            <a:ext cx="1788174" cy="33280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Networked Computing/ </a:t>
            </a:r>
            <a:br>
              <a:rPr lang="en-US" sz="800" dirty="0">
                <a:solidFill>
                  <a:schemeClr val="tx1"/>
                </a:solidFill>
              </a:rPr>
            </a:br>
            <a:r>
              <a:rPr lang="en-US" sz="800" dirty="0">
                <a:solidFill>
                  <a:schemeClr val="tx1"/>
                </a:solidFill>
              </a:rPr>
              <a:t>Hardware Diagram</a:t>
            </a:r>
          </a:p>
        </p:txBody>
      </p:sp>
      <p:sp>
        <p:nvSpPr>
          <p:cNvPr id="40" name="Rectangle 39"/>
          <p:cNvSpPr/>
          <p:nvPr/>
        </p:nvSpPr>
        <p:spPr>
          <a:xfrm>
            <a:off x="7010159" y="5950261"/>
            <a:ext cx="1966991" cy="450122"/>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800" dirty="0">
              <a:solidFill>
                <a:schemeClr val="tx1"/>
              </a:solidFill>
            </a:endParaRPr>
          </a:p>
        </p:txBody>
      </p:sp>
      <p:sp>
        <p:nvSpPr>
          <p:cNvPr id="41" name="Rectangle 40"/>
          <p:cNvSpPr/>
          <p:nvPr/>
        </p:nvSpPr>
        <p:spPr>
          <a:xfrm>
            <a:off x="7099566" y="6055421"/>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Benefits Diagram</a:t>
            </a:r>
            <a:endParaRPr lang="en-US" sz="800" dirty="0">
              <a:solidFill>
                <a:schemeClr val="tx1"/>
              </a:solidFill>
            </a:endParaRPr>
          </a:p>
        </p:txBody>
      </p:sp>
      <p:sp>
        <p:nvSpPr>
          <p:cNvPr id="42" name="Rectangle 41"/>
          <p:cNvSpPr/>
          <p:nvPr/>
        </p:nvSpPr>
        <p:spPr>
          <a:xfrm>
            <a:off x="7099566" y="5299523"/>
            <a:ext cx="1788174" cy="33280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Communications </a:t>
            </a:r>
            <a:r>
              <a:rPr lang="en-US" sz="800" dirty="0" smtClean="0">
                <a:solidFill>
                  <a:schemeClr val="tx1"/>
                </a:solidFill>
              </a:rPr>
              <a:t>Engineering Diagram</a:t>
            </a:r>
            <a:endParaRPr lang="en-US" sz="800" dirty="0">
              <a:solidFill>
                <a:schemeClr val="tx1"/>
              </a:solidFill>
            </a:endParaRPr>
          </a:p>
        </p:txBody>
      </p:sp>
      <p:sp>
        <p:nvSpPr>
          <p:cNvPr id="43" name="Rectangle 42"/>
          <p:cNvSpPr/>
          <p:nvPr/>
        </p:nvSpPr>
        <p:spPr>
          <a:xfrm>
            <a:off x="7099566" y="1297123"/>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Technology Standards Catalog</a:t>
            </a:r>
            <a:endParaRPr lang="en-US" sz="800" dirty="0">
              <a:solidFill>
                <a:schemeClr val="tx1"/>
              </a:solidFill>
            </a:endParaRPr>
          </a:p>
        </p:txBody>
      </p:sp>
      <p:sp>
        <p:nvSpPr>
          <p:cNvPr id="44" name="Rectangle 43"/>
          <p:cNvSpPr/>
          <p:nvPr/>
        </p:nvSpPr>
        <p:spPr>
          <a:xfrm>
            <a:off x="7099566" y="1608045"/>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Technology Portfolio Catalog</a:t>
            </a:r>
            <a:endParaRPr lang="en-US" sz="800" dirty="0">
              <a:solidFill>
                <a:schemeClr val="tx1"/>
              </a:solidFill>
            </a:endParaRPr>
          </a:p>
        </p:txBody>
      </p:sp>
      <p:sp>
        <p:nvSpPr>
          <p:cNvPr id="52" name="Rectangle 51"/>
          <p:cNvSpPr/>
          <p:nvPr/>
        </p:nvSpPr>
        <p:spPr>
          <a:xfrm>
            <a:off x="7099566" y="2304657"/>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Application/Technology </a:t>
            </a:r>
            <a:r>
              <a:rPr lang="en-US" sz="800" dirty="0">
                <a:solidFill>
                  <a:schemeClr val="tx1"/>
                </a:solidFill>
              </a:rPr>
              <a:t>Matrix</a:t>
            </a:r>
          </a:p>
        </p:txBody>
      </p:sp>
      <p:sp>
        <p:nvSpPr>
          <p:cNvPr id="53" name="Rectangle 52"/>
          <p:cNvSpPr/>
          <p:nvPr/>
        </p:nvSpPr>
        <p:spPr>
          <a:xfrm>
            <a:off x="7099566" y="3312190"/>
            <a:ext cx="1788174" cy="33979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Environments and Locations Diagram</a:t>
            </a:r>
          </a:p>
        </p:txBody>
      </p:sp>
    </p:spTree>
    <p:extLst>
      <p:ext uri="{BB962C8B-B14F-4D97-AF65-F5344CB8AC3E}">
        <p14:creationId xmlns:p14="http://schemas.microsoft.com/office/powerpoint/2010/main" val="3957382430"/>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itle 2"/>
          <p:cNvSpPr>
            <a:spLocks noGrp="1"/>
          </p:cNvSpPr>
          <p:nvPr>
            <p:ph type="title"/>
          </p:nvPr>
        </p:nvSpPr>
        <p:spPr>
          <a:xfrm>
            <a:off x="1840902" y="389574"/>
            <a:ext cx="6425896" cy="248558"/>
          </a:xfrm>
        </p:spPr>
        <p:txBody>
          <a:bodyPr/>
          <a:lstStyle/>
          <a:p>
            <a:r>
              <a:rPr lang="en-US" dirty="0"/>
              <a:t>Platform Decomposition Diagram</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727" y="2119092"/>
            <a:ext cx="8421772" cy="3014883"/>
          </a:xfrm>
          <a:prstGeom prst="rect">
            <a:avLst/>
          </a:prstGeom>
        </p:spPr>
      </p:pic>
    </p:spTree>
    <p:extLst>
      <p:ext uri="{BB962C8B-B14F-4D97-AF65-F5344CB8AC3E}">
        <p14:creationId xmlns:p14="http://schemas.microsoft.com/office/powerpoint/2010/main" val="2567952061"/>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jdelijke aanduiding voor inhoud 2"/>
          <p:cNvSpPr>
            <a:spLocks noGrp="1"/>
          </p:cNvSpPr>
          <p:nvPr>
            <p:ph idx="1"/>
          </p:nvPr>
        </p:nvSpPr>
        <p:spPr>
          <a:xfrm>
            <a:off x="457511" y="987990"/>
            <a:ext cx="5914576" cy="5312141"/>
          </a:xfrm>
        </p:spPr>
        <p:txBody>
          <a:bodyPr>
            <a:noAutofit/>
          </a:bodyPr>
          <a:lstStyle/>
          <a:p>
            <a:r>
              <a:rPr lang="en-US" sz="1800" b="0" dirty="0"/>
              <a:t>Networked Computing/Hardware </a:t>
            </a:r>
            <a:r>
              <a:rPr lang="nl-NL" sz="1800" b="0" dirty="0"/>
              <a:t>Diagram</a:t>
            </a:r>
          </a:p>
          <a:p>
            <a:pPr lvl="2"/>
            <a:r>
              <a:rPr lang="nl-NL" b="0" dirty="0"/>
              <a:t>It is a common practice for applications to be deployed and hosted in a shared and common infrastructure environment.</a:t>
            </a:r>
          </a:p>
          <a:p>
            <a:pPr lvl="2"/>
            <a:r>
              <a:rPr lang="nl-NL" b="0" dirty="0"/>
              <a:t>So it becomes highly critical to document the mapping between logical applications and the technology components (e.g., server) that supports the application both in the development and production environments. </a:t>
            </a:r>
          </a:p>
          <a:p>
            <a:pPr lvl="2"/>
            <a:r>
              <a:rPr lang="nl-NL" b="0" dirty="0"/>
              <a:t>The purpose of this diagram is to show the "as deployed" logical view of logical application components in a distributed network computing environment.</a:t>
            </a:r>
          </a:p>
        </p:txBody>
      </p:sp>
      <p:sp>
        <p:nvSpPr>
          <p:cNvPr id="86017" name="Titel 1"/>
          <p:cNvSpPr>
            <a:spLocks noGrp="1"/>
          </p:cNvSpPr>
          <p:nvPr>
            <p:ph type="title"/>
          </p:nvPr>
        </p:nvSpPr>
        <p:spPr/>
        <p:txBody>
          <a:bodyPr/>
          <a:lstStyle/>
          <a:p>
            <a:r>
              <a:rPr lang="en-US" dirty="0"/>
              <a:t>Networked Computing/Hardware Diagram</a:t>
            </a:r>
          </a:p>
        </p:txBody>
      </p:sp>
      <p:sp>
        <p:nvSpPr>
          <p:cNvPr id="32" name="Rectangle 31"/>
          <p:cNvSpPr/>
          <p:nvPr/>
        </p:nvSpPr>
        <p:spPr>
          <a:xfrm>
            <a:off x="6941778" y="821553"/>
            <a:ext cx="2103755" cy="5660871"/>
          </a:xfrm>
          <a:prstGeom prst="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Technology Architecture</a:t>
            </a:r>
          </a:p>
        </p:txBody>
      </p:sp>
      <p:sp>
        <p:nvSpPr>
          <p:cNvPr id="33" name="Rectangle 32"/>
          <p:cNvSpPr/>
          <p:nvPr/>
        </p:nvSpPr>
        <p:spPr>
          <a:xfrm>
            <a:off x="7010159" y="1068519"/>
            <a:ext cx="1966991"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Catalogs</a:t>
            </a:r>
          </a:p>
        </p:txBody>
      </p:sp>
      <p:sp>
        <p:nvSpPr>
          <p:cNvPr id="34" name="Rectangle 33"/>
          <p:cNvSpPr/>
          <p:nvPr/>
        </p:nvSpPr>
        <p:spPr>
          <a:xfrm>
            <a:off x="7010159" y="2076053"/>
            <a:ext cx="1966991"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Matrices</a:t>
            </a:r>
            <a:endParaRPr lang="en-US" sz="800" b="1" dirty="0">
              <a:solidFill>
                <a:schemeClr val="tx1"/>
              </a:solidFill>
            </a:endParaRPr>
          </a:p>
        </p:txBody>
      </p:sp>
      <p:sp>
        <p:nvSpPr>
          <p:cNvPr id="35" name="Rectangle 34"/>
          <p:cNvSpPr/>
          <p:nvPr/>
        </p:nvSpPr>
        <p:spPr>
          <a:xfrm>
            <a:off x="7010159" y="3083588"/>
            <a:ext cx="1966991" cy="987224"/>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Core Diagrams</a:t>
            </a:r>
            <a:endParaRPr lang="en-US" sz="800" b="1" dirty="0">
              <a:solidFill>
                <a:schemeClr val="tx1"/>
              </a:solidFill>
            </a:endParaRPr>
          </a:p>
        </p:txBody>
      </p:sp>
      <p:sp>
        <p:nvSpPr>
          <p:cNvPr id="36" name="Rectangle 35"/>
          <p:cNvSpPr/>
          <p:nvPr/>
        </p:nvSpPr>
        <p:spPr>
          <a:xfrm>
            <a:off x="7099566" y="3741651"/>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Platform Decomposition Diagram</a:t>
            </a:r>
          </a:p>
        </p:txBody>
      </p:sp>
      <p:sp>
        <p:nvSpPr>
          <p:cNvPr id="37" name="Rectangle 36"/>
          <p:cNvSpPr/>
          <p:nvPr/>
        </p:nvSpPr>
        <p:spPr>
          <a:xfrm>
            <a:off x="7010159" y="4353598"/>
            <a:ext cx="1966991" cy="140209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Extension Diagrams</a:t>
            </a:r>
          </a:p>
        </p:txBody>
      </p:sp>
      <p:sp>
        <p:nvSpPr>
          <p:cNvPr id="38" name="Rectangle 37"/>
          <p:cNvSpPr/>
          <p:nvPr/>
        </p:nvSpPr>
        <p:spPr>
          <a:xfrm>
            <a:off x="7099566" y="4582202"/>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Processing Diagram</a:t>
            </a:r>
          </a:p>
        </p:txBody>
      </p:sp>
      <p:sp>
        <p:nvSpPr>
          <p:cNvPr id="39" name="Rectangle 38"/>
          <p:cNvSpPr/>
          <p:nvPr/>
        </p:nvSpPr>
        <p:spPr>
          <a:xfrm>
            <a:off x="7099566" y="4893123"/>
            <a:ext cx="1788174" cy="332801"/>
          </a:xfrm>
          <a:prstGeom prst="rect">
            <a:avLst/>
          </a:prstGeom>
          <a:solidFill>
            <a:srgbClr val="3D7F6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rPr>
              <a:t>Networked Computing/ </a:t>
            </a:r>
            <a:br>
              <a:rPr lang="en-US" sz="800" b="1" dirty="0">
                <a:solidFill>
                  <a:schemeClr val="bg1"/>
                </a:solidFill>
              </a:rPr>
            </a:br>
            <a:r>
              <a:rPr lang="en-US" sz="800" b="1" dirty="0">
                <a:solidFill>
                  <a:schemeClr val="bg1"/>
                </a:solidFill>
              </a:rPr>
              <a:t>Hardware Diagram</a:t>
            </a:r>
          </a:p>
        </p:txBody>
      </p:sp>
      <p:sp>
        <p:nvSpPr>
          <p:cNvPr id="40" name="Rectangle 39"/>
          <p:cNvSpPr/>
          <p:nvPr/>
        </p:nvSpPr>
        <p:spPr>
          <a:xfrm>
            <a:off x="7010159" y="5950261"/>
            <a:ext cx="1966991" cy="450122"/>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800" dirty="0">
              <a:solidFill>
                <a:schemeClr val="tx1"/>
              </a:solidFill>
            </a:endParaRPr>
          </a:p>
        </p:txBody>
      </p:sp>
      <p:sp>
        <p:nvSpPr>
          <p:cNvPr id="41" name="Rectangle 40"/>
          <p:cNvSpPr/>
          <p:nvPr/>
        </p:nvSpPr>
        <p:spPr>
          <a:xfrm>
            <a:off x="7099566" y="6055421"/>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Benefits Diagram</a:t>
            </a:r>
            <a:endParaRPr lang="en-US" sz="800" dirty="0">
              <a:solidFill>
                <a:schemeClr val="tx1"/>
              </a:solidFill>
            </a:endParaRPr>
          </a:p>
        </p:txBody>
      </p:sp>
      <p:sp>
        <p:nvSpPr>
          <p:cNvPr id="42" name="Rectangle 41"/>
          <p:cNvSpPr/>
          <p:nvPr/>
        </p:nvSpPr>
        <p:spPr>
          <a:xfrm>
            <a:off x="7099566" y="5299523"/>
            <a:ext cx="1788174" cy="33280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Communications </a:t>
            </a:r>
            <a:r>
              <a:rPr lang="en-US" sz="800" dirty="0" smtClean="0">
                <a:solidFill>
                  <a:schemeClr val="tx1"/>
                </a:solidFill>
              </a:rPr>
              <a:t>Engineering Diagram</a:t>
            </a:r>
            <a:endParaRPr lang="en-US" sz="800" dirty="0">
              <a:solidFill>
                <a:schemeClr val="tx1"/>
              </a:solidFill>
            </a:endParaRPr>
          </a:p>
        </p:txBody>
      </p:sp>
      <p:sp>
        <p:nvSpPr>
          <p:cNvPr id="43" name="Rectangle 42"/>
          <p:cNvSpPr/>
          <p:nvPr/>
        </p:nvSpPr>
        <p:spPr>
          <a:xfrm>
            <a:off x="7099566" y="1297123"/>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Technology Standards Catalog</a:t>
            </a:r>
            <a:endParaRPr lang="en-US" sz="800" dirty="0">
              <a:solidFill>
                <a:schemeClr val="tx1"/>
              </a:solidFill>
            </a:endParaRPr>
          </a:p>
        </p:txBody>
      </p:sp>
      <p:sp>
        <p:nvSpPr>
          <p:cNvPr id="44" name="Rectangle 43"/>
          <p:cNvSpPr/>
          <p:nvPr/>
        </p:nvSpPr>
        <p:spPr>
          <a:xfrm>
            <a:off x="7099566" y="1608045"/>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Technology Portfolio Catalog</a:t>
            </a:r>
            <a:endParaRPr lang="en-US" sz="800" dirty="0">
              <a:solidFill>
                <a:schemeClr val="tx1"/>
              </a:solidFill>
            </a:endParaRPr>
          </a:p>
        </p:txBody>
      </p:sp>
      <p:sp>
        <p:nvSpPr>
          <p:cNvPr id="52" name="Rectangle 51"/>
          <p:cNvSpPr/>
          <p:nvPr/>
        </p:nvSpPr>
        <p:spPr>
          <a:xfrm>
            <a:off x="7099566" y="2304657"/>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Application/Technology </a:t>
            </a:r>
            <a:r>
              <a:rPr lang="en-US" sz="800" dirty="0">
                <a:solidFill>
                  <a:schemeClr val="tx1"/>
                </a:solidFill>
              </a:rPr>
              <a:t>Matrix</a:t>
            </a:r>
          </a:p>
        </p:txBody>
      </p:sp>
      <p:sp>
        <p:nvSpPr>
          <p:cNvPr id="53" name="Rectangle 52"/>
          <p:cNvSpPr/>
          <p:nvPr/>
        </p:nvSpPr>
        <p:spPr>
          <a:xfrm>
            <a:off x="7099566" y="3312190"/>
            <a:ext cx="1788174" cy="33979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Environments and Locations Diagram</a:t>
            </a:r>
          </a:p>
        </p:txBody>
      </p:sp>
    </p:spTree>
    <p:extLst>
      <p:ext uri="{BB962C8B-B14F-4D97-AF65-F5344CB8AC3E}">
        <p14:creationId xmlns:p14="http://schemas.microsoft.com/office/powerpoint/2010/main" val="433064157"/>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2"/>
          <p:cNvSpPr>
            <a:spLocks noGrp="1"/>
          </p:cNvSpPr>
          <p:nvPr>
            <p:ph type="title"/>
          </p:nvPr>
        </p:nvSpPr>
        <p:spPr>
          <a:xfrm>
            <a:off x="1840902" y="389574"/>
            <a:ext cx="6425896" cy="248558"/>
          </a:xfrm>
        </p:spPr>
        <p:txBody>
          <a:bodyPr/>
          <a:lstStyle/>
          <a:p>
            <a:r>
              <a:rPr lang="en-US" dirty="0"/>
              <a:t>Networked Computing/Hardware Diagram</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745" y="1124122"/>
            <a:ext cx="8273945" cy="5207505"/>
          </a:xfrm>
          <a:prstGeom prst="rect">
            <a:avLst/>
          </a:prstGeom>
        </p:spPr>
      </p:pic>
    </p:spTree>
    <p:extLst>
      <p:ext uri="{BB962C8B-B14F-4D97-AF65-F5344CB8AC3E}">
        <p14:creationId xmlns:p14="http://schemas.microsoft.com/office/powerpoint/2010/main" val="4205247460"/>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jdelijke aanduiding voor inhoud 2"/>
          <p:cNvSpPr>
            <a:spLocks noGrp="1"/>
          </p:cNvSpPr>
          <p:nvPr>
            <p:ph idx="1"/>
          </p:nvPr>
        </p:nvSpPr>
        <p:spPr>
          <a:xfrm>
            <a:off x="457510" y="987990"/>
            <a:ext cx="6324289" cy="5312141"/>
          </a:xfrm>
        </p:spPr>
        <p:txBody>
          <a:bodyPr>
            <a:noAutofit/>
          </a:bodyPr>
          <a:lstStyle/>
          <a:p>
            <a:r>
              <a:rPr lang="en-US" sz="1800" b="0" dirty="0"/>
              <a:t>Communications Engineering </a:t>
            </a:r>
            <a:r>
              <a:rPr lang="nl-NL" sz="1800" b="0" dirty="0"/>
              <a:t>Diagram</a:t>
            </a:r>
          </a:p>
          <a:p>
            <a:pPr lvl="2"/>
            <a:r>
              <a:rPr lang="nl-NL" b="0" dirty="0"/>
              <a:t>The Communications Engineering diagram describes the means of communication - the method of sending and receiving information - between these assets in the Technology Architecture; insofar as the selection of package solutions in the preceding architectures put specific requirements on the communications between the applications.</a:t>
            </a:r>
          </a:p>
          <a:p>
            <a:pPr lvl="2"/>
            <a:r>
              <a:rPr lang="nl-NL" b="0" dirty="0"/>
              <a:t>The Communications Engineering diagram will take logical connections between client and server components and identify network boundaries and network infrastructure required to physically implement those connections. </a:t>
            </a:r>
          </a:p>
          <a:p>
            <a:pPr lvl="2"/>
            <a:r>
              <a:rPr lang="nl-NL" b="0" dirty="0"/>
              <a:t>It does not describe the information format or content, but will address protocol and capacity issues.</a:t>
            </a:r>
          </a:p>
        </p:txBody>
      </p:sp>
      <p:sp>
        <p:nvSpPr>
          <p:cNvPr id="86017" name="Titel 1"/>
          <p:cNvSpPr>
            <a:spLocks noGrp="1"/>
          </p:cNvSpPr>
          <p:nvPr>
            <p:ph type="title"/>
          </p:nvPr>
        </p:nvSpPr>
        <p:spPr/>
        <p:txBody>
          <a:bodyPr/>
          <a:lstStyle/>
          <a:p>
            <a:r>
              <a:rPr lang="en-US" dirty="0"/>
              <a:t>Communications Engineering Diagram</a:t>
            </a:r>
          </a:p>
        </p:txBody>
      </p:sp>
      <p:sp>
        <p:nvSpPr>
          <p:cNvPr id="32" name="Rectangle 31"/>
          <p:cNvSpPr/>
          <p:nvPr/>
        </p:nvSpPr>
        <p:spPr>
          <a:xfrm>
            <a:off x="6941778" y="821553"/>
            <a:ext cx="2103755" cy="5660871"/>
          </a:xfrm>
          <a:prstGeom prst="rect">
            <a:avLst/>
          </a:prstGeom>
          <a:solidFill>
            <a:srgbClr val="DFE9E7"/>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Technology Architecture</a:t>
            </a:r>
          </a:p>
        </p:txBody>
      </p:sp>
      <p:sp>
        <p:nvSpPr>
          <p:cNvPr id="33" name="Rectangle 32"/>
          <p:cNvSpPr/>
          <p:nvPr/>
        </p:nvSpPr>
        <p:spPr>
          <a:xfrm>
            <a:off x="7010159" y="1068519"/>
            <a:ext cx="1966991"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Catalogs</a:t>
            </a:r>
          </a:p>
        </p:txBody>
      </p:sp>
      <p:sp>
        <p:nvSpPr>
          <p:cNvPr id="34" name="Rectangle 33"/>
          <p:cNvSpPr/>
          <p:nvPr/>
        </p:nvSpPr>
        <p:spPr>
          <a:xfrm>
            <a:off x="7010159" y="2076053"/>
            <a:ext cx="1966991" cy="877159"/>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Matrices</a:t>
            </a:r>
            <a:endParaRPr lang="en-US" sz="800" b="1" dirty="0">
              <a:solidFill>
                <a:schemeClr val="tx1"/>
              </a:solidFill>
            </a:endParaRPr>
          </a:p>
        </p:txBody>
      </p:sp>
      <p:sp>
        <p:nvSpPr>
          <p:cNvPr id="35" name="Rectangle 34"/>
          <p:cNvSpPr/>
          <p:nvPr/>
        </p:nvSpPr>
        <p:spPr>
          <a:xfrm>
            <a:off x="7010159" y="3083588"/>
            <a:ext cx="1966991" cy="987224"/>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smtClean="0">
                <a:solidFill>
                  <a:schemeClr val="tx1"/>
                </a:solidFill>
              </a:rPr>
              <a:t>Core Diagrams</a:t>
            </a:r>
            <a:endParaRPr lang="en-US" sz="800" b="1" dirty="0">
              <a:solidFill>
                <a:schemeClr val="tx1"/>
              </a:solidFill>
            </a:endParaRPr>
          </a:p>
        </p:txBody>
      </p:sp>
      <p:sp>
        <p:nvSpPr>
          <p:cNvPr id="36" name="Rectangle 35"/>
          <p:cNvSpPr/>
          <p:nvPr/>
        </p:nvSpPr>
        <p:spPr>
          <a:xfrm>
            <a:off x="7099566" y="3741651"/>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Platform Decomposition Diagram</a:t>
            </a:r>
          </a:p>
        </p:txBody>
      </p:sp>
      <p:sp>
        <p:nvSpPr>
          <p:cNvPr id="37" name="Rectangle 36"/>
          <p:cNvSpPr/>
          <p:nvPr/>
        </p:nvSpPr>
        <p:spPr>
          <a:xfrm>
            <a:off x="7010159" y="4353598"/>
            <a:ext cx="1966991" cy="1402090"/>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rPr>
              <a:t>Extension Diagrams</a:t>
            </a:r>
          </a:p>
        </p:txBody>
      </p:sp>
      <p:sp>
        <p:nvSpPr>
          <p:cNvPr id="38" name="Rectangle 37"/>
          <p:cNvSpPr/>
          <p:nvPr/>
        </p:nvSpPr>
        <p:spPr>
          <a:xfrm>
            <a:off x="7099566" y="4582202"/>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Processing Diagram</a:t>
            </a:r>
          </a:p>
        </p:txBody>
      </p:sp>
      <p:sp>
        <p:nvSpPr>
          <p:cNvPr id="39" name="Rectangle 38"/>
          <p:cNvSpPr/>
          <p:nvPr/>
        </p:nvSpPr>
        <p:spPr>
          <a:xfrm>
            <a:off x="7099566" y="4893123"/>
            <a:ext cx="1788174" cy="33280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Networked Computing/ </a:t>
            </a:r>
            <a:br>
              <a:rPr lang="en-US" sz="800" dirty="0">
                <a:solidFill>
                  <a:schemeClr val="tx1"/>
                </a:solidFill>
              </a:rPr>
            </a:br>
            <a:r>
              <a:rPr lang="en-US" sz="800" dirty="0">
                <a:solidFill>
                  <a:schemeClr val="tx1"/>
                </a:solidFill>
              </a:rPr>
              <a:t>Hardware Diagram</a:t>
            </a:r>
          </a:p>
        </p:txBody>
      </p:sp>
      <p:sp>
        <p:nvSpPr>
          <p:cNvPr id="40" name="Rectangle 39"/>
          <p:cNvSpPr/>
          <p:nvPr/>
        </p:nvSpPr>
        <p:spPr>
          <a:xfrm>
            <a:off x="7010159" y="5950261"/>
            <a:ext cx="1966991" cy="450122"/>
          </a:xfrm>
          <a:prstGeom prst="rect">
            <a:avLst/>
          </a:prstGeom>
          <a:solidFill>
            <a:srgbClr val="CAD5E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800" dirty="0">
              <a:solidFill>
                <a:schemeClr val="tx1"/>
              </a:solidFill>
            </a:endParaRPr>
          </a:p>
        </p:txBody>
      </p:sp>
      <p:sp>
        <p:nvSpPr>
          <p:cNvPr id="41" name="Rectangle 40"/>
          <p:cNvSpPr/>
          <p:nvPr/>
        </p:nvSpPr>
        <p:spPr>
          <a:xfrm>
            <a:off x="7099566" y="6055421"/>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Benefits Diagram</a:t>
            </a:r>
            <a:endParaRPr lang="en-US" sz="800" dirty="0">
              <a:solidFill>
                <a:schemeClr val="tx1"/>
              </a:solidFill>
            </a:endParaRPr>
          </a:p>
        </p:txBody>
      </p:sp>
      <p:sp>
        <p:nvSpPr>
          <p:cNvPr id="42" name="Rectangle 41"/>
          <p:cNvSpPr/>
          <p:nvPr/>
        </p:nvSpPr>
        <p:spPr>
          <a:xfrm>
            <a:off x="7099566" y="5299523"/>
            <a:ext cx="1788174" cy="332801"/>
          </a:xfrm>
          <a:prstGeom prst="rect">
            <a:avLst/>
          </a:prstGeom>
          <a:solidFill>
            <a:srgbClr val="3D7F6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rPr>
              <a:t>Communications Engineering Diagram</a:t>
            </a:r>
          </a:p>
        </p:txBody>
      </p:sp>
      <p:sp>
        <p:nvSpPr>
          <p:cNvPr id="43" name="Rectangle 42"/>
          <p:cNvSpPr/>
          <p:nvPr/>
        </p:nvSpPr>
        <p:spPr>
          <a:xfrm>
            <a:off x="7099566" y="1297123"/>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Technology Standards Catalog</a:t>
            </a:r>
            <a:endParaRPr lang="en-US" sz="800" dirty="0">
              <a:solidFill>
                <a:schemeClr val="tx1"/>
              </a:solidFill>
            </a:endParaRPr>
          </a:p>
        </p:txBody>
      </p:sp>
      <p:sp>
        <p:nvSpPr>
          <p:cNvPr id="44" name="Rectangle 43"/>
          <p:cNvSpPr/>
          <p:nvPr/>
        </p:nvSpPr>
        <p:spPr>
          <a:xfrm>
            <a:off x="7099566" y="1608045"/>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Technology Portfolio Catalog</a:t>
            </a:r>
            <a:endParaRPr lang="en-US" sz="800" dirty="0">
              <a:solidFill>
                <a:schemeClr val="tx1"/>
              </a:solidFill>
            </a:endParaRPr>
          </a:p>
        </p:txBody>
      </p:sp>
      <p:sp>
        <p:nvSpPr>
          <p:cNvPr id="52" name="Rectangle 51"/>
          <p:cNvSpPr/>
          <p:nvPr/>
        </p:nvSpPr>
        <p:spPr>
          <a:xfrm>
            <a:off x="7099566" y="2304657"/>
            <a:ext cx="1788174" cy="238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smtClean="0">
                <a:solidFill>
                  <a:schemeClr val="tx1"/>
                </a:solidFill>
              </a:rPr>
              <a:t>Application/Technology </a:t>
            </a:r>
            <a:r>
              <a:rPr lang="en-US" sz="800" dirty="0">
                <a:solidFill>
                  <a:schemeClr val="tx1"/>
                </a:solidFill>
              </a:rPr>
              <a:t>Matrix</a:t>
            </a:r>
          </a:p>
        </p:txBody>
      </p:sp>
      <p:sp>
        <p:nvSpPr>
          <p:cNvPr id="53" name="Rectangle 52"/>
          <p:cNvSpPr/>
          <p:nvPr/>
        </p:nvSpPr>
        <p:spPr>
          <a:xfrm>
            <a:off x="7099566" y="3312190"/>
            <a:ext cx="1788174" cy="33979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Environments and Locations Diagram</a:t>
            </a:r>
          </a:p>
        </p:txBody>
      </p:sp>
    </p:spTree>
    <p:extLst>
      <p:ext uri="{BB962C8B-B14F-4D97-AF65-F5344CB8AC3E}">
        <p14:creationId xmlns:p14="http://schemas.microsoft.com/office/powerpoint/2010/main" val="1005177523"/>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2"/>
          <p:cNvSpPr>
            <a:spLocks noGrp="1"/>
          </p:cNvSpPr>
          <p:nvPr>
            <p:ph type="title"/>
          </p:nvPr>
        </p:nvSpPr>
        <p:spPr>
          <a:xfrm>
            <a:off x="1840902" y="389574"/>
            <a:ext cx="6425896" cy="248558"/>
          </a:xfrm>
        </p:spPr>
        <p:txBody>
          <a:bodyPr/>
          <a:lstStyle/>
          <a:p>
            <a:r>
              <a:rPr lang="en-US" dirty="0"/>
              <a:t>Communications Engineering Diagram</a:t>
            </a:r>
          </a:p>
        </p:txBody>
      </p:sp>
      <p:sp>
        <p:nvSpPr>
          <p:cNvPr id="4" name="Rectangle 128"/>
          <p:cNvSpPr>
            <a:spLocks noChangeArrowheads="1"/>
          </p:cNvSpPr>
          <p:nvPr/>
        </p:nvSpPr>
        <p:spPr bwMode="auto">
          <a:xfrm>
            <a:off x="5557838" y="4666457"/>
            <a:ext cx="3433762" cy="1484312"/>
          </a:xfrm>
          <a:prstGeom prst="rect">
            <a:avLst/>
          </a:prstGeom>
          <a:solidFill>
            <a:schemeClr val="bg1"/>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tIns="18000" rtlCol="0" anchor="b" anchorCtr="0"/>
          <a:lstStyle/>
          <a:p>
            <a:pPr algn="ctr"/>
            <a:r>
              <a:rPr lang="en-US" sz="900" b="1">
                <a:solidFill>
                  <a:schemeClr val="tx1"/>
                </a:solidFill>
                <a:latin typeface="+mj-lt"/>
              </a:rPr>
              <a:t>Location 2</a:t>
            </a:r>
          </a:p>
        </p:txBody>
      </p:sp>
      <p:sp>
        <p:nvSpPr>
          <p:cNvPr id="5" name="Rectangle 42"/>
          <p:cNvSpPr>
            <a:spLocks noChangeArrowheads="1"/>
          </p:cNvSpPr>
          <p:nvPr/>
        </p:nvSpPr>
        <p:spPr bwMode="auto">
          <a:xfrm>
            <a:off x="147638" y="1253332"/>
            <a:ext cx="8843962" cy="3309937"/>
          </a:xfrm>
          <a:prstGeom prst="rect">
            <a:avLst/>
          </a:prstGeom>
          <a:solidFill>
            <a:schemeClr val="bg1"/>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tIns="18000" rtlCol="0" anchor="t" anchorCtr="0"/>
          <a:lstStyle/>
          <a:p>
            <a:pPr algn="ctr"/>
            <a:r>
              <a:rPr lang="en-US" sz="900" b="1">
                <a:solidFill>
                  <a:schemeClr val="tx1"/>
                </a:solidFill>
                <a:latin typeface="+mj-lt"/>
              </a:rPr>
              <a:t>Location 1</a:t>
            </a:r>
          </a:p>
        </p:txBody>
      </p:sp>
      <p:sp>
        <p:nvSpPr>
          <p:cNvPr id="6" name="Rectangle 59"/>
          <p:cNvSpPr>
            <a:spLocks noChangeArrowheads="1"/>
          </p:cNvSpPr>
          <p:nvPr/>
        </p:nvSpPr>
        <p:spPr bwMode="auto">
          <a:xfrm>
            <a:off x="5634038" y="1556544"/>
            <a:ext cx="990600" cy="2824163"/>
          </a:xfrm>
          <a:prstGeom prst="rect">
            <a:avLst/>
          </a:prstGeom>
          <a:solidFill>
            <a:schemeClr val="bg1"/>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tIns="18000" rtlCol="0" anchor="t" anchorCtr="0"/>
          <a:lstStyle/>
          <a:p>
            <a:pPr algn="ctr"/>
            <a:r>
              <a:rPr lang="en-US" sz="900" b="1">
                <a:solidFill>
                  <a:schemeClr val="tx1"/>
                </a:solidFill>
                <a:latin typeface="+mj-lt"/>
              </a:rPr>
              <a:t>Secondary</a:t>
            </a:r>
            <a:br>
              <a:rPr lang="en-US" sz="900" b="1">
                <a:solidFill>
                  <a:schemeClr val="tx1"/>
                </a:solidFill>
                <a:latin typeface="+mj-lt"/>
              </a:rPr>
            </a:br>
            <a:r>
              <a:rPr lang="en-US" sz="900" b="1">
                <a:solidFill>
                  <a:schemeClr val="tx1"/>
                </a:solidFill>
                <a:latin typeface="+mj-lt"/>
              </a:rPr>
              <a:t>equipment room (17)</a:t>
            </a:r>
          </a:p>
        </p:txBody>
      </p:sp>
      <p:sp>
        <p:nvSpPr>
          <p:cNvPr id="7" name="Rectangle 36"/>
          <p:cNvSpPr>
            <a:spLocks noChangeArrowheads="1"/>
          </p:cNvSpPr>
          <p:nvPr/>
        </p:nvSpPr>
        <p:spPr bwMode="auto">
          <a:xfrm>
            <a:off x="2195513" y="1553369"/>
            <a:ext cx="3286125" cy="2827338"/>
          </a:xfrm>
          <a:prstGeom prst="rect">
            <a:avLst/>
          </a:prstGeom>
          <a:solidFill>
            <a:schemeClr val="bg1"/>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tIns="18000" rtlCol="0" anchor="t" anchorCtr="0"/>
          <a:lstStyle/>
          <a:p>
            <a:pPr algn="ctr"/>
            <a:r>
              <a:rPr lang="en-US" sz="900" b="1" dirty="0">
                <a:solidFill>
                  <a:schemeClr val="tx1"/>
                </a:solidFill>
                <a:latin typeface="+mj-lt"/>
              </a:rPr>
              <a:t>Main equipment room</a:t>
            </a:r>
          </a:p>
        </p:txBody>
      </p:sp>
      <p:sp>
        <p:nvSpPr>
          <p:cNvPr id="8" name="Rectangle 36"/>
          <p:cNvSpPr>
            <a:spLocks noChangeArrowheads="1"/>
          </p:cNvSpPr>
          <p:nvPr/>
        </p:nvSpPr>
        <p:spPr bwMode="auto">
          <a:xfrm>
            <a:off x="266700" y="1553369"/>
            <a:ext cx="1709738" cy="2827338"/>
          </a:xfrm>
          <a:prstGeom prst="rect">
            <a:avLst/>
          </a:prstGeom>
          <a:solidFill>
            <a:schemeClr val="bg1"/>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tIns="18000" rtlCol="0" anchor="t" anchorCtr="0"/>
          <a:lstStyle/>
          <a:p>
            <a:pPr algn="ctr"/>
            <a:r>
              <a:rPr lang="en-US" sz="900" b="1">
                <a:solidFill>
                  <a:schemeClr val="tx1"/>
                </a:solidFill>
                <a:latin typeface="+mj-lt"/>
              </a:rPr>
              <a:t>Server room</a:t>
            </a:r>
          </a:p>
        </p:txBody>
      </p:sp>
      <p:sp>
        <p:nvSpPr>
          <p:cNvPr id="9" name="Kubus 14"/>
          <p:cNvSpPr>
            <a:spLocks noChangeArrowheads="1"/>
          </p:cNvSpPr>
          <p:nvPr/>
        </p:nvSpPr>
        <p:spPr bwMode="auto">
          <a:xfrm>
            <a:off x="4467947" y="1835667"/>
            <a:ext cx="579583" cy="375204"/>
          </a:xfrm>
          <a:prstGeom prst="cube">
            <a:avLst>
              <a:gd name="adj" fmla="val 12264"/>
            </a:avLst>
          </a:prstGeom>
          <a:solidFill>
            <a:srgbClr val="7FC3A7"/>
          </a:solidFill>
          <a:ln w="9525">
            <a:solidFill>
              <a:schemeClr val="tx1"/>
            </a:solidFill>
            <a:miter lim="800000"/>
            <a:headEnd/>
            <a:tailEnd/>
          </a:ln>
          <a:effectLst>
            <a:outerShdw dist="23000" dir="5400000" rotWithShape="0">
              <a:srgbClr val="808080">
                <a:alpha val="34998"/>
              </a:srgbClr>
            </a:outerShdw>
          </a:effectLst>
        </p:spPr>
        <p:txBody>
          <a:bodyPr tIns="36000" bIns="36000" anchor="ctr"/>
          <a:lstStyle/>
          <a:p>
            <a:pPr algn="ctr"/>
            <a:r>
              <a:rPr lang="nl-NL" sz="800">
                <a:solidFill>
                  <a:srgbClr val="000000"/>
                </a:solidFill>
                <a:latin typeface="+mj-lt"/>
              </a:rPr>
              <a:t>Layer 3</a:t>
            </a:r>
          </a:p>
          <a:p>
            <a:pPr algn="ctr"/>
            <a:r>
              <a:rPr lang="nl-NL" sz="800">
                <a:solidFill>
                  <a:srgbClr val="000000"/>
                </a:solidFill>
                <a:latin typeface="+mj-lt"/>
              </a:rPr>
              <a:t>Switch</a:t>
            </a:r>
          </a:p>
        </p:txBody>
      </p:sp>
      <p:sp>
        <p:nvSpPr>
          <p:cNvPr id="10" name="Kubus 14"/>
          <p:cNvSpPr>
            <a:spLocks noChangeArrowheads="1"/>
          </p:cNvSpPr>
          <p:nvPr/>
        </p:nvSpPr>
        <p:spPr bwMode="auto">
          <a:xfrm>
            <a:off x="4467947" y="2932836"/>
            <a:ext cx="579583" cy="373204"/>
          </a:xfrm>
          <a:prstGeom prst="cube">
            <a:avLst>
              <a:gd name="adj" fmla="val 12264"/>
            </a:avLst>
          </a:prstGeom>
          <a:solidFill>
            <a:srgbClr val="7FC3A7"/>
          </a:solidFill>
          <a:ln w="9525">
            <a:solidFill>
              <a:schemeClr val="tx1"/>
            </a:solidFill>
            <a:miter lim="800000"/>
            <a:headEnd/>
            <a:tailEnd/>
          </a:ln>
          <a:effectLst>
            <a:outerShdw dist="23000" dir="5400000" rotWithShape="0">
              <a:srgbClr val="808080">
                <a:alpha val="34998"/>
              </a:srgbClr>
            </a:outerShdw>
          </a:effectLst>
        </p:spPr>
        <p:txBody>
          <a:bodyPr tIns="36000" bIns="36000" anchor="ctr"/>
          <a:lstStyle/>
          <a:p>
            <a:pPr algn="ctr"/>
            <a:r>
              <a:rPr lang="nl-NL" sz="800">
                <a:solidFill>
                  <a:srgbClr val="000000"/>
                </a:solidFill>
                <a:latin typeface="+mj-lt"/>
              </a:rPr>
              <a:t>Layer 3</a:t>
            </a:r>
          </a:p>
          <a:p>
            <a:pPr algn="ctr"/>
            <a:r>
              <a:rPr lang="nl-NL" sz="800">
                <a:solidFill>
                  <a:srgbClr val="000000"/>
                </a:solidFill>
                <a:latin typeface="+mj-lt"/>
              </a:rPr>
              <a:t>Switch</a:t>
            </a:r>
          </a:p>
        </p:txBody>
      </p:sp>
      <p:sp>
        <p:nvSpPr>
          <p:cNvPr id="11" name="Kubus 14"/>
          <p:cNvSpPr>
            <a:spLocks noChangeArrowheads="1"/>
          </p:cNvSpPr>
          <p:nvPr/>
        </p:nvSpPr>
        <p:spPr bwMode="auto">
          <a:xfrm>
            <a:off x="1318245" y="2932836"/>
            <a:ext cx="581372" cy="373204"/>
          </a:xfrm>
          <a:prstGeom prst="cube">
            <a:avLst>
              <a:gd name="adj" fmla="val 12264"/>
            </a:avLst>
          </a:prstGeom>
          <a:solidFill>
            <a:srgbClr val="7FC3A7"/>
          </a:solidFill>
          <a:ln w="9525">
            <a:solidFill>
              <a:schemeClr val="tx1"/>
            </a:solidFill>
            <a:miter lim="800000"/>
            <a:headEnd/>
            <a:tailEnd/>
          </a:ln>
          <a:effectLst>
            <a:outerShdw dist="23000" dir="5400000" rotWithShape="0">
              <a:srgbClr val="808080">
                <a:alpha val="34998"/>
              </a:srgbClr>
            </a:outerShdw>
          </a:effectLst>
        </p:spPr>
        <p:txBody>
          <a:bodyPr tIns="36000" bIns="36000" anchor="ctr"/>
          <a:lstStyle/>
          <a:p>
            <a:pPr algn="ctr"/>
            <a:r>
              <a:rPr lang="nl-NL" sz="800">
                <a:solidFill>
                  <a:srgbClr val="000000"/>
                </a:solidFill>
                <a:latin typeface="+mj-lt"/>
              </a:rPr>
              <a:t>Layer 3 Switch</a:t>
            </a:r>
          </a:p>
        </p:txBody>
      </p:sp>
      <p:sp>
        <p:nvSpPr>
          <p:cNvPr id="12" name="Kubus 14"/>
          <p:cNvSpPr>
            <a:spLocks noChangeArrowheads="1"/>
          </p:cNvSpPr>
          <p:nvPr/>
        </p:nvSpPr>
        <p:spPr bwMode="auto">
          <a:xfrm>
            <a:off x="1318245" y="1835667"/>
            <a:ext cx="581372" cy="375204"/>
          </a:xfrm>
          <a:prstGeom prst="cube">
            <a:avLst>
              <a:gd name="adj" fmla="val 12264"/>
            </a:avLst>
          </a:prstGeom>
          <a:solidFill>
            <a:srgbClr val="7FC3A7"/>
          </a:solidFill>
          <a:ln w="9525">
            <a:solidFill>
              <a:schemeClr val="tx1"/>
            </a:solidFill>
            <a:miter lim="800000"/>
            <a:headEnd/>
            <a:tailEnd/>
          </a:ln>
          <a:effectLst>
            <a:outerShdw dist="23000" dir="5400000" rotWithShape="0">
              <a:srgbClr val="808080">
                <a:alpha val="34998"/>
              </a:srgbClr>
            </a:outerShdw>
          </a:effectLst>
        </p:spPr>
        <p:txBody>
          <a:bodyPr tIns="36000" bIns="36000" anchor="ctr"/>
          <a:lstStyle/>
          <a:p>
            <a:pPr algn="ctr"/>
            <a:r>
              <a:rPr lang="nl-NL" sz="800">
                <a:solidFill>
                  <a:srgbClr val="000000"/>
                </a:solidFill>
                <a:latin typeface="+mj-lt"/>
              </a:rPr>
              <a:t>Layer 3 Switch</a:t>
            </a:r>
          </a:p>
        </p:txBody>
      </p:sp>
      <p:sp>
        <p:nvSpPr>
          <p:cNvPr id="13" name="Kubus 14"/>
          <p:cNvSpPr>
            <a:spLocks noChangeArrowheads="1"/>
          </p:cNvSpPr>
          <p:nvPr/>
        </p:nvSpPr>
        <p:spPr bwMode="auto">
          <a:xfrm>
            <a:off x="3283570" y="2407167"/>
            <a:ext cx="581372" cy="375204"/>
          </a:xfrm>
          <a:prstGeom prst="cube">
            <a:avLst>
              <a:gd name="adj" fmla="val 12264"/>
            </a:avLst>
          </a:prstGeom>
          <a:solidFill>
            <a:srgbClr val="7FC3A7"/>
          </a:solidFill>
          <a:ln w="9525">
            <a:solidFill>
              <a:schemeClr val="tx1"/>
            </a:solidFill>
            <a:miter lim="800000"/>
            <a:headEnd/>
            <a:tailEnd/>
          </a:ln>
          <a:effectLst>
            <a:outerShdw dist="23000" dir="5400000" rotWithShape="0">
              <a:srgbClr val="808080">
                <a:alpha val="34998"/>
              </a:srgbClr>
            </a:outerShdw>
          </a:effectLst>
        </p:spPr>
        <p:txBody>
          <a:bodyPr tIns="36000" bIns="36000" anchor="ctr"/>
          <a:lstStyle/>
          <a:p>
            <a:pPr algn="ctr"/>
            <a:r>
              <a:rPr lang="nl-NL" sz="800">
                <a:solidFill>
                  <a:srgbClr val="000000"/>
                </a:solidFill>
                <a:latin typeface="+mj-lt"/>
              </a:rPr>
              <a:t>Switch</a:t>
            </a:r>
          </a:p>
        </p:txBody>
      </p:sp>
      <p:sp>
        <p:nvSpPr>
          <p:cNvPr id="14" name="Kubus 14"/>
          <p:cNvSpPr>
            <a:spLocks noChangeArrowheads="1"/>
          </p:cNvSpPr>
          <p:nvPr/>
        </p:nvSpPr>
        <p:spPr bwMode="auto">
          <a:xfrm>
            <a:off x="324470" y="1835667"/>
            <a:ext cx="581372" cy="375204"/>
          </a:xfrm>
          <a:prstGeom prst="cube">
            <a:avLst>
              <a:gd name="adj" fmla="val 12264"/>
            </a:avLst>
          </a:prstGeom>
          <a:solidFill>
            <a:srgbClr val="7FC3A7"/>
          </a:solidFill>
          <a:ln w="9525">
            <a:solidFill>
              <a:schemeClr val="tx1"/>
            </a:solidFill>
            <a:miter lim="800000"/>
            <a:headEnd/>
            <a:tailEnd/>
          </a:ln>
          <a:effectLst>
            <a:outerShdw dist="23000" dir="5400000" rotWithShape="0">
              <a:srgbClr val="808080">
                <a:alpha val="34998"/>
              </a:srgbClr>
            </a:outerShdw>
          </a:effectLst>
        </p:spPr>
        <p:txBody>
          <a:bodyPr tIns="36000" bIns="36000" anchor="ctr"/>
          <a:lstStyle/>
          <a:p>
            <a:pPr algn="ctr"/>
            <a:r>
              <a:rPr lang="nl-NL" sz="800">
                <a:solidFill>
                  <a:srgbClr val="000000"/>
                </a:solidFill>
                <a:latin typeface="+mj-lt"/>
              </a:rPr>
              <a:t>Server</a:t>
            </a:r>
          </a:p>
        </p:txBody>
      </p:sp>
      <p:sp>
        <p:nvSpPr>
          <p:cNvPr id="15" name="Kubus 14"/>
          <p:cNvSpPr>
            <a:spLocks noChangeArrowheads="1"/>
          </p:cNvSpPr>
          <p:nvPr/>
        </p:nvSpPr>
        <p:spPr bwMode="auto">
          <a:xfrm>
            <a:off x="341933" y="2932836"/>
            <a:ext cx="581373" cy="373204"/>
          </a:xfrm>
          <a:prstGeom prst="cube">
            <a:avLst>
              <a:gd name="adj" fmla="val 12264"/>
            </a:avLst>
          </a:prstGeom>
          <a:solidFill>
            <a:srgbClr val="7FC3A7"/>
          </a:solidFill>
          <a:ln w="9525">
            <a:solidFill>
              <a:schemeClr val="tx1"/>
            </a:solidFill>
            <a:miter lim="800000"/>
            <a:headEnd/>
            <a:tailEnd/>
          </a:ln>
          <a:effectLst>
            <a:outerShdw dist="23000" dir="5400000" rotWithShape="0">
              <a:srgbClr val="808080">
                <a:alpha val="34998"/>
              </a:srgbClr>
            </a:outerShdw>
          </a:effectLst>
        </p:spPr>
        <p:txBody>
          <a:bodyPr tIns="36000" bIns="36000" anchor="ctr"/>
          <a:lstStyle/>
          <a:p>
            <a:pPr algn="ctr"/>
            <a:r>
              <a:rPr lang="nl-NL" sz="800">
                <a:solidFill>
                  <a:srgbClr val="000000"/>
                </a:solidFill>
                <a:latin typeface="+mj-lt"/>
              </a:rPr>
              <a:t>Server</a:t>
            </a:r>
          </a:p>
        </p:txBody>
      </p:sp>
      <p:cxnSp>
        <p:nvCxnSpPr>
          <p:cNvPr id="16" name="Straight Connector 4"/>
          <p:cNvCxnSpPr>
            <a:cxnSpLocks noChangeShapeType="1"/>
            <a:stCxn id="14" idx="4"/>
            <a:endCxn id="12" idx="2"/>
          </p:cNvCxnSpPr>
          <p:nvPr/>
        </p:nvCxnSpPr>
        <p:spPr bwMode="auto">
          <a:xfrm>
            <a:off x="859827" y="2046277"/>
            <a:ext cx="45841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7" name="Straight Connector 77"/>
          <p:cNvCxnSpPr>
            <a:cxnSpLocks noChangeShapeType="1"/>
            <a:stCxn id="15" idx="4"/>
            <a:endCxn id="11" idx="2"/>
          </p:cNvCxnSpPr>
          <p:nvPr/>
        </p:nvCxnSpPr>
        <p:spPr bwMode="auto">
          <a:xfrm>
            <a:off x="877536" y="3142323"/>
            <a:ext cx="4407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8" name="Straight Connector 84"/>
          <p:cNvCxnSpPr>
            <a:cxnSpLocks noChangeShapeType="1"/>
            <a:stCxn id="14" idx="4"/>
            <a:endCxn id="11" idx="2"/>
          </p:cNvCxnSpPr>
          <p:nvPr/>
        </p:nvCxnSpPr>
        <p:spPr bwMode="auto">
          <a:xfrm>
            <a:off x="859827" y="2046277"/>
            <a:ext cx="458418" cy="10960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9" name="Straight Connector 89"/>
          <p:cNvCxnSpPr>
            <a:cxnSpLocks noChangeShapeType="1"/>
            <a:stCxn id="12" idx="3"/>
            <a:endCxn id="11" idx="1"/>
          </p:cNvCxnSpPr>
          <p:nvPr/>
        </p:nvCxnSpPr>
        <p:spPr bwMode="auto">
          <a:xfrm>
            <a:off x="1585923" y="2210871"/>
            <a:ext cx="123" cy="76773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0" name="Straight Connector 90"/>
          <p:cNvCxnSpPr>
            <a:cxnSpLocks noChangeShapeType="1"/>
            <a:stCxn id="12" idx="4"/>
            <a:endCxn id="9" idx="2"/>
          </p:cNvCxnSpPr>
          <p:nvPr/>
        </p:nvCxnSpPr>
        <p:spPr bwMode="auto">
          <a:xfrm>
            <a:off x="1853602" y="2046277"/>
            <a:ext cx="261434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1" name="Straight Connector 91"/>
          <p:cNvCxnSpPr>
            <a:cxnSpLocks noChangeShapeType="1"/>
            <a:stCxn id="11" idx="4"/>
            <a:endCxn id="10" idx="2"/>
          </p:cNvCxnSpPr>
          <p:nvPr/>
        </p:nvCxnSpPr>
        <p:spPr bwMode="auto">
          <a:xfrm>
            <a:off x="1853847" y="3142323"/>
            <a:ext cx="26141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22" name="TextBox 96"/>
          <p:cNvSpPr txBox="1">
            <a:spLocks noChangeArrowheads="1"/>
          </p:cNvSpPr>
          <p:nvPr/>
        </p:nvSpPr>
        <p:spPr bwMode="auto">
          <a:xfrm>
            <a:off x="2735263" y="1783557"/>
            <a:ext cx="136366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800">
                <a:latin typeface="+mj-lt"/>
              </a:rPr>
              <a:t>4 x 1Gb  FO etherchannel</a:t>
            </a:r>
          </a:p>
        </p:txBody>
      </p:sp>
      <p:cxnSp>
        <p:nvCxnSpPr>
          <p:cNvPr id="23" name="Straight Connector 97"/>
          <p:cNvCxnSpPr>
            <a:cxnSpLocks noChangeShapeType="1"/>
            <a:stCxn id="9" idx="3"/>
            <a:endCxn id="10" idx="1"/>
          </p:cNvCxnSpPr>
          <p:nvPr/>
        </p:nvCxnSpPr>
        <p:spPr bwMode="auto">
          <a:xfrm>
            <a:off x="4734731" y="2210871"/>
            <a:ext cx="123" cy="76773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24" name="Rectangle 59"/>
          <p:cNvSpPr>
            <a:spLocks noChangeArrowheads="1"/>
          </p:cNvSpPr>
          <p:nvPr/>
        </p:nvSpPr>
        <p:spPr bwMode="auto">
          <a:xfrm>
            <a:off x="7848600" y="1559719"/>
            <a:ext cx="969963" cy="2819400"/>
          </a:xfrm>
          <a:prstGeom prst="rect">
            <a:avLst/>
          </a:prstGeom>
          <a:solidFill>
            <a:schemeClr val="bg1"/>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tIns="18000" rtlCol="0" anchor="t" anchorCtr="0"/>
          <a:lstStyle/>
          <a:p>
            <a:pPr algn="ctr"/>
            <a:r>
              <a:rPr lang="en-US" sz="900" b="1">
                <a:solidFill>
                  <a:schemeClr val="tx1"/>
                </a:solidFill>
                <a:latin typeface="+mj-lt"/>
              </a:rPr>
              <a:t>Other</a:t>
            </a:r>
            <a:br>
              <a:rPr lang="en-US" sz="900" b="1">
                <a:solidFill>
                  <a:schemeClr val="tx1"/>
                </a:solidFill>
                <a:latin typeface="+mj-lt"/>
              </a:rPr>
            </a:br>
            <a:r>
              <a:rPr lang="en-US" sz="900" b="1">
                <a:solidFill>
                  <a:schemeClr val="tx1"/>
                </a:solidFill>
                <a:latin typeface="+mj-lt"/>
              </a:rPr>
              <a:t>rooms</a:t>
            </a:r>
          </a:p>
        </p:txBody>
      </p:sp>
      <p:sp>
        <p:nvSpPr>
          <p:cNvPr id="25" name="Kubus 14"/>
          <p:cNvSpPr>
            <a:spLocks noChangeArrowheads="1"/>
          </p:cNvSpPr>
          <p:nvPr/>
        </p:nvSpPr>
        <p:spPr bwMode="auto">
          <a:xfrm>
            <a:off x="5828333" y="2337317"/>
            <a:ext cx="581373" cy="375204"/>
          </a:xfrm>
          <a:prstGeom prst="cube">
            <a:avLst>
              <a:gd name="adj" fmla="val 12264"/>
            </a:avLst>
          </a:prstGeom>
          <a:solidFill>
            <a:srgbClr val="7FC3A7"/>
          </a:solidFill>
          <a:ln w="9525">
            <a:solidFill>
              <a:schemeClr val="tx1"/>
            </a:solidFill>
            <a:miter lim="800000"/>
            <a:headEnd/>
            <a:tailEnd/>
          </a:ln>
          <a:effectLst>
            <a:outerShdw dist="23000" dir="5400000" rotWithShape="0">
              <a:srgbClr val="808080">
                <a:alpha val="34998"/>
              </a:srgbClr>
            </a:outerShdw>
          </a:effectLst>
        </p:spPr>
        <p:txBody>
          <a:bodyPr lIns="0" tIns="36000" rIns="0" bIns="36000" anchor="ctr"/>
          <a:lstStyle/>
          <a:p>
            <a:pPr algn="ctr"/>
            <a:r>
              <a:rPr lang="nl-NL" sz="800">
                <a:solidFill>
                  <a:srgbClr val="000000"/>
                </a:solidFill>
                <a:latin typeface="+mj-lt"/>
              </a:rPr>
              <a:t>Switches</a:t>
            </a:r>
          </a:p>
        </p:txBody>
      </p:sp>
      <p:cxnSp>
        <p:nvCxnSpPr>
          <p:cNvPr id="26" name="Straight Connector 108"/>
          <p:cNvCxnSpPr>
            <a:cxnSpLocks noChangeShapeType="1"/>
            <a:stCxn id="9" idx="2"/>
            <a:endCxn id="13" idx="4"/>
          </p:cNvCxnSpPr>
          <p:nvPr/>
        </p:nvCxnSpPr>
        <p:spPr bwMode="auto">
          <a:xfrm flipH="1">
            <a:off x="3818927" y="2046277"/>
            <a:ext cx="649020" cy="571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7" name="Straight Connector 111"/>
          <p:cNvCxnSpPr>
            <a:cxnSpLocks noChangeShapeType="1"/>
            <a:stCxn id="10" idx="2"/>
            <a:endCxn id="13" idx="4"/>
          </p:cNvCxnSpPr>
          <p:nvPr/>
        </p:nvCxnSpPr>
        <p:spPr bwMode="auto">
          <a:xfrm flipH="1" flipV="1">
            <a:off x="3818927" y="2617777"/>
            <a:ext cx="649020" cy="5245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8" name="Straight Connector 114"/>
          <p:cNvCxnSpPr>
            <a:cxnSpLocks noChangeShapeType="1"/>
            <a:stCxn id="9" idx="4"/>
            <a:endCxn id="25" idx="2"/>
          </p:cNvCxnSpPr>
          <p:nvPr/>
        </p:nvCxnSpPr>
        <p:spPr bwMode="auto">
          <a:xfrm>
            <a:off x="5001515" y="2046277"/>
            <a:ext cx="826818" cy="5016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9" name="Straight Connector 118"/>
          <p:cNvCxnSpPr>
            <a:cxnSpLocks noChangeShapeType="1"/>
            <a:stCxn id="10" idx="4"/>
            <a:endCxn id="25" idx="2"/>
          </p:cNvCxnSpPr>
          <p:nvPr/>
        </p:nvCxnSpPr>
        <p:spPr bwMode="auto">
          <a:xfrm flipV="1">
            <a:off x="5001760" y="2547927"/>
            <a:ext cx="826573" cy="5943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0" name="Kubus 14"/>
          <p:cNvSpPr>
            <a:spLocks noChangeArrowheads="1"/>
          </p:cNvSpPr>
          <p:nvPr/>
        </p:nvSpPr>
        <p:spPr bwMode="auto">
          <a:xfrm>
            <a:off x="2216770" y="2407167"/>
            <a:ext cx="581372" cy="375204"/>
          </a:xfrm>
          <a:prstGeom prst="cube">
            <a:avLst>
              <a:gd name="adj" fmla="val 12264"/>
            </a:avLst>
          </a:prstGeom>
          <a:solidFill>
            <a:srgbClr val="7FC3A7"/>
          </a:solidFill>
          <a:ln w="9525">
            <a:solidFill>
              <a:schemeClr val="tx1"/>
            </a:solidFill>
            <a:miter lim="800000"/>
            <a:headEnd/>
            <a:tailEnd/>
          </a:ln>
          <a:effectLst>
            <a:outerShdw dist="23000" dir="5400000" rotWithShape="0">
              <a:srgbClr val="808080">
                <a:alpha val="34998"/>
              </a:srgbClr>
            </a:outerShdw>
          </a:effectLst>
        </p:spPr>
        <p:txBody>
          <a:bodyPr tIns="36000" bIns="36000" anchor="ctr"/>
          <a:lstStyle/>
          <a:p>
            <a:pPr algn="ctr"/>
            <a:r>
              <a:rPr lang="nl-NL" sz="800">
                <a:solidFill>
                  <a:srgbClr val="000000"/>
                </a:solidFill>
                <a:latin typeface="+mj-lt"/>
              </a:rPr>
              <a:t>Firewall</a:t>
            </a:r>
          </a:p>
        </p:txBody>
      </p:sp>
      <p:sp>
        <p:nvSpPr>
          <p:cNvPr id="31" name="Kubus 14"/>
          <p:cNvSpPr>
            <a:spLocks noChangeArrowheads="1"/>
          </p:cNvSpPr>
          <p:nvPr/>
        </p:nvSpPr>
        <p:spPr bwMode="auto">
          <a:xfrm>
            <a:off x="2216770" y="3496192"/>
            <a:ext cx="581372" cy="375204"/>
          </a:xfrm>
          <a:prstGeom prst="cube">
            <a:avLst>
              <a:gd name="adj" fmla="val 12264"/>
            </a:avLst>
          </a:prstGeom>
          <a:solidFill>
            <a:srgbClr val="7FC3A7"/>
          </a:solidFill>
          <a:ln w="9525">
            <a:solidFill>
              <a:schemeClr val="tx1"/>
            </a:solidFill>
            <a:miter lim="800000"/>
            <a:headEnd/>
            <a:tailEnd/>
          </a:ln>
          <a:effectLst>
            <a:outerShdw dist="23000" dir="5400000" rotWithShape="0">
              <a:srgbClr val="808080">
                <a:alpha val="34998"/>
              </a:srgbClr>
            </a:outerShdw>
          </a:effectLst>
        </p:spPr>
        <p:txBody>
          <a:bodyPr tIns="36000" bIns="36000" anchor="ctr"/>
          <a:lstStyle/>
          <a:p>
            <a:pPr algn="ctr"/>
            <a:r>
              <a:rPr lang="nl-NL" sz="800">
                <a:solidFill>
                  <a:srgbClr val="000000"/>
                </a:solidFill>
                <a:latin typeface="+mj-lt"/>
              </a:rPr>
              <a:t>Router</a:t>
            </a:r>
          </a:p>
        </p:txBody>
      </p:sp>
      <p:sp>
        <p:nvSpPr>
          <p:cNvPr id="32" name="Rectangle 30"/>
          <p:cNvSpPr>
            <a:spLocks noChangeArrowheads="1"/>
          </p:cNvSpPr>
          <p:nvPr/>
        </p:nvSpPr>
        <p:spPr bwMode="auto">
          <a:xfrm>
            <a:off x="5662613" y="4777582"/>
            <a:ext cx="946150" cy="1066800"/>
          </a:xfrm>
          <a:prstGeom prst="rect">
            <a:avLst/>
          </a:prstGeom>
          <a:solidFill>
            <a:schemeClr val="bg1"/>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tIns="18000" rtlCol="0" anchor="t" anchorCtr="0"/>
          <a:lstStyle/>
          <a:p>
            <a:pPr algn="ctr"/>
            <a:r>
              <a:rPr lang="en-US" sz="800" b="1">
                <a:solidFill>
                  <a:schemeClr val="tx1"/>
                </a:solidFill>
                <a:latin typeface="+mj-lt"/>
              </a:rPr>
              <a:t>Combined equipment room</a:t>
            </a:r>
            <a:br>
              <a:rPr lang="en-US" sz="800" b="1">
                <a:solidFill>
                  <a:schemeClr val="tx1"/>
                </a:solidFill>
                <a:latin typeface="+mj-lt"/>
              </a:rPr>
            </a:br>
            <a:endParaRPr lang="en-US" sz="800" b="1">
              <a:solidFill>
                <a:schemeClr val="tx1"/>
              </a:solidFill>
              <a:latin typeface="+mj-lt"/>
            </a:endParaRPr>
          </a:p>
        </p:txBody>
      </p:sp>
      <p:cxnSp>
        <p:nvCxnSpPr>
          <p:cNvPr id="33" name="Straight Connector 42"/>
          <p:cNvCxnSpPr>
            <a:cxnSpLocks noChangeShapeType="1"/>
            <a:stCxn id="9" idx="4"/>
            <a:endCxn id="64" idx="2"/>
          </p:cNvCxnSpPr>
          <p:nvPr/>
        </p:nvCxnSpPr>
        <p:spPr bwMode="auto">
          <a:xfrm>
            <a:off x="5001515" y="2046277"/>
            <a:ext cx="815705" cy="3467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4" name="Straight Connector 45"/>
          <p:cNvCxnSpPr>
            <a:cxnSpLocks noChangeShapeType="1"/>
            <a:stCxn id="64" idx="2"/>
            <a:endCxn id="10" idx="4"/>
          </p:cNvCxnSpPr>
          <p:nvPr/>
        </p:nvCxnSpPr>
        <p:spPr bwMode="auto">
          <a:xfrm flipH="1" flipV="1">
            <a:off x="5001760" y="3142323"/>
            <a:ext cx="815460" cy="2371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5" name="Kubus 14"/>
          <p:cNvSpPr>
            <a:spLocks noChangeArrowheads="1"/>
          </p:cNvSpPr>
          <p:nvPr/>
        </p:nvSpPr>
        <p:spPr bwMode="auto">
          <a:xfrm>
            <a:off x="8022258" y="2337317"/>
            <a:ext cx="581373" cy="375204"/>
          </a:xfrm>
          <a:prstGeom prst="cube">
            <a:avLst>
              <a:gd name="adj" fmla="val 12264"/>
            </a:avLst>
          </a:prstGeom>
          <a:solidFill>
            <a:srgbClr val="7FC3A7"/>
          </a:solidFill>
          <a:ln w="9525">
            <a:solidFill>
              <a:schemeClr val="tx1"/>
            </a:solidFill>
            <a:miter lim="800000"/>
            <a:headEnd/>
            <a:tailEnd/>
          </a:ln>
          <a:effectLst>
            <a:outerShdw dist="23000" dir="5400000" rotWithShape="0">
              <a:srgbClr val="808080">
                <a:alpha val="34998"/>
              </a:srgbClr>
            </a:outerShdw>
          </a:effectLst>
        </p:spPr>
        <p:txBody>
          <a:bodyPr lIns="0" tIns="36000" rIns="0" bIns="36000" anchor="ctr"/>
          <a:lstStyle/>
          <a:p>
            <a:pPr algn="ctr"/>
            <a:r>
              <a:rPr lang="nl-NL" sz="900">
                <a:solidFill>
                  <a:srgbClr val="000000"/>
                </a:solidFill>
                <a:latin typeface="+mj-lt"/>
              </a:rPr>
              <a:t>Work</a:t>
            </a:r>
            <a:br>
              <a:rPr lang="nl-NL" sz="900">
                <a:solidFill>
                  <a:srgbClr val="000000"/>
                </a:solidFill>
                <a:latin typeface="+mj-lt"/>
              </a:rPr>
            </a:br>
            <a:r>
              <a:rPr lang="nl-NL" sz="900">
                <a:solidFill>
                  <a:srgbClr val="000000"/>
                </a:solidFill>
                <a:latin typeface="+mj-lt"/>
              </a:rPr>
              <a:t>station</a:t>
            </a:r>
          </a:p>
        </p:txBody>
      </p:sp>
      <p:sp>
        <p:nvSpPr>
          <p:cNvPr id="36" name="Rectangle 74"/>
          <p:cNvSpPr>
            <a:spLocks noChangeArrowheads="1"/>
          </p:cNvSpPr>
          <p:nvPr/>
        </p:nvSpPr>
        <p:spPr bwMode="auto">
          <a:xfrm>
            <a:off x="1900238" y="5625307"/>
            <a:ext cx="1214437" cy="393700"/>
          </a:xfrm>
          <a:prstGeom prst="rect">
            <a:avLst/>
          </a:prstGeom>
          <a:solidFill>
            <a:schemeClr val="bg1"/>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tIns="18000" rtlCol="0" anchor="ctr" anchorCtr="0"/>
          <a:lstStyle/>
          <a:p>
            <a:pPr algn="ctr"/>
            <a:r>
              <a:rPr lang="en-US" sz="900" b="1">
                <a:solidFill>
                  <a:schemeClr val="tx1"/>
                </a:solidFill>
                <a:latin typeface="+mj-lt"/>
              </a:rPr>
              <a:t>Internet</a:t>
            </a:r>
          </a:p>
        </p:txBody>
      </p:sp>
      <p:sp>
        <p:nvSpPr>
          <p:cNvPr id="37" name="Rectangle 75"/>
          <p:cNvSpPr>
            <a:spLocks noChangeArrowheads="1"/>
          </p:cNvSpPr>
          <p:nvPr/>
        </p:nvSpPr>
        <p:spPr bwMode="auto">
          <a:xfrm>
            <a:off x="2967038" y="4926807"/>
            <a:ext cx="1214437" cy="392112"/>
          </a:xfrm>
          <a:prstGeom prst="rect">
            <a:avLst/>
          </a:prstGeom>
          <a:solidFill>
            <a:schemeClr val="bg1"/>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tIns="18000" rtlCol="0" anchor="ctr" anchorCtr="0"/>
          <a:lstStyle/>
          <a:p>
            <a:pPr algn="ctr"/>
            <a:r>
              <a:rPr lang="en-US" sz="900" b="1">
                <a:solidFill>
                  <a:schemeClr val="tx1"/>
                </a:solidFill>
                <a:latin typeface="+mj-lt"/>
              </a:rPr>
              <a:t>Student </a:t>
            </a:r>
            <a:br>
              <a:rPr lang="en-US" sz="900" b="1">
                <a:solidFill>
                  <a:schemeClr val="tx1"/>
                </a:solidFill>
                <a:latin typeface="+mj-lt"/>
              </a:rPr>
            </a:br>
            <a:r>
              <a:rPr lang="en-US" sz="900" b="1">
                <a:solidFill>
                  <a:schemeClr val="tx1"/>
                </a:solidFill>
                <a:latin typeface="+mj-lt"/>
              </a:rPr>
              <a:t>dormitory 1</a:t>
            </a:r>
          </a:p>
        </p:txBody>
      </p:sp>
      <p:sp>
        <p:nvSpPr>
          <p:cNvPr id="38" name="Rectangle 76"/>
          <p:cNvSpPr>
            <a:spLocks noChangeArrowheads="1"/>
          </p:cNvSpPr>
          <p:nvPr/>
        </p:nvSpPr>
        <p:spPr bwMode="auto">
          <a:xfrm>
            <a:off x="4151313" y="5655469"/>
            <a:ext cx="1212850" cy="393700"/>
          </a:xfrm>
          <a:prstGeom prst="rect">
            <a:avLst/>
          </a:prstGeom>
          <a:solidFill>
            <a:schemeClr val="bg1"/>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tIns="18000" rtlCol="0" anchor="ctr" anchorCtr="0"/>
          <a:lstStyle/>
          <a:p>
            <a:pPr algn="ctr"/>
            <a:r>
              <a:rPr lang="en-US" sz="900" b="1">
                <a:solidFill>
                  <a:schemeClr val="tx1"/>
                </a:solidFill>
                <a:latin typeface="+mj-lt"/>
              </a:rPr>
              <a:t>Student</a:t>
            </a:r>
            <a:br>
              <a:rPr lang="en-US" sz="900" b="1">
                <a:solidFill>
                  <a:schemeClr val="tx1"/>
                </a:solidFill>
                <a:latin typeface="+mj-lt"/>
              </a:rPr>
            </a:br>
            <a:r>
              <a:rPr lang="en-US" sz="900" b="1">
                <a:solidFill>
                  <a:schemeClr val="tx1"/>
                </a:solidFill>
                <a:latin typeface="+mj-lt"/>
              </a:rPr>
              <a:t>dormitory 2</a:t>
            </a:r>
          </a:p>
        </p:txBody>
      </p:sp>
      <p:cxnSp>
        <p:nvCxnSpPr>
          <p:cNvPr id="39" name="Straight Connector 78"/>
          <p:cNvCxnSpPr>
            <a:cxnSpLocks noChangeShapeType="1"/>
            <a:stCxn id="31" idx="3"/>
            <a:endCxn id="36" idx="0"/>
          </p:cNvCxnSpPr>
          <p:nvPr/>
        </p:nvCxnSpPr>
        <p:spPr bwMode="auto">
          <a:xfrm>
            <a:off x="2484448" y="3871396"/>
            <a:ext cx="23009" cy="17539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0" name="Straight Connector 82"/>
          <p:cNvCxnSpPr>
            <a:cxnSpLocks noChangeShapeType="1"/>
            <a:stCxn id="13" idx="2"/>
            <a:endCxn id="30" idx="4"/>
          </p:cNvCxnSpPr>
          <p:nvPr/>
        </p:nvCxnSpPr>
        <p:spPr bwMode="auto">
          <a:xfrm flipH="1">
            <a:off x="2752127" y="2617777"/>
            <a:ext cx="53144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1" name="Straight Connector 85"/>
          <p:cNvCxnSpPr>
            <a:cxnSpLocks noChangeShapeType="1"/>
            <a:stCxn id="30" idx="3"/>
            <a:endCxn id="31" idx="1"/>
          </p:cNvCxnSpPr>
          <p:nvPr/>
        </p:nvCxnSpPr>
        <p:spPr bwMode="auto">
          <a:xfrm>
            <a:off x="2484448" y="2782371"/>
            <a:ext cx="0" cy="7598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42" name="Kubus 14"/>
          <p:cNvSpPr>
            <a:spLocks noChangeArrowheads="1"/>
          </p:cNvSpPr>
          <p:nvPr/>
        </p:nvSpPr>
        <p:spPr bwMode="auto">
          <a:xfrm>
            <a:off x="3283570" y="3496192"/>
            <a:ext cx="581372" cy="375204"/>
          </a:xfrm>
          <a:prstGeom prst="cube">
            <a:avLst>
              <a:gd name="adj" fmla="val 12264"/>
            </a:avLst>
          </a:prstGeom>
          <a:solidFill>
            <a:srgbClr val="7FC3A7"/>
          </a:solidFill>
          <a:ln w="9525">
            <a:solidFill>
              <a:schemeClr val="tx1"/>
            </a:solidFill>
            <a:miter lim="800000"/>
            <a:headEnd/>
            <a:tailEnd/>
          </a:ln>
          <a:effectLst>
            <a:outerShdw dist="23000" dir="5400000" rotWithShape="0">
              <a:srgbClr val="808080">
                <a:alpha val="34998"/>
              </a:srgbClr>
            </a:outerShdw>
          </a:effectLst>
        </p:spPr>
        <p:txBody>
          <a:bodyPr tIns="36000" bIns="36000" anchor="ctr"/>
          <a:lstStyle/>
          <a:p>
            <a:pPr algn="ctr"/>
            <a:r>
              <a:rPr lang="nl-NL" sz="800">
                <a:solidFill>
                  <a:srgbClr val="000000"/>
                </a:solidFill>
                <a:latin typeface="+mj-lt"/>
              </a:rPr>
              <a:t>Firewall</a:t>
            </a:r>
          </a:p>
        </p:txBody>
      </p:sp>
      <p:sp>
        <p:nvSpPr>
          <p:cNvPr id="43" name="Kubus 14"/>
          <p:cNvSpPr>
            <a:spLocks noChangeArrowheads="1"/>
          </p:cNvSpPr>
          <p:nvPr/>
        </p:nvSpPr>
        <p:spPr bwMode="auto">
          <a:xfrm>
            <a:off x="4465049" y="3811039"/>
            <a:ext cx="585379" cy="367811"/>
          </a:xfrm>
          <a:prstGeom prst="cube">
            <a:avLst>
              <a:gd name="adj" fmla="val 12264"/>
            </a:avLst>
          </a:prstGeom>
          <a:solidFill>
            <a:srgbClr val="7FC3A7"/>
          </a:solidFill>
          <a:ln w="9525">
            <a:solidFill>
              <a:schemeClr val="tx1"/>
            </a:solidFill>
            <a:miter lim="800000"/>
            <a:headEnd/>
            <a:tailEnd/>
          </a:ln>
          <a:effectLst>
            <a:outerShdw dist="23000" dir="5400000" rotWithShape="0">
              <a:srgbClr val="808080">
                <a:alpha val="34998"/>
              </a:srgbClr>
            </a:outerShdw>
          </a:effectLst>
        </p:spPr>
        <p:txBody>
          <a:bodyPr tIns="36000" bIns="36000" anchor="ctr"/>
          <a:lstStyle/>
          <a:p>
            <a:pPr algn="ctr"/>
            <a:r>
              <a:rPr lang="nl-NL" sz="800">
                <a:solidFill>
                  <a:srgbClr val="000000"/>
                </a:solidFill>
                <a:latin typeface="+mj-lt"/>
              </a:rPr>
              <a:t>Firewall</a:t>
            </a:r>
          </a:p>
        </p:txBody>
      </p:sp>
      <p:cxnSp>
        <p:nvCxnSpPr>
          <p:cNvPr id="45" name="Straight Connector 95"/>
          <p:cNvCxnSpPr>
            <a:cxnSpLocks noChangeShapeType="1"/>
            <a:stCxn id="42" idx="2"/>
            <a:endCxn id="31" idx="4"/>
          </p:cNvCxnSpPr>
          <p:nvPr/>
        </p:nvCxnSpPr>
        <p:spPr bwMode="auto">
          <a:xfrm flipH="1">
            <a:off x="2752127" y="3706802"/>
            <a:ext cx="53144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6" name="Curved Connector 37"/>
          <p:cNvCxnSpPr>
            <a:cxnSpLocks noChangeShapeType="1"/>
            <a:stCxn id="31" idx="4"/>
            <a:endCxn id="43" idx="2"/>
          </p:cNvCxnSpPr>
          <p:nvPr/>
        </p:nvCxnSpPr>
        <p:spPr bwMode="auto">
          <a:xfrm>
            <a:off x="2752127" y="3706802"/>
            <a:ext cx="1712922" cy="310697"/>
          </a:xfrm>
          <a:prstGeom prst="curvedConnector3">
            <a:avLst>
              <a:gd name="adj1" fmla="val 50000"/>
            </a:avLst>
          </a:prstGeom>
          <a:noFill/>
          <a:ln w="9525">
            <a:solidFill>
              <a:schemeClr val="accent1"/>
            </a:solidFill>
            <a:round/>
            <a:headEnd/>
            <a:tailEnd/>
          </a:ln>
          <a:extLst>
            <a:ext uri="{909E8E84-426E-40DD-AFC4-6F175D3DCCD1}">
              <a14:hiddenFill xmlns:a14="http://schemas.microsoft.com/office/drawing/2010/main">
                <a:noFill/>
              </a14:hiddenFill>
            </a:ext>
          </a:extLst>
        </p:spPr>
      </p:cxnSp>
      <p:cxnSp>
        <p:nvCxnSpPr>
          <p:cNvPr id="47" name="Straight Connector 100"/>
          <p:cNvCxnSpPr>
            <a:cxnSpLocks noChangeShapeType="1"/>
            <a:stCxn id="42" idx="3"/>
            <a:endCxn id="37" idx="0"/>
          </p:cNvCxnSpPr>
          <p:nvPr/>
        </p:nvCxnSpPr>
        <p:spPr bwMode="auto">
          <a:xfrm>
            <a:off x="3551248" y="3871396"/>
            <a:ext cx="23009" cy="10554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104"/>
          <p:cNvCxnSpPr>
            <a:cxnSpLocks noChangeShapeType="1"/>
            <a:stCxn id="43" idx="3"/>
            <a:endCxn id="38" idx="0"/>
          </p:cNvCxnSpPr>
          <p:nvPr/>
        </p:nvCxnSpPr>
        <p:spPr bwMode="auto">
          <a:xfrm>
            <a:off x="4735184" y="4178850"/>
            <a:ext cx="22554" cy="14766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9" name="Straight Connector 109"/>
          <p:cNvCxnSpPr>
            <a:cxnSpLocks noChangeShapeType="1"/>
            <a:stCxn id="25" idx="4"/>
            <a:endCxn id="35" idx="2"/>
          </p:cNvCxnSpPr>
          <p:nvPr/>
        </p:nvCxnSpPr>
        <p:spPr bwMode="auto">
          <a:xfrm>
            <a:off x="6363691" y="2547927"/>
            <a:ext cx="165856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0" name="TextBox 110"/>
          <p:cNvSpPr txBox="1">
            <a:spLocks noChangeArrowheads="1"/>
          </p:cNvSpPr>
          <p:nvPr/>
        </p:nvSpPr>
        <p:spPr bwMode="auto">
          <a:xfrm>
            <a:off x="3078877" y="5414169"/>
            <a:ext cx="16979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800">
                <a:latin typeface="+mj-lt"/>
              </a:rPr>
              <a:t>optical laser connection– 100 Mb</a:t>
            </a:r>
          </a:p>
        </p:txBody>
      </p:sp>
      <p:sp>
        <p:nvSpPr>
          <p:cNvPr id="51" name="TextBox 112"/>
          <p:cNvSpPr txBox="1">
            <a:spLocks noChangeArrowheads="1"/>
          </p:cNvSpPr>
          <p:nvPr/>
        </p:nvSpPr>
        <p:spPr bwMode="auto">
          <a:xfrm>
            <a:off x="2547375" y="4620419"/>
            <a:ext cx="10567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800">
                <a:latin typeface="+mj-lt"/>
              </a:rPr>
              <a:t>glassfibre– 100 Mb</a:t>
            </a:r>
          </a:p>
        </p:txBody>
      </p:sp>
      <p:sp>
        <p:nvSpPr>
          <p:cNvPr id="52" name="TextBox 113"/>
          <p:cNvSpPr txBox="1">
            <a:spLocks noChangeArrowheads="1"/>
          </p:cNvSpPr>
          <p:nvPr/>
        </p:nvSpPr>
        <p:spPr bwMode="auto">
          <a:xfrm>
            <a:off x="1657926" y="5310982"/>
            <a:ext cx="91563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800">
                <a:latin typeface="+mj-lt"/>
              </a:rPr>
              <a:t>glassfibre– 1Gb</a:t>
            </a:r>
          </a:p>
        </p:txBody>
      </p:sp>
      <p:sp>
        <p:nvSpPr>
          <p:cNvPr id="53" name="TextBox 115"/>
          <p:cNvSpPr txBox="1">
            <a:spLocks noChangeArrowheads="1"/>
          </p:cNvSpPr>
          <p:nvPr/>
        </p:nvSpPr>
        <p:spPr bwMode="auto">
          <a:xfrm>
            <a:off x="6740525" y="2594769"/>
            <a:ext cx="105727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800" dirty="0">
                <a:latin typeface="+mj-lt"/>
              </a:rPr>
              <a:t>CAT5 (e) – 100 Mb</a:t>
            </a:r>
          </a:p>
        </p:txBody>
      </p:sp>
      <p:sp>
        <p:nvSpPr>
          <p:cNvPr id="54" name="TextBox 117"/>
          <p:cNvSpPr txBox="1">
            <a:spLocks noChangeArrowheads="1"/>
          </p:cNvSpPr>
          <p:nvPr/>
        </p:nvSpPr>
        <p:spPr bwMode="auto">
          <a:xfrm>
            <a:off x="2735263" y="2905919"/>
            <a:ext cx="136366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800">
                <a:latin typeface="+mj-lt"/>
              </a:rPr>
              <a:t>4 x 1Gb  FO etherchannel</a:t>
            </a:r>
          </a:p>
        </p:txBody>
      </p:sp>
      <p:sp>
        <p:nvSpPr>
          <p:cNvPr id="55" name="Rectangle 59"/>
          <p:cNvSpPr>
            <a:spLocks noChangeArrowheads="1"/>
          </p:cNvSpPr>
          <p:nvPr/>
        </p:nvSpPr>
        <p:spPr bwMode="auto">
          <a:xfrm>
            <a:off x="6738938" y="4777582"/>
            <a:ext cx="990600" cy="1066800"/>
          </a:xfrm>
          <a:prstGeom prst="rect">
            <a:avLst/>
          </a:prstGeom>
          <a:solidFill>
            <a:schemeClr val="bg1"/>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tIns="18000" rtlCol="0" anchor="t" anchorCtr="0"/>
          <a:lstStyle/>
          <a:p>
            <a:pPr algn="ctr"/>
            <a:r>
              <a:rPr lang="en-US" sz="800" b="1">
                <a:solidFill>
                  <a:schemeClr val="tx1"/>
                </a:solidFill>
                <a:latin typeface="+mj-lt"/>
              </a:rPr>
              <a:t>Secondary equipment room</a:t>
            </a:r>
            <a:br>
              <a:rPr lang="en-US" sz="800" b="1">
                <a:solidFill>
                  <a:schemeClr val="tx1"/>
                </a:solidFill>
                <a:latin typeface="+mj-lt"/>
              </a:rPr>
            </a:br>
            <a:endParaRPr lang="en-US" sz="800" b="1">
              <a:solidFill>
                <a:schemeClr val="tx1"/>
              </a:solidFill>
              <a:latin typeface="+mj-lt"/>
            </a:endParaRPr>
          </a:p>
        </p:txBody>
      </p:sp>
      <p:sp>
        <p:nvSpPr>
          <p:cNvPr id="56" name="Kubus 14"/>
          <p:cNvSpPr>
            <a:spLocks noChangeArrowheads="1"/>
          </p:cNvSpPr>
          <p:nvPr/>
        </p:nvSpPr>
        <p:spPr bwMode="auto">
          <a:xfrm>
            <a:off x="6858722" y="5304561"/>
            <a:ext cx="579583" cy="373204"/>
          </a:xfrm>
          <a:prstGeom prst="cube">
            <a:avLst>
              <a:gd name="adj" fmla="val 12264"/>
            </a:avLst>
          </a:prstGeom>
          <a:solidFill>
            <a:srgbClr val="7FC3A7"/>
          </a:solidFill>
          <a:ln w="9525">
            <a:solidFill>
              <a:schemeClr val="tx1"/>
            </a:solidFill>
            <a:miter lim="800000"/>
            <a:headEnd/>
            <a:tailEnd/>
          </a:ln>
          <a:effectLst>
            <a:outerShdw dist="23000" dir="5400000" rotWithShape="0">
              <a:srgbClr val="808080">
                <a:alpha val="34998"/>
              </a:srgbClr>
            </a:outerShdw>
          </a:effectLst>
        </p:spPr>
        <p:txBody>
          <a:bodyPr lIns="0" tIns="36000" rIns="0" bIns="36000" anchor="ctr"/>
          <a:lstStyle/>
          <a:p>
            <a:pPr algn="ctr"/>
            <a:r>
              <a:rPr lang="nl-NL" sz="800">
                <a:solidFill>
                  <a:srgbClr val="000000"/>
                </a:solidFill>
                <a:latin typeface="+mj-lt"/>
              </a:rPr>
              <a:t>Switches</a:t>
            </a:r>
          </a:p>
        </p:txBody>
      </p:sp>
      <p:cxnSp>
        <p:nvCxnSpPr>
          <p:cNvPr id="57" name="Straight Connector 98"/>
          <p:cNvCxnSpPr>
            <a:cxnSpLocks noChangeShapeType="1"/>
          </p:cNvCxnSpPr>
          <p:nvPr/>
        </p:nvCxnSpPr>
        <p:spPr bwMode="auto">
          <a:xfrm>
            <a:off x="6300788" y="5585619"/>
            <a:ext cx="5905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8" name="Straight Connector 99"/>
          <p:cNvCxnSpPr>
            <a:cxnSpLocks noChangeShapeType="1"/>
          </p:cNvCxnSpPr>
          <p:nvPr/>
        </p:nvCxnSpPr>
        <p:spPr bwMode="auto">
          <a:xfrm>
            <a:off x="6300788" y="5464969"/>
            <a:ext cx="5905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9" name="TextBox 101"/>
          <p:cNvSpPr txBox="1">
            <a:spLocks noChangeArrowheads="1"/>
          </p:cNvSpPr>
          <p:nvPr/>
        </p:nvSpPr>
        <p:spPr bwMode="auto">
          <a:xfrm>
            <a:off x="6308679" y="5101432"/>
            <a:ext cx="63350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800" dirty="0" err="1">
                <a:latin typeface="+mj-lt"/>
              </a:rPr>
              <a:t>glassfibre</a:t>
            </a:r>
            <a:endParaRPr lang="en-US" sz="800" dirty="0">
              <a:latin typeface="+mj-lt"/>
            </a:endParaRPr>
          </a:p>
        </p:txBody>
      </p:sp>
      <p:sp>
        <p:nvSpPr>
          <p:cNvPr id="61" name="Rectangle 59"/>
          <p:cNvSpPr>
            <a:spLocks noChangeArrowheads="1"/>
          </p:cNvSpPr>
          <p:nvPr/>
        </p:nvSpPr>
        <p:spPr bwMode="auto">
          <a:xfrm>
            <a:off x="7831138" y="4777582"/>
            <a:ext cx="969962" cy="1071562"/>
          </a:xfrm>
          <a:prstGeom prst="rect">
            <a:avLst/>
          </a:prstGeom>
          <a:solidFill>
            <a:schemeClr val="bg1"/>
          </a:solidFill>
          <a:ln w="12700">
            <a:solidFill>
              <a:srgbClr val="3D7F64"/>
            </a:solidFill>
          </a:ln>
        </p:spPr>
        <p:style>
          <a:lnRef idx="2">
            <a:schemeClr val="accent1">
              <a:shade val="50000"/>
            </a:schemeClr>
          </a:lnRef>
          <a:fillRef idx="1">
            <a:schemeClr val="accent1"/>
          </a:fillRef>
          <a:effectRef idx="0">
            <a:schemeClr val="accent1"/>
          </a:effectRef>
          <a:fontRef idx="minor">
            <a:schemeClr val="lt1"/>
          </a:fontRef>
        </p:style>
        <p:txBody>
          <a:bodyPr tIns="18000" rtlCol="0" anchor="t" anchorCtr="0"/>
          <a:lstStyle/>
          <a:p>
            <a:pPr algn="ctr"/>
            <a:r>
              <a:rPr lang="en-US" sz="800" b="1">
                <a:solidFill>
                  <a:schemeClr val="tx1"/>
                </a:solidFill>
                <a:latin typeface="+mj-lt"/>
              </a:rPr>
              <a:t>Other rooms</a:t>
            </a:r>
          </a:p>
        </p:txBody>
      </p:sp>
      <p:sp>
        <p:nvSpPr>
          <p:cNvPr id="62" name="Kubus 14"/>
          <p:cNvSpPr>
            <a:spLocks noChangeArrowheads="1"/>
          </p:cNvSpPr>
          <p:nvPr/>
        </p:nvSpPr>
        <p:spPr bwMode="auto">
          <a:xfrm>
            <a:off x="7984158" y="5304561"/>
            <a:ext cx="581373" cy="373204"/>
          </a:xfrm>
          <a:prstGeom prst="cube">
            <a:avLst>
              <a:gd name="adj" fmla="val 12264"/>
            </a:avLst>
          </a:prstGeom>
          <a:solidFill>
            <a:srgbClr val="7FC3A7"/>
          </a:solidFill>
          <a:ln w="9525">
            <a:solidFill>
              <a:schemeClr val="tx1"/>
            </a:solidFill>
            <a:miter lim="800000"/>
            <a:headEnd/>
            <a:tailEnd/>
          </a:ln>
          <a:effectLst>
            <a:outerShdw dist="23000" dir="5400000" rotWithShape="0">
              <a:srgbClr val="808080">
                <a:alpha val="34998"/>
              </a:srgbClr>
            </a:outerShdw>
          </a:effectLst>
        </p:spPr>
        <p:txBody>
          <a:bodyPr tIns="36000" bIns="36000" anchor="ctr"/>
          <a:lstStyle/>
          <a:p>
            <a:pPr algn="ctr"/>
            <a:r>
              <a:rPr lang="nl-NL" sz="800">
                <a:solidFill>
                  <a:srgbClr val="000000"/>
                </a:solidFill>
                <a:latin typeface="+mj-lt"/>
              </a:rPr>
              <a:t>Work</a:t>
            </a:r>
            <a:br>
              <a:rPr lang="nl-NL" sz="800">
                <a:solidFill>
                  <a:srgbClr val="000000"/>
                </a:solidFill>
                <a:latin typeface="+mj-lt"/>
              </a:rPr>
            </a:br>
            <a:r>
              <a:rPr lang="nl-NL" sz="800">
                <a:solidFill>
                  <a:srgbClr val="000000"/>
                </a:solidFill>
                <a:latin typeface="+mj-lt"/>
              </a:rPr>
              <a:t>station</a:t>
            </a:r>
          </a:p>
        </p:txBody>
      </p:sp>
      <p:cxnSp>
        <p:nvCxnSpPr>
          <p:cNvPr id="63" name="Straight Connector 127"/>
          <p:cNvCxnSpPr>
            <a:cxnSpLocks noChangeShapeType="1"/>
            <a:stCxn id="56" idx="4"/>
            <a:endCxn id="62" idx="2"/>
          </p:cNvCxnSpPr>
          <p:nvPr/>
        </p:nvCxnSpPr>
        <p:spPr bwMode="auto">
          <a:xfrm>
            <a:off x="7392535" y="5514048"/>
            <a:ext cx="59162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64" name="Kubus 14"/>
          <p:cNvSpPr>
            <a:spLocks noChangeArrowheads="1"/>
          </p:cNvSpPr>
          <p:nvPr/>
        </p:nvSpPr>
        <p:spPr bwMode="auto">
          <a:xfrm>
            <a:off x="5817220" y="5304561"/>
            <a:ext cx="581372" cy="373204"/>
          </a:xfrm>
          <a:prstGeom prst="cube">
            <a:avLst>
              <a:gd name="adj" fmla="val 12264"/>
            </a:avLst>
          </a:prstGeom>
          <a:solidFill>
            <a:srgbClr val="7FC3A7"/>
          </a:solidFill>
          <a:ln w="9525">
            <a:solidFill>
              <a:schemeClr val="tx1"/>
            </a:solidFill>
            <a:miter lim="800000"/>
            <a:headEnd/>
            <a:tailEnd/>
          </a:ln>
          <a:effectLst>
            <a:outerShdw dist="23000" dir="5400000" rotWithShape="0">
              <a:srgbClr val="808080">
                <a:alpha val="34998"/>
              </a:srgbClr>
            </a:outerShdw>
          </a:effectLst>
        </p:spPr>
        <p:txBody>
          <a:bodyPr lIns="0" tIns="36000" rIns="0" bIns="36000" anchor="ctr"/>
          <a:lstStyle/>
          <a:p>
            <a:pPr algn="ctr"/>
            <a:r>
              <a:rPr lang="nl-NL" sz="800">
                <a:solidFill>
                  <a:srgbClr val="000000"/>
                </a:solidFill>
                <a:latin typeface="+mj-lt"/>
              </a:rPr>
              <a:t>Switches</a:t>
            </a:r>
          </a:p>
        </p:txBody>
      </p:sp>
      <p:sp>
        <p:nvSpPr>
          <p:cNvPr id="60" name="TextBox 106"/>
          <p:cNvSpPr txBox="1">
            <a:spLocks noChangeArrowheads="1"/>
          </p:cNvSpPr>
          <p:nvPr/>
        </p:nvSpPr>
        <p:spPr bwMode="auto">
          <a:xfrm>
            <a:off x="7305998" y="5099342"/>
            <a:ext cx="8382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800">
                <a:latin typeface="+mj-lt"/>
              </a:rPr>
              <a:t>CAT6 – 10 Gb</a:t>
            </a:r>
          </a:p>
        </p:txBody>
      </p:sp>
    </p:spTree>
    <p:extLst>
      <p:ext uri="{BB962C8B-B14F-4D97-AF65-F5344CB8AC3E}">
        <p14:creationId xmlns:p14="http://schemas.microsoft.com/office/powerpoint/2010/main" val="4215244016"/>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Relationship of </a:t>
            </a:r>
            <a:r>
              <a:rPr lang="en-US" dirty="0" smtClean="0"/>
              <a:t>Artifacts </a:t>
            </a:r>
            <a:r>
              <a:rPr lang="en-US" dirty="0"/>
              <a:t>with Content Metamodel</a:t>
            </a:r>
            <a:endParaRPr lang="en-IN" dirty="0"/>
          </a:p>
        </p:txBody>
      </p:sp>
      <p:graphicFrame>
        <p:nvGraphicFramePr>
          <p:cNvPr id="7" name="Table 6"/>
          <p:cNvGraphicFramePr>
            <a:graphicFrameLocks noGrp="1"/>
          </p:cNvGraphicFramePr>
          <p:nvPr>
            <p:extLst>
              <p:ext uri="{D42A27DB-BD31-4B8C-83A1-F6EECF244321}">
                <p14:modId xmlns:p14="http://schemas.microsoft.com/office/powerpoint/2010/main" val="842249976"/>
              </p:ext>
            </p:extLst>
          </p:nvPr>
        </p:nvGraphicFramePr>
        <p:xfrm>
          <a:off x="228609" y="1009651"/>
          <a:ext cx="8694521" cy="5303762"/>
        </p:xfrm>
        <a:graphic>
          <a:graphicData uri="http://schemas.openxmlformats.org/drawingml/2006/table">
            <a:tbl>
              <a:tblPr firstRow="1" bandRow="1">
                <a:tableStyleId>{ED083AE6-46FA-4A59-8FB0-9F97EB10719F}</a:tableStyleId>
              </a:tblPr>
              <a:tblGrid>
                <a:gridCol w="1734609"/>
                <a:gridCol w="426115"/>
                <a:gridCol w="426115"/>
                <a:gridCol w="426115"/>
                <a:gridCol w="424929"/>
                <a:gridCol w="456888"/>
                <a:gridCol w="456888"/>
                <a:gridCol w="456888"/>
                <a:gridCol w="489313"/>
                <a:gridCol w="510658"/>
                <a:gridCol w="522993"/>
                <a:gridCol w="456888"/>
                <a:gridCol w="442161"/>
                <a:gridCol w="487987"/>
                <a:gridCol w="487987"/>
                <a:gridCol w="487987"/>
              </a:tblGrid>
              <a:tr h="2405762">
                <a:tc>
                  <a:txBody>
                    <a:bodyPr/>
                    <a:lstStyle/>
                    <a:p>
                      <a:endParaRPr lang="en-US" sz="1200" dirty="0"/>
                    </a:p>
                  </a:txBody>
                  <a:tcPr marL="90000" marR="90000" marT="90000" marB="90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nl-NL" sz="1200" dirty="0"/>
                        <a:t>Driver/Goal/Objective Catalog</a:t>
                      </a:r>
                      <a:endParaRPr lang="nl-NL" sz="1200" b="0" dirty="0"/>
                    </a:p>
                  </a:txBody>
                  <a:tcPr marL="90000" marR="9000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nl-NL" sz="1200" b="1" dirty="0"/>
                        <a:t>Functional Decomposition Diagram</a:t>
                      </a:r>
                    </a:p>
                  </a:txBody>
                  <a:tcPr marL="90000" marR="9000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nl-NL" sz="1200" b="1" dirty="0"/>
                        <a:t>Process Flow Diagram</a:t>
                      </a:r>
                    </a:p>
                  </a:txBody>
                  <a:tcPr marL="90000" marR="9000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nl-NL" sz="1200" b="1" dirty="0"/>
                        <a:t>Conceptual Data Diagram</a:t>
                      </a:r>
                    </a:p>
                  </a:txBody>
                  <a:tcPr marL="90000" marR="9000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nl-NL" sz="1200" b="1" dirty="0"/>
                        <a:t>Application/Data Matrix</a:t>
                      </a:r>
                    </a:p>
                  </a:txBody>
                  <a:tcPr marL="90000" marR="9000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ts val="1380"/>
                        </a:lnSpc>
                        <a:spcBef>
                          <a:spcPts val="0"/>
                        </a:spcBef>
                        <a:spcAft>
                          <a:spcPts val="0"/>
                        </a:spcAft>
                        <a:buClrTx/>
                        <a:buSzTx/>
                        <a:buFontTx/>
                        <a:buNone/>
                        <a:tabLst/>
                        <a:defRPr/>
                      </a:pPr>
                      <a:r>
                        <a:rPr lang="en-US" sz="1200" b="1" dirty="0"/>
                        <a:t>Data Entity/Business Function </a:t>
                      </a:r>
                      <a:r>
                        <a:rPr lang="nl-NL" sz="1200" b="1" dirty="0"/>
                        <a:t>Matrix</a:t>
                      </a:r>
                    </a:p>
                  </a:txBody>
                  <a:tcPr marL="90000" marR="9000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ts val="1380"/>
                        </a:lnSpc>
                        <a:spcBef>
                          <a:spcPts val="0"/>
                        </a:spcBef>
                        <a:spcAft>
                          <a:spcPts val="0"/>
                        </a:spcAft>
                        <a:buClrTx/>
                        <a:buSzTx/>
                        <a:buFontTx/>
                        <a:buNone/>
                        <a:tabLst/>
                        <a:defRPr/>
                      </a:pPr>
                      <a:r>
                        <a:rPr lang="nl-NL" sz="1200" b="1" dirty="0"/>
                        <a:t>Application Portfolio Catalog</a:t>
                      </a:r>
                    </a:p>
                  </a:txBody>
                  <a:tcPr marL="90000" marR="9000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nSpc>
                          <a:spcPts val="1380"/>
                        </a:lnSpc>
                      </a:pPr>
                      <a:r>
                        <a:rPr lang="nl-NL" sz="1200" b="1" dirty="0"/>
                        <a:t>Application Communication Diagram</a:t>
                      </a:r>
                    </a:p>
                  </a:txBody>
                  <a:tcPr marL="90000" marR="9000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ts val="1380"/>
                        </a:lnSpc>
                        <a:spcBef>
                          <a:spcPts val="0"/>
                        </a:spcBef>
                        <a:spcAft>
                          <a:spcPts val="0"/>
                        </a:spcAft>
                        <a:buClrTx/>
                        <a:buSzTx/>
                        <a:buFontTx/>
                        <a:buNone/>
                        <a:tabLst/>
                        <a:defRPr/>
                      </a:pPr>
                      <a:r>
                        <a:rPr lang="nl-NL" sz="1200" b="1" dirty="0"/>
                        <a:t>Application/Function Matrix</a:t>
                      </a:r>
                    </a:p>
                  </a:txBody>
                  <a:tcPr marL="90000" marR="9000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nSpc>
                          <a:spcPts val="1380"/>
                        </a:lnSpc>
                      </a:pPr>
                      <a:r>
                        <a:rPr lang="nl-NL" sz="1200" b="1" dirty="0"/>
                        <a:t>Application Use-Case Diagram</a:t>
                      </a:r>
                    </a:p>
                  </a:txBody>
                  <a:tcPr marL="90000" marR="9000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ts val="1380"/>
                        </a:lnSpc>
                        <a:spcBef>
                          <a:spcPts val="0"/>
                        </a:spcBef>
                        <a:spcAft>
                          <a:spcPts val="0"/>
                        </a:spcAft>
                        <a:buClrTx/>
                        <a:buSzTx/>
                        <a:buFontTx/>
                        <a:buNone/>
                        <a:tabLst/>
                        <a:defRPr/>
                      </a:pPr>
                      <a:r>
                        <a:rPr lang="nl-NL" sz="1200" b="1" dirty="0"/>
                        <a:t>Technology Standards Catalog</a:t>
                      </a:r>
                      <a:endParaRPr lang="en-US" sz="1200" b="1" kern="1200" dirty="0">
                        <a:solidFill>
                          <a:schemeClr val="tx1"/>
                        </a:solidFill>
                        <a:latin typeface="+mn-lt"/>
                        <a:ea typeface="+mn-ea"/>
                        <a:cs typeface="+mn-cs"/>
                      </a:endParaRPr>
                    </a:p>
                  </a:txBody>
                  <a:tcPr marL="90000" marR="9000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ts val="1380"/>
                        </a:lnSpc>
                        <a:spcBef>
                          <a:spcPts val="0"/>
                        </a:spcBef>
                        <a:spcAft>
                          <a:spcPts val="0"/>
                        </a:spcAft>
                        <a:buClrTx/>
                        <a:buSzTx/>
                        <a:buFontTx/>
                        <a:buNone/>
                        <a:tabLst/>
                        <a:defRPr/>
                      </a:pPr>
                      <a:r>
                        <a:rPr lang="nl-NL" sz="1200" b="1" dirty="0"/>
                        <a:t>Environments and Locations Diagram</a:t>
                      </a:r>
                    </a:p>
                  </a:txBody>
                  <a:tcPr marL="90000" marR="9000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ts val="1380"/>
                        </a:lnSpc>
                        <a:spcBef>
                          <a:spcPts val="0"/>
                        </a:spcBef>
                        <a:spcAft>
                          <a:spcPts val="0"/>
                        </a:spcAft>
                        <a:buClrTx/>
                        <a:buSzTx/>
                        <a:buFontTx/>
                        <a:buNone/>
                        <a:tabLst/>
                        <a:defRPr/>
                      </a:pPr>
                      <a:r>
                        <a:rPr lang="nl-NL" sz="1200" b="1" dirty="0"/>
                        <a:t>Platform Decomposition Diagram</a:t>
                      </a:r>
                    </a:p>
                  </a:txBody>
                  <a:tcPr marL="90000" marR="9000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ts val="1380"/>
                        </a:lnSpc>
                        <a:spcBef>
                          <a:spcPts val="0"/>
                        </a:spcBef>
                        <a:spcAft>
                          <a:spcPts val="0"/>
                        </a:spcAft>
                        <a:buClrTx/>
                        <a:buSzTx/>
                        <a:buFontTx/>
                        <a:buNone/>
                        <a:tabLst/>
                        <a:defRPr/>
                      </a:pPr>
                      <a:r>
                        <a:rPr lang="en-US" sz="1200" b="1" dirty="0"/>
                        <a:t>Networked Computing/Hardware </a:t>
                      </a:r>
                      <a:r>
                        <a:rPr lang="nl-NL" sz="1200" b="1" dirty="0"/>
                        <a:t>Diagram</a:t>
                      </a:r>
                    </a:p>
                  </a:txBody>
                  <a:tcPr marL="90000" marR="9000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nSpc>
                          <a:spcPts val="1380"/>
                        </a:lnSpc>
                      </a:pPr>
                      <a:r>
                        <a:rPr lang="en-US" sz="1200" b="1" dirty="0"/>
                        <a:t>Communications Engineering Diagram</a:t>
                      </a:r>
                      <a:endParaRPr lang="en-US" sz="1200" b="1" kern="1200" dirty="0">
                        <a:solidFill>
                          <a:schemeClr val="tx1"/>
                        </a:solidFill>
                        <a:latin typeface="+mn-lt"/>
                        <a:ea typeface="+mn-ea"/>
                        <a:cs typeface="+mn-cs"/>
                      </a:endParaRPr>
                    </a:p>
                  </a:txBody>
                  <a:tcPr marL="90000" marR="90000" marT="90000" marB="9000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414000">
                <a:tc>
                  <a:txBody>
                    <a:bodyPr/>
                    <a:lstStyle/>
                    <a:p>
                      <a:r>
                        <a:rPr lang="en-US" sz="1200" dirty="0"/>
                        <a:t>Driver/goal/objective</a:t>
                      </a: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r>
                        <a:rPr lang="en-US" sz="1200" dirty="0"/>
                        <a:t>X</a:t>
                      </a: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D7F64">
                        <a:alpha val="20000"/>
                      </a:srgbClr>
                    </a:solidFill>
                  </a:tcPr>
                </a:tc>
              </a:tr>
              <a:tr h="414000">
                <a:tc>
                  <a:txBody>
                    <a:bodyPr/>
                    <a:lstStyle/>
                    <a:p>
                      <a:r>
                        <a:rPr lang="en-US" sz="1200" dirty="0" smtClean="0"/>
                        <a:t>Function</a:t>
                      </a: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alpha val="20000"/>
                      </a:srgbClr>
                    </a:solidFill>
                  </a:tcPr>
                </a:tc>
                <a:tc>
                  <a:txBody>
                    <a:bodyPr/>
                    <a:lstStyle/>
                    <a:p>
                      <a:pPr algn="ctr"/>
                      <a:r>
                        <a:rPr lang="en-US" sz="1200" dirty="0" smtClean="0"/>
                        <a:t>X</a:t>
                      </a: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alpha val="20000"/>
                      </a:srgbClr>
                    </a:solidFill>
                  </a:tcPr>
                </a:tc>
                <a:tc>
                  <a:txBody>
                    <a:bodyPr/>
                    <a:lstStyle/>
                    <a:p>
                      <a:pPr algn="ctr"/>
                      <a:r>
                        <a:rPr lang="en-US" sz="1200" dirty="0"/>
                        <a:t>X</a:t>
                      </a: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alpha val="20000"/>
                      </a:srgbClr>
                    </a:solidFill>
                  </a:tcPr>
                </a:tc>
                <a:tc>
                  <a:txBody>
                    <a:bodyPr/>
                    <a:lstStyle/>
                    <a:p>
                      <a:pPr algn="ctr"/>
                      <a:r>
                        <a:rPr lang="en-US" sz="1200" dirty="0"/>
                        <a:t>X</a:t>
                      </a: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alpha val="20000"/>
                      </a:srgbClr>
                    </a:solidFill>
                  </a:tcPr>
                </a:tc>
              </a:tr>
              <a:tr h="414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Process</a:t>
                      </a: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200" dirty="0"/>
                        <a:t>X</a:t>
                      </a: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r>
              <a:tr h="414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Data Entity</a:t>
                      </a: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r>
                        <a:rPr lang="en-US" sz="1200" dirty="0"/>
                        <a:t>X</a:t>
                      </a: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r>
                        <a:rPr lang="en-US" sz="1200" dirty="0" smtClean="0"/>
                        <a:t>X</a:t>
                      </a: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r>
                        <a:rPr lang="en-US" sz="1200" dirty="0" smtClean="0"/>
                        <a:t>X</a:t>
                      </a: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r>
                        <a:rPr lang="en-US" sz="1200" dirty="0" smtClean="0"/>
                        <a:t>X</a:t>
                      </a: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r>
              <a:tr h="414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Application component</a:t>
                      </a: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200" dirty="0"/>
                        <a:t>X</a:t>
                      </a: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200" dirty="0"/>
                        <a:t>X</a:t>
                      </a: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200" dirty="0"/>
                        <a:t>X</a:t>
                      </a: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200" dirty="0"/>
                        <a:t>X</a:t>
                      </a: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200" dirty="0"/>
                        <a:t>X</a:t>
                      </a: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200" dirty="0"/>
                        <a:t>X</a:t>
                      </a: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r>
              <a:tr h="414000">
                <a:tc>
                  <a:txBody>
                    <a:bodyPr/>
                    <a:lstStyle/>
                    <a:p>
                      <a:r>
                        <a:rPr lang="en-US" sz="1200" dirty="0" smtClean="0"/>
                        <a:t>Technology component</a:t>
                      </a: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endParaRPr lang="en-US" sz="120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endParaRPr lang="en-US" sz="120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endParaRPr lang="en-US" sz="120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endParaRPr lang="en-US" sz="120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endParaRPr lang="en-US" sz="120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r>
                        <a:rPr lang="en-US" sz="1200" dirty="0"/>
                        <a:t>X</a:t>
                      </a: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r>
                        <a:rPr lang="en-US" sz="1200" dirty="0" smtClean="0"/>
                        <a:t>X</a:t>
                      </a: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r>
                        <a:rPr lang="en-US" sz="1200" dirty="0"/>
                        <a:t>X</a:t>
                      </a: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r>
                        <a:rPr lang="en-US" sz="1200"/>
                        <a:t>X</a:t>
                      </a: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c>
                  <a:txBody>
                    <a:bodyPr/>
                    <a:lstStyle/>
                    <a:p>
                      <a:pPr algn="ctr"/>
                      <a:r>
                        <a:rPr lang="en-US" sz="1200"/>
                        <a:t>X</a:t>
                      </a: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alpha val="20000"/>
                      </a:schemeClr>
                    </a:solidFill>
                  </a:tcPr>
                </a:tc>
              </a:tr>
              <a:tr h="414000">
                <a:tc>
                  <a:txBody>
                    <a:bodyPr/>
                    <a:lstStyle/>
                    <a:p>
                      <a:r>
                        <a:rPr lang="en-US" sz="1200" dirty="0"/>
                        <a:t>Location</a:t>
                      </a: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200" dirty="0"/>
                        <a:t>X</a:t>
                      </a: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endParaRPr lang="en-US" sz="1200" dirty="0"/>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c>
                  <a:txBody>
                    <a:bodyPr/>
                    <a:lstStyle/>
                    <a:p>
                      <a:pPr algn="ctr"/>
                      <a:r>
                        <a:rPr lang="en-US" sz="1200" dirty="0"/>
                        <a:t>X</a:t>
                      </a:r>
                    </a:p>
                  </a:txBody>
                  <a:tcPr marL="42410" marR="42410" marT="21205" marB="2120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7FC3A7">
                        <a:alpha val="20000"/>
                      </a:srgbClr>
                    </a:solidFill>
                  </a:tcPr>
                </a:tc>
              </a:tr>
            </a:tbl>
          </a:graphicData>
        </a:graphic>
      </p:graphicFrame>
    </p:spTree>
    <p:extLst>
      <p:ext uri="{BB962C8B-B14F-4D97-AF65-F5344CB8AC3E}">
        <p14:creationId xmlns:p14="http://schemas.microsoft.com/office/powerpoint/2010/main" val="1448895319"/>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3"/>
          <p:cNvSpPr>
            <a:spLocks noGrp="1" noChangeArrowheads="1"/>
          </p:cNvSpPr>
          <p:nvPr>
            <p:ph idx="1"/>
          </p:nvPr>
        </p:nvSpPr>
        <p:spPr>
          <a:xfrm>
            <a:off x="457511" y="987990"/>
            <a:ext cx="4092402" cy="5312141"/>
          </a:xfrm>
        </p:spPr>
        <p:txBody>
          <a:bodyPr>
            <a:normAutofit/>
          </a:bodyPr>
          <a:lstStyle/>
          <a:p>
            <a:pPr marL="0" indent="0" eaLnBrk="1" hangingPunct="1">
              <a:lnSpc>
                <a:spcPct val="90000"/>
              </a:lnSpc>
              <a:buFontTx/>
              <a:buNone/>
              <a:defRPr/>
            </a:pPr>
            <a:r>
              <a:rPr lang="nl-NL" sz="1800" i="1" dirty="0" err="1" smtClean="0">
                <a:latin typeface="Arial" charset="0"/>
                <a:ea typeface="ＭＳ Ｐゴシック" charset="0"/>
                <a:cs typeface="ＭＳ Ｐゴシック" charset="0"/>
              </a:rPr>
              <a:t>Process</a:t>
            </a:r>
            <a:r>
              <a:rPr lang="nl-NL" sz="1800" i="1" dirty="0" smtClean="0">
                <a:latin typeface="Arial" charset="0"/>
                <a:ea typeface="ＭＳ Ｐゴシック" charset="0"/>
                <a:cs typeface="ＭＳ Ｐゴシック" charset="0"/>
              </a:rPr>
              <a:t> </a:t>
            </a:r>
            <a:r>
              <a:rPr lang="nl-NL" sz="1800" i="1" dirty="0" err="1" smtClean="0">
                <a:latin typeface="Arial" charset="0"/>
                <a:ea typeface="ＭＳ Ｐゴシック" charset="0"/>
                <a:cs typeface="ＭＳ Ｐゴシック" charset="0"/>
              </a:rPr>
              <a:t>and</a:t>
            </a:r>
            <a:r>
              <a:rPr lang="nl-NL" sz="1800" i="1" dirty="0" smtClean="0">
                <a:latin typeface="Arial" charset="0"/>
                <a:ea typeface="ＭＳ Ｐゴシック" charset="0"/>
                <a:cs typeface="ＭＳ Ｐゴシック" charset="0"/>
              </a:rPr>
              <a:t> </a:t>
            </a:r>
            <a:r>
              <a:rPr lang="nl-NL" sz="1800" i="1" dirty="0" err="1" smtClean="0">
                <a:latin typeface="Arial" charset="0"/>
                <a:ea typeface="ＭＳ Ｐゴシック" charset="0"/>
                <a:cs typeface="ＭＳ Ｐゴシック" charset="0"/>
              </a:rPr>
              <a:t>governance</a:t>
            </a:r>
            <a:endParaRPr lang="nl-NL" sz="1800" i="1" dirty="0" smtClean="0">
              <a:latin typeface="Arial" charset="0"/>
              <a:ea typeface="ＭＳ Ｐゴシック" charset="0"/>
              <a:cs typeface="ＭＳ Ｐゴシック" charset="0"/>
            </a:endParaRPr>
          </a:p>
          <a:p>
            <a:pPr lvl="2">
              <a:lnSpc>
                <a:spcPct val="90000"/>
              </a:lnSpc>
              <a:defRPr/>
            </a:pPr>
            <a:r>
              <a:rPr lang="nl-NL" b="0" dirty="0" err="1" smtClean="0">
                <a:latin typeface="Arial" charset="0"/>
                <a:ea typeface="ＭＳ Ｐゴシック" charset="0"/>
                <a:cs typeface="ＭＳ Ｐゴシック" charset="0"/>
              </a:rPr>
              <a:t>Organizational</a:t>
            </a:r>
            <a:r>
              <a:rPr lang="nl-NL" b="0" dirty="0" smtClean="0">
                <a:latin typeface="Arial" charset="0"/>
                <a:ea typeface="ＭＳ Ｐゴシック" charset="0"/>
                <a:cs typeface="ＭＳ Ｐゴシック" charset="0"/>
              </a:rPr>
              <a:t> </a:t>
            </a:r>
            <a:r>
              <a:rPr lang="nl-NL" b="0" dirty="0">
                <a:latin typeface="Arial" charset="0"/>
                <a:ea typeface="ＭＳ Ｐゴシック" charset="0"/>
                <a:cs typeface="ＭＳ Ｐゴシック" charset="0"/>
              </a:rPr>
              <a:t>Model </a:t>
            </a:r>
            <a:r>
              <a:rPr lang="nl-NL" b="0" dirty="0" err="1">
                <a:latin typeface="Arial" charset="0"/>
                <a:ea typeface="ＭＳ Ｐゴシック" charset="0"/>
                <a:cs typeface="ＭＳ Ｐゴシック" charset="0"/>
              </a:rPr>
              <a:t>for</a:t>
            </a:r>
            <a:r>
              <a:rPr lang="nl-NL" b="0" dirty="0">
                <a:latin typeface="Arial" charset="0"/>
                <a:ea typeface="ＭＳ Ｐゴシック" charset="0"/>
                <a:cs typeface="ＭＳ Ｐゴシック" charset="0"/>
              </a:rPr>
              <a:t> Enterprise Architecture</a:t>
            </a:r>
          </a:p>
          <a:p>
            <a:pPr lvl="2">
              <a:lnSpc>
                <a:spcPct val="90000"/>
              </a:lnSpc>
              <a:defRPr/>
            </a:pPr>
            <a:r>
              <a:rPr lang="nl-NL" b="0" dirty="0" err="1" smtClean="0">
                <a:latin typeface="Arial" charset="0"/>
                <a:ea typeface="ＭＳ Ｐゴシック" charset="0"/>
                <a:cs typeface="ＭＳ Ｐゴシック" charset="0"/>
              </a:rPr>
              <a:t>Tailored</a:t>
            </a:r>
            <a:r>
              <a:rPr lang="nl-NL" b="0" dirty="0" smtClean="0">
                <a:latin typeface="Arial" charset="0"/>
                <a:ea typeface="ＭＳ Ｐゴシック" charset="0"/>
                <a:cs typeface="ＭＳ Ｐゴシック" charset="0"/>
              </a:rPr>
              <a:t> </a:t>
            </a:r>
            <a:r>
              <a:rPr lang="nl-NL" b="0" dirty="0">
                <a:latin typeface="Arial" charset="0"/>
                <a:ea typeface="ＭＳ Ｐゴシック" charset="0"/>
                <a:cs typeface="ＭＳ Ｐゴシック" charset="0"/>
              </a:rPr>
              <a:t>Architecture Framework</a:t>
            </a:r>
          </a:p>
          <a:p>
            <a:pPr lvl="2">
              <a:lnSpc>
                <a:spcPct val="90000"/>
              </a:lnSpc>
              <a:defRPr/>
            </a:pPr>
            <a:r>
              <a:rPr lang="nl-NL" b="0" dirty="0">
                <a:latin typeface="Arial" charset="0"/>
                <a:ea typeface="ＭＳ Ｐゴシック" charset="0"/>
                <a:cs typeface="ＭＳ Ｐゴシック" charset="0"/>
              </a:rPr>
              <a:t>Business </a:t>
            </a:r>
            <a:r>
              <a:rPr lang="nl-NL" b="0" dirty="0" err="1">
                <a:latin typeface="Arial" charset="0"/>
                <a:ea typeface="ＭＳ Ｐゴシック" charset="0"/>
                <a:cs typeface="ＭＳ Ｐゴシック" charset="0"/>
              </a:rPr>
              <a:t>Principles</a:t>
            </a:r>
            <a:r>
              <a:rPr lang="nl-NL" b="0" dirty="0">
                <a:latin typeface="Arial" charset="0"/>
                <a:ea typeface="ＭＳ Ｐゴシック" charset="0"/>
                <a:cs typeface="ＭＳ Ｐゴシック" charset="0"/>
              </a:rPr>
              <a:t>, Business Preliminary Goals, </a:t>
            </a:r>
            <a:r>
              <a:rPr lang="nl-NL" b="0" dirty="0" err="1">
                <a:latin typeface="Arial" charset="0"/>
                <a:ea typeface="ＭＳ Ｐゴシック" charset="0"/>
                <a:cs typeface="ＭＳ Ｐゴシック" charset="0"/>
              </a:rPr>
              <a:t>and</a:t>
            </a:r>
            <a:r>
              <a:rPr lang="nl-NL" b="0" dirty="0">
                <a:latin typeface="Arial" charset="0"/>
                <a:ea typeface="ＭＳ Ｐゴシック" charset="0"/>
                <a:cs typeface="ＭＳ Ｐゴシック" charset="0"/>
              </a:rPr>
              <a:t> Business Drivers</a:t>
            </a:r>
          </a:p>
          <a:p>
            <a:pPr lvl="2">
              <a:lnSpc>
                <a:spcPct val="90000"/>
              </a:lnSpc>
              <a:defRPr/>
            </a:pPr>
            <a:r>
              <a:rPr lang="nl-NL" b="0" dirty="0" err="1">
                <a:latin typeface="Arial" charset="0"/>
                <a:ea typeface="ＭＳ Ｐゴシック" charset="0"/>
                <a:cs typeface="ＭＳ Ｐゴシック" charset="0"/>
              </a:rPr>
              <a:t>Capability</a:t>
            </a:r>
            <a:r>
              <a:rPr lang="nl-NL" b="0" dirty="0">
                <a:latin typeface="Arial" charset="0"/>
                <a:ea typeface="ＭＳ Ｐゴシック" charset="0"/>
                <a:cs typeface="ＭＳ Ｐゴシック" charset="0"/>
              </a:rPr>
              <a:t> Assessment</a:t>
            </a:r>
          </a:p>
          <a:p>
            <a:pPr lvl="2">
              <a:lnSpc>
                <a:spcPct val="90000"/>
              </a:lnSpc>
              <a:defRPr/>
            </a:pPr>
            <a:r>
              <a:rPr lang="nl-NL" b="0" dirty="0" err="1" smtClean="0">
                <a:latin typeface="Arial" charset="0"/>
                <a:ea typeface="ＭＳ Ｐゴシック" charset="0"/>
                <a:cs typeface="ＭＳ Ｐゴシック" charset="0"/>
              </a:rPr>
              <a:t>Request</a:t>
            </a:r>
            <a:r>
              <a:rPr lang="nl-NL" b="0" dirty="0" smtClean="0">
                <a:latin typeface="Arial" charset="0"/>
                <a:ea typeface="ＭＳ Ｐゴシック" charset="0"/>
                <a:cs typeface="ＭＳ Ｐゴシック" charset="0"/>
              </a:rPr>
              <a:t> </a:t>
            </a:r>
            <a:r>
              <a:rPr lang="nl-NL" b="0" dirty="0" err="1">
                <a:latin typeface="Arial" charset="0"/>
                <a:ea typeface="ＭＳ Ｐゴシック" charset="0"/>
                <a:cs typeface="ＭＳ Ｐゴシック" charset="0"/>
              </a:rPr>
              <a:t>for</a:t>
            </a:r>
            <a:r>
              <a:rPr lang="nl-NL" b="0" dirty="0">
                <a:latin typeface="Arial" charset="0"/>
                <a:ea typeface="ＭＳ Ｐゴシック" charset="0"/>
                <a:cs typeface="ＭＳ Ｐゴシック" charset="0"/>
              </a:rPr>
              <a:t> Architecture </a:t>
            </a:r>
            <a:r>
              <a:rPr lang="nl-NL" b="0" dirty="0" err="1" smtClean="0">
                <a:latin typeface="Arial" charset="0"/>
                <a:ea typeface="ＭＳ Ｐゴシック" charset="0"/>
                <a:cs typeface="ＭＳ Ｐゴシック" charset="0"/>
              </a:rPr>
              <a:t>Work</a:t>
            </a:r>
            <a:endParaRPr lang="nl-NL" b="0" dirty="0" smtClean="0">
              <a:latin typeface="Arial" charset="0"/>
              <a:ea typeface="ＭＳ Ｐゴシック" charset="0"/>
              <a:cs typeface="ＭＳ Ｐゴシック" charset="0"/>
            </a:endParaRPr>
          </a:p>
          <a:p>
            <a:pPr lvl="2">
              <a:lnSpc>
                <a:spcPct val="90000"/>
              </a:lnSpc>
              <a:defRPr/>
            </a:pPr>
            <a:r>
              <a:rPr lang="nl-NL" b="0" dirty="0">
                <a:latin typeface="Arial" charset="0"/>
                <a:ea typeface="ＭＳ Ｐゴシック" charset="0"/>
                <a:cs typeface="ＭＳ Ｐゴシック" charset="0"/>
              </a:rPr>
              <a:t>Statement of Architecture </a:t>
            </a:r>
            <a:r>
              <a:rPr lang="nl-NL" b="0" dirty="0" err="1" smtClean="0">
                <a:latin typeface="Arial" charset="0"/>
                <a:ea typeface="ＭＳ Ｐゴシック" charset="0"/>
                <a:cs typeface="ＭＳ Ｐゴシック" charset="0"/>
              </a:rPr>
              <a:t>Work</a:t>
            </a:r>
            <a:endParaRPr lang="nl-NL" b="0" dirty="0">
              <a:latin typeface="Arial" charset="0"/>
              <a:ea typeface="ＭＳ Ｐゴシック" charset="0"/>
              <a:cs typeface="ＭＳ Ｐゴシック" charset="0"/>
            </a:endParaRPr>
          </a:p>
          <a:p>
            <a:pPr lvl="2">
              <a:lnSpc>
                <a:spcPct val="90000"/>
              </a:lnSpc>
              <a:defRPr/>
            </a:pPr>
            <a:r>
              <a:rPr lang="nl-NL" b="0" dirty="0" smtClean="0">
                <a:latin typeface="Arial" charset="0"/>
                <a:ea typeface="ＭＳ Ｐゴシック" charset="0"/>
                <a:cs typeface="ＭＳ Ｐゴシック" charset="0"/>
              </a:rPr>
              <a:t>Communications Plan</a:t>
            </a:r>
          </a:p>
          <a:p>
            <a:pPr lvl="2">
              <a:lnSpc>
                <a:spcPct val="90000"/>
              </a:lnSpc>
              <a:defRPr/>
            </a:pPr>
            <a:r>
              <a:rPr lang="nl-NL" b="0" dirty="0" err="1">
                <a:latin typeface="Arial" charset="0"/>
                <a:ea typeface="ＭＳ Ｐゴシック" charset="0"/>
                <a:cs typeface="ＭＳ Ｐゴシック" charset="0"/>
              </a:rPr>
              <a:t>Implementation</a:t>
            </a:r>
            <a:r>
              <a:rPr lang="nl-NL" b="0" dirty="0">
                <a:latin typeface="Arial" charset="0"/>
                <a:ea typeface="ＭＳ Ｐゴシック" charset="0"/>
                <a:cs typeface="ＭＳ Ｐゴシック" charset="0"/>
              </a:rPr>
              <a:t> </a:t>
            </a:r>
            <a:r>
              <a:rPr lang="nl-NL" b="0" dirty="0" err="1">
                <a:latin typeface="Arial" charset="0"/>
                <a:ea typeface="ＭＳ Ｐゴシック" charset="0"/>
                <a:cs typeface="ＭＳ Ｐゴシック" charset="0"/>
              </a:rPr>
              <a:t>Governance</a:t>
            </a:r>
            <a:r>
              <a:rPr lang="nl-NL" b="0" dirty="0">
                <a:latin typeface="Arial" charset="0"/>
                <a:ea typeface="ＭＳ Ｐゴシック" charset="0"/>
                <a:cs typeface="ＭＳ Ｐゴシック" charset="0"/>
              </a:rPr>
              <a:t> </a:t>
            </a:r>
            <a:r>
              <a:rPr lang="nl-NL" b="0" dirty="0" smtClean="0">
                <a:latin typeface="Arial" charset="0"/>
                <a:ea typeface="ＭＳ Ｐゴシック" charset="0"/>
                <a:cs typeface="ＭＳ Ｐゴシック" charset="0"/>
              </a:rPr>
              <a:t>Model</a:t>
            </a:r>
            <a:endParaRPr lang="nl-NL" b="0" dirty="0">
              <a:latin typeface="Arial" charset="0"/>
              <a:ea typeface="ＭＳ Ｐゴシック" charset="0"/>
              <a:cs typeface="ＭＳ Ｐゴシック" charset="0"/>
            </a:endParaRPr>
          </a:p>
          <a:p>
            <a:pPr lvl="2">
              <a:lnSpc>
                <a:spcPct val="90000"/>
              </a:lnSpc>
              <a:defRPr/>
            </a:pPr>
            <a:r>
              <a:rPr lang="nl-NL" b="0" dirty="0">
                <a:latin typeface="Arial" charset="0"/>
                <a:ea typeface="ＭＳ Ｐゴシック" charset="0"/>
                <a:cs typeface="ＭＳ Ｐゴシック" charset="0"/>
              </a:rPr>
              <a:t>Architecture Contract</a:t>
            </a:r>
          </a:p>
          <a:p>
            <a:pPr lvl="2">
              <a:lnSpc>
                <a:spcPct val="90000"/>
              </a:lnSpc>
              <a:defRPr/>
            </a:pPr>
            <a:r>
              <a:rPr lang="nl-NL" b="0" dirty="0" smtClean="0">
                <a:latin typeface="Arial" charset="0"/>
                <a:ea typeface="ＭＳ Ｐゴシック" charset="0"/>
                <a:cs typeface="ＭＳ Ｐゴシック" charset="0"/>
              </a:rPr>
              <a:t>Compliance Assessment</a:t>
            </a:r>
          </a:p>
          <a:p>
            <a:pPr lvl="2">
              <a:lnSpc>
                <a:spcPct val="90000"/>
              </a:lnSpc>
              <a:defRPr/>
            </a:pPr>
            <a:r>
              <a:rPr lang="nl-NL" b="0" dirty="0">
                <a:latin typeface="Arial" charset="0"/>
                <a:ea typeface="ＭＳ Ｐゴシック" charset="0"/>
                <a:cs typeface="ＭＳ Ｐゴシック" charset="0"/>
              </a:rPr>
              <a:t>Change </a:t>
            </a:r>
            <a:r>
              <a:rPr lang="nl-NL" b="0" dirty="0" err="1">
                <a:latin typeface="Arial" charset="0"/>
                <a:ea typeface="ＭＳ Ｐゴシック" charset="0"/>
                <a:cs typeface="ＭＳ Ｐゴシック" charset="0"/>
              </a:rPr>
              <a:t>Request</a:t>
            </a:r>
            <a:endParaRPr lang="nl-NL" b="0" dirty="0">
              <a:latin typeface="Arial" charset="0"/>
              <a:ea typeface="ＭＳ Ｐゴシック" charset="0"/>
              <a:cs typeface="ＭＳ Ｐゴシック" charset="0"/>
            </a:endParaRPr>
          </a:p>
          <a:p>
            <a:pPr lvl="2">
              <a:lnSpc>
                <a:spcPct val="90000"/>
              </a:lnSpc>
              <a:defRPr/>
            </a:pPr>
            <a:r>
              <a:rPr lang="nl-NL" b="0" dirty="0" err="1" smtClean="0">
                <a:latin typeface="Arial" charset="0"/>
                <a:ea typeface="ＭＳ Ｐゴシック" charset="0"/>
                <a:cs typeface="ＭＳ Ｐゴシック" charset="0"/>
              </a:rPr>
              <a:t>Requirements</a:t>
            </a:r>
            <a:r>
              <a:rPr lang="nl-NL" b="0" dirty="0" smtClean="0">
                <a:latin typeface="Arial" charset="0"/>
                <a:ea typeface="ＭＳ Ｐゴシック" charset="0"/>
                <a:cs typeface="ＭＳ Ｐゴシック" charset="0"/>
              </a:rPr>
              <a:t> </a:t>
            </a:r>
            <a:r>
              <a:rPr lang="nl-NL" b="0" dirty="0">
                <a:latin typeface="Arial" charset="0"/>
                <a:ea typeface="ＭＳ Ｐゴシック" charset="0"/>
                <a:cs typeface="ＭＳ Ｐゴシック" charset="0"/>
              </a:rPr>
              <a:t>Impact Assessment</a:t>
            </a:r>
          </a:p>
          <a:p>
            <a:pPr lvl="2">
              <a:lnSpc>
                <a:spcPct val="90000"/>
              </a:lnSpc>
              <a:defRPr/>
            </a:pPr>
            <a:endParaRPr lang="nl-NL" dirty="0">
              <a:latin typeface="Arial" charset="0"/>
              <a:ea typeface="ＭＳ Ｐゴシック" charset="0"/>
              <a:cs typeface="ＭＳ Ｐゴシック" charset="0"/>
            </a:endParaRPr>
          </a:p>
          <a:p>
            <a:pPr eaLnBrk="1" hangingPunct="1">
              <a:lnSpc>
                <a:spcPct val="90000"/>
              </a:lnSpc>
              <a:defRPr/>
            </a:pPr>
            <a:endParaRPr lang="nl-NL" sz="1600" dirty="0">
              <a:latin typeface="Arial" charset="0"/>
              <a:ea typeface="ＭＳ Ｐゴシック" charset="0"/>
              <a:cs typeface="ＭＳ Ｐゴシック" charset="0"/>
            </a:endParaRPr>
          </a:p>
        </p:txBody>
      </p:sp>
      <p:sp>
        <p:nvSpPr>
          <p:cNvPr id="128001" name="Rectangle 2"/>
          <p:cNvSpPr>
            <a:spLocks noGrp="1" noChangeArrowheads="1"/>
          </p:cNvSpPr>
          <p:nvPr>
            <p:ph type="title"/>
          </p:nvPr>
        </p:nvSpPr>
        <p:spPr/>
        <p:txBody>
          <a:bodyPr/>
          <a:lstStyle/>
          <a:p>
            <a:pPr eaLnBrk="1" hangingPunct="1"/>
            <a:r>
              <a:rPr lang="en-US">
                <a:latin typeface="Arial" charset="0"/>
                <a:ea typeface="ＭＳ Ｐゴシック" charset="0"/>
                <a:cs typeface="ＭＳ Ｐゴシック" charset="0"/>
              </a:rPr>
              <a:t>Deliverables</a:t>
            </a:r>
            <a:endParaRPr lang="nl-NL">
              <a:latin typeface="Arial" charset="0"/>
              <a:ea typeface="ＭＳ Ｐゴシック" charset="0"/>
              <a:cs typeface="ＭＳ Ｐゴシック" charset="0"/>
            </a:endParaRPr>
          </a:p>
        </p:txBody>
      </p:sp>
      <p:sp>
        <p:nvSpPr>
          <p:cNvPr id="138243" name="Rectangle 4"/>
          <p:cNvSpPr>
            <a:spLocks noGrp="1" noChangeArrowheads="1"/>
          </p:cNvSpPr>
          <p:nvPr>
            <p:ph sz="half" idx="4294967295"/>
          </p:nvPr>
        </p:nvSpPr>
        <p:spPr>
          <a:xfrm>
            <a:off x="5105400" y="1049338"/>
            <a:ext cx="4038600" cy="5287962"/>
          </a:xfrm>
        </p:spPr>
        <p:txBody>
          <a:bodyPr>
            <a:normAutofit/>
          </a:bodyPr>
          <a:lstStyle/>
          <a:p>
            <a:pPr marL="0" indent="0" eaLnBrk="1" hangingPunct="1">
              <a:lnSpc>
                <a:spcPct val="90000"/>
              </a:lnSpc>
              <a:buFontTx/>
              <a:buNone/>
              <a:defRPr/>
            </a:pPr>
            <a:r>
              <a:rPr lang="nl-NL" sz="1800" i="1" dirty="0" smtClean="0">
                <a:latin typeface="Arial" charset="0"/>
                <a:ea typeface="ＭＳ Ｐゴシック" charset="0"/>
                <a:cs typeface="ＭＳ Ｐゴシック" charset="0"/>
              </a:rPr>
              <a:t>Architecture content</a:t>
            </a:r>
          </a:p>
          <a:p>
            <a:pPr lvl="2">
              <a:lnSpc>
                <a:spcPct val="90000"/>
              </a:lnSpc>
              <a:defRPr/>
            </a:pPr>
            <a:r>
              <a:rPr lang="nl-NL" b="0" dirty="0">
                <a:latin typeface="Arial" charset="0"/>
                <a:ea typeface="ＭＳ Ｐゴシック" charset="0"/>
                <a:cs typeface="ＭＳ Ｐゴシック" charset="0"/>
              </a:rPr>
              <a:t>Architecture </a:t>
            </a:r>
            <a:r>
              <a:rPr lang="nl-NL" b="0" dirty="0" err="1">
                <a:latin typeface="Arial" charset="0"/>
                <a:ea typeface="ＭＳ Ｐゴシック" charset="0"/>
                <a:cs typeface="ＭＳ Ｐゴシック" charset="0"/>
              </a:rPr>
              <a:t>Requirements</a:t>
            </a:r>
            <a:endParaRPr lang="nl-NL" b="0" dirty="0">
              <a:latin typeface="Arial" charset="0"/>
              <a:ea typeface="ＭＳ Ｐゴシック" charset="0"/>
              <a:cs typeface="ＭＳ Ｐゴシック" charset="0"/>
            </a:endParaRPr>
          </a:p>
          <a:p>
            <a:pPr lvl="2">
              <a:lnSpc>
                <a:spcPct val="90000"/>
              </a:lnSpc>
              <a:defRPr/>
            </a:pPr>
            <a:r>
              <a:rPr lang="nl-NL" b="0" dirty="0">
                <a:latin typeface="Arial" charset="0"/>
                <a:ea typeface="ＭＳ Ｐゴシック" charset="0"/>
                <a:cs typeface="ＭＳ Ｐゴシック" charset="0"/>
              </a:rPr>
              <a:t>Architecture </a:t>
            </a:r>
            <a:r>
              <a:rPr lang="nl-NL" b="0" dirty="0" err="1">
                <a:latin typeface="Arial" charset="0"/>
                <a:ea typeface="ＭＳ Ｐゴシック" charset="0"/>
                <a:cs typeface="ＭＳ Ｐゴシック" charset="0"/>
              </a:rPr>
              <a:t>Principles</a:t>
            </a:r>
            <a:endParaRPr lang="nl-NL" b="0" dirty="0">
              <a:latin typeface="Arial" charset="0"/>
              <a:ea typeface="ＭＳ Ｐゴシック" charset="0"/>
              <a:cs typeface="ＭＳ Ｐゴシック" charset="0"/>
            </a:endParaRPr>
          </a:p>
          <a:p>
            <a:pPr lvl="2">
              <a:lnSpc>
                <a:spcPct val="90000"/>
              </a:lnSpc>
              <a:defRPr/>
            </a:pPr>
            <a:r>
              <a:rPr lang="nl-NL" b="0" dirty="0" smtClean="0">
                <a:latin typeface="Arial" charset="0"/>
                <a:ea typeface="ＭＳ Ｐゴシック" charset="0"/>
                <a:cs typeface="ＭＳ Ｐゴシック" charset="0"/>
              </a:rPr>
              <a:t>Architecture </a:t>
            </a:r>
            <a:r>
              <a:rPr lang="nl-NL" b="0" dirty="0" err="1">
                <a:latin typeface="Arial" charset="0"/>
                <a:ea typeface="ＭＳ Ｐゴシック" charset="0"/>
                <a:cs typeface="ＭＳ Ｐゴシック" charset="0"/>
              </a:rPr>
              <a:t>Vision</a:t>
            </a:r>
            <a:endParaRPr lang="nl-NL" b="0" dirty="0">
              <a:latin typeface="Arial" charset="0"/>
              <a:ea typeface="ＭＳ Ｐゴシック" charset="0"/>
              <a:cs typeface="ＭＳ Ｐゴシック" charset="0"/>
            </a:endParaRPr>
          </a:p>
          <a:p>
            <a:pPr lvl="2">
              <a:lnSpc>
                <a:spcPct val="90000"/>
              </a:lnSpc>
              <a:defRPr/>
            </a:pPr>
            <a:r>
              <a:rPr lang="nl-NL" b="0" dirty="0" smtClean="0">
                <a:latin typeface="Arial" charset="0"/>
                <a:ea typeface="ＭＳ Ｐゴシック" charset="0"/>
                <a:cs typeface="ＭＳ Ｐゴシック" charset="0"/>
              </a:rPr>
              <a:t>Architecture </a:t>
            </a:r>
            <a:r>
              <a:rPr lang="nl-NL" b="0" dirty="0">
                <a:latin typeface="Arial" charset="0"/>
                <a:ea typeface="ＭＳ Ｐゴシック" charset="0"/>
                <a:cs typeface="ＭＳ Ｐゴシック" charset="0"/>
              </a:rPr>
              <a:t>Definition Document</a:t>
            </a:r>
          </a:p>
          <a:p>
            <a:pPr lvl="2">
              <a:lnSpc>
                <a:spcPct val="90000"/>
              </a:lnSpc>
              <a:defRPr/>
            </a:pPr>
            <a:r>
              <a:rPr lang="nl-NL" b="0" dirty="0" smtClean="0">
                <a:latin typeface="Arial" charset="0"/>
                <a:ea typeface="ＭＳ Ｐゴシック" charset="0"/>
                <a:cs typeface="ＭＳ Ｐゴシック" charset="0"/>
              </a:rPr>
              <a:t>Architecture </a:t>
            </a:r>
            <a:r>
              <a:rPr lang="nl-NL" b="0" dirty="0" err="1">
                <a:latin typeface="Arial" charset="0"/>
                <a:ea typeface="ＭＳ Ｐゴシック" charset="0"/>
                <a:cs typeface="ＭＳ Ｐゴシック" charset="0"/>
              </a:rPr>
              <a:t>Roadmap</a:t>
            </a:r>
            <a:endParaRPr lang="nl-NL" b="0" dirty="0">
              <a:latin typeface="Arial" charset="0"/>
              <a:ea typeface="ＭＳ Ｐゴシック" charset="0"/>
              <a:cs typeface="ＭＳ Ｐゴシック" charset="0"/>
            </a:endParaRPr>
          </a:p>
          <a:p>
            <a:pPr lvl="2">
              <a:lnSpc>
                <a:spcPct val="90000"/>
              </a:lnSpc>
              <a:defRPr/>
            </a:pPr>
            <a:r>
              <a:rPr lang="nl-NL" b="0" dirty="0" err="1" smtClean="0">
                <a:latin typeface="Arial" charset="0"/>
                <a:ea typeface="ＭＳ Ｐゴシック" charset="0"/>
                <a:cs typeface="ＭＳ Ｐゴシック" charset="0"/>
              </a:rPr>
              <a:t>Implementation</a:t>
            </a:r>
            <a:r>
              <a:rPr lang="nl-NL" b="0" dirty="0" smtClean="0">
                <a:latin typeface="Arial" charset="0"/>
                <a:ea typeface="ＭＳ Ｐゴシック" charset="0"/>
                <a:cs typeface="ＭＳ Ｐゴシック" charset="0"/>
              </a:rPr>
              <a:t> </a:t>
            </a:r>
            <a:r>
              <a:rPr lang="nl-NL" b="0" dirty="0" err="1">
                <a:latin typeface="Arial" charset="0"/>
                <a:ea typeface="ＭＳ Ｐゴシック" charset="0"/>
                <a:cs typeface="ＭＳ Ｐゴシック" charset="0"/>
              </a:rPr>
              <a:t>and</a:t>
            </a:r>
            <a:r>
              <a:rPr lang="nl-NL" b="0" dirty="0">
                <a:latin typeface="Arial" charset="0"/>
                <a:ea typeface="ＭＳ Ｐゴシック" charset="0"/>
                <a:cs typeface="ＭＳ Ｐゴシック" charset="0"/>
              </a:rPr>
              <a:t> Migration Plan</a:t>
            </a:r>
          </a:p>
          <a:p>
            <a:pPr lvl="2">
              <a:lnSpc>
                <a:spcPct val="90000"/>
              </a:lnSpc>
              <a:defRPr/>
            </a:pPr>
            <a:r>
              <a:rPr lang="nl-NL" b="0" dirty="0" smtClean="0">
                <a:latin typeface="Arial" charset="0"/>
                <a:ea typeface="ＭＳ Ｐゴシック" charset="0"/>
                <a:cs typeface="ＭＳ Ｐゴシック" charset="0"/>
              </a:rPr>
              <a:t>Architecture </a:t>
            </a:r>
            <a:r>
              <a:rPr lang="nl-NL" b="0" dirty="0" err="1">
                <a:latin typeface="Arial" charset="0"/>
                <a:ea typeface="ＭＳ Ｐゴシック" charset="0"/>
                <a:cs typeface="ＭＳ Ｐゴシック" charset="0"/>
              </a:rPr>
              <a:t>Repository</a:t>
            </a:r>
            <a:endParaRPr lang="nl-NL" b="0" dirty="0">
              <a:latin typeface="Arial" charset="0"/>
              <a:ea typeface="ＭＳ Ｐゴシック" charset="0"/>
              <a:cs typeface="ＭＳ Ｐゴシック" charset="0"/>
            </a:endParaRPr>
          </a:p>
          <a:p>
            <a:pPr lvl="2">
              <a:lnSpc>
                <a:spcPct val="90000"/>
              </a:lnSpc>
              <a:defRPr/>
            </a:pPr>
            <a:r>
              <a:rPr lang="nl-NL" b="0" dirty="0" smtClean="0">
                <a:latin typeface="Arial" charset="0"/>
                <a:ea typeface="ＭＳ Ｐゴシック" charset="0"/>
                <a:cs typeface="ＭＳ Ｐゴシック" charset="0"/>
              </a:rPr>
              <a:t>Architecture </a:t>
            </a:r>
            <a:r>
              <a:rPr lang="nl-NL" b="0" dirty="0">
                <a:latin typeface="Arial" charset="0"/>
                <a:ea typeface="ＭＳ Ｐゴシック" charset="0"/>
                <a:cs typeface="ＭＳ Ｐゴシック" charset="0"/>
              </a:rPr>
              <a:t>Building Blocks</a:t>
            </a:r>
          </a:p>
          <a:p>
            <a:pPr lvl="2">
              <a:lnSpc>
                <a:spcPct val="90000"/>
              </a:lnSpc>
              <a:defRPr/>
            </a:pPr>
            <a:r>
              <a:rPr lang="nl-NL" b="0" dirty="0" smtClean="0">
                <a:latin typeface="Arial" charset="0"/>
                <a:ea typeface="ＭＳ Ｐゴシック" charset="0"/>
                <a:cs typeface="ＭＳ Ｐゴシック" charset="0"/>
              </a:rPr>
              <a:t>Solution </a:t>
            </a:r>
            <a:r>
              <a:rPr lang="nl-NL" b="0" dirty="0">
                <a:latin typeface="Arial" charset="0"/>
                <a:ea typeface="ＭＳ Ｐゴシック" charset="0"/>
                <a:cs typeface="ＭＳ Ｐゴシック" charset="0"/>
              </a:rPr>
              <a:t>Building </a:t>
            </a:r>
            <a:r>
              <a:rPr lang="nl-NL" b="0" dirty="0" smtClean="0">
                <a:latin typeface="Arial" charset="0"/>
                <a:ea typeface="ＭＳ Ｐゴシック" charset="0"/>
                <a:cs typeface="ＭＳ Ｐゴシック" charset="0"/>
              </a:rPr>
              <a:t>Blocks</a:t>
            </a:r>
            <a:endParaRPr lang="nl-NL" b="0"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3247477608"/>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ijdelijke aanduiding voor inhoud 2"/>
          <p:cNvSpPr>
            <a:spLocks noGrp="1"/>
          </p:cNvSpPr>
          <p:nvPr>
            <p:ph idx="1"/>
          </p:nvPr>
        </p:nvSpPr>
        <p:spPr/>
        <p:txBody>
          <a:bodyPr>
            <a:normAutofit/>
          </a:bodyPr>
          <a:lstStyle/>
          <a:p>
            <a:r>
              <a:rPr lang="en-US" sz="1800" b="0" dirty="0">
                <a:latin typeface="Arial" charset="0"/>
                <a:ea typeface="ＭＳ Ｐゴシック" charset="0"/>
                <a:cs typeface="ＭＳ Ｐゴシック" charset="0"/>
              </a:rPr>
              <a:t>Organizational Model for Enterprise Architecture</a:t>
            </a:r>
          </a:p>
          <a:p>
            <a:pPr lvl="2"/>
            <a:r>
              <a:rPr lang="en-US" b="0" dirty="0">
                <a:latin typeface="Arial" charset="0"/>
                <a:ea typeface="ＭＳ Ｐゴシック" charset="0"/>
                <a:cs typeface="ＭＳ Ｐゴシック" charset="0"/>
              </a:rPr>
              <a:t>In order for an architecture framework to be used successfully, it must be supported by the correct organization, roles, and responsibilities within the enterprise. Of particular importance is the definition of boundaries between different enterprise architecture practitioners and the governance relationships that span across these boundaries.</a:t>
            </a:r>
          </a:p>
          <a:p>
            <a:pPr lvl="2"/>
            <a:r>
              <a:rPr lang="en-US" b="0" dirty="0">
                <a:latin typeface="Arial" charset="0"/>
                <a:ea typeface="ＭＳ Ｐゴシック" charset="0"/>
                <a:cs typeface="ＭＳ Ｐゴシック" charset="0"/>
              </a:rPr>
              <a:t>Typical contents of an Organizational Model for enterprise architecture are:</a:t>
            </a:r>
          </a:p>
          <a:p>
            <a:pPr lvl="3"/>
            <a:r>
              <a:rPr lang="en-US" dirty="0">
                <a:latin typeface="Arial" charset="0"/>
                <a:ea typeface="ＭＳ Ｐゴシック" charset="0"/>
              </a:rPr>
              <a:t>Scope of organizations impacted</a:t>
            </a:r>
          </a:p>
          <a:p>
            <a:pPr lvl="3"/>
            <a:r>
              <a:rPr lang="en-US" dirty="0">
                <a:latin typeface="Arial" charset="0"/>
                <a:ea typeface="ＭＳ Ｐゴシック" charset="0"/>
              </a:rPr>
              <a:t>Maturity assessment, gaps, and resolution approach</a:t>
            </a:r>
          </a:p>
          <a:p>
            <a:pPr lvl="3"/>
            <a:r>
              <a:rPr lang="en-US" dirty="0">
                <a:latin typeface="Arial" charset="0"/>
                <a:ea typeface="ＭＳ Ｐゴシック" charset="0"/>
              </a:rPr>
              <a:t>Roles and responsibilities for architecture team(s)</a:t>
            </a:r>
          </a:p>
          <a:p>
            <a:pPr lvl="3"/>
            <a:r>
              <a:rPr lang="en-US" dirty="0">
                <a:latin typeface="Arial" charset="0"/>
                <a:ea typeface="ＭＳ Ｐゴシック" charset="0"/>
              </a:rPr>
              <a:t>Constraints on architecture work</a:t>
            </a:r>
          </a:p>
          <a:p>
            <a:pPr lvl="3"/>
            <a:r>
              <a:rPr lang="en-US" dirty="0">
                <a:latin typeface="Arial" charset="0"/>
                <a:ea typeface="ＭＳ Ｐゴシック" charset="0"/>
              </a:rPr>
              <a:t>Budget requirements</a:t>
            </a:r>
          </a:p>
          <a:p>
            <a:pPr lvl="3"/>
            <a:r>
              <a:rPr lang="en-US" dirty="0">
                <a:latin typeface="Arial" charset="0"/>
                <a:ea typeface="ＭＳ Ｐゴシック" charset="0"/>
              </a:rPr>
              <a:t>Governance and support strategy</a:t>
            </a:r>
          </a:p>
          <a:p>
            <a:endParaRPr lang="en-US" dirty="0">
              <a:latin typeface="Arial" charset="0"/>
              <a:ea typeface="ＭＳ Ｐゴシック" charset="0"/>
              <a:cs typeface="ＭＳ Ｐゴシック" charset="0"/>
            </a:endParaRPr>
          </a:p>
        </p:txBody>
      </p:sp>
      <p:sp>
        <p:nvSpPr>
          <p:cNvPr id="129025" name="Titel 1"/>
          <p:cNvSpPr>
            <a:spLocks noGrp="1"/>
          </p:cNvSpPr>
          <p:nvPr>
            <p:ph type="title"/>
          </p:nvPr>
        </p:nvSpPr>
        <p:spPr/>
        <p:txBody>
          <a:bodyPr/>
          <a:lstStyle/>
          <a:p>
            <a:r>
              <a:rPr lang="en-US">
                <a:latin typeface="Arial" charset="0"/>
                <a:ea typeface="ＭＳ Ｐゴシック" charset="0"/>
                <a:cs typeface="ＭＳ Ｐゴシック" charset="0"/>
              </a:rPr>
              <a:t>Deliverables</a:t>
            </a:r>
            <a:endParaRPr lang="nl-NL">
              <a:latin typeface="Arial" charset="0"/>
              <a:ea typeface="ＭＳ Ｐゴシック" charset="0"/>
              <a:cs typeface="ＭＳ Ｐゴシック" charset="0"/>
            </a:endParaRPr>
          </a:p>
        </p:txBody>
      </p:sp>
    </p:spTree>
    <p:extLst>
      <p:ext uri="{BB962C8B-B14F-4D97-AF65-F5344CB8AC3E}">
        <p14:creationId xmlns:p14="http://schemas.microsoft.com/office/powerpoint/2010/main" val="1247928079"/>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Content Placeholder 2"/>
          <p:cNvSpPr>
            <a:spLocks noGrp="1"/>
          </p:cNvSpPr>
          <p:nvPr>
            <p:ph idx="1"/>
          </p:nvPr>
        </p:nvSpPr>
        <p:spPr/>
        <p:txBody>
          <a:bodyPr>
            <a:normAutofit/>
          </a:bodyPr>
          <a:lstStyle/>
          <a:p>
            <a:pPr lvl="1"/>
            <a:r>
              <a:rPr lang="en-US" dirty="0">
                <a:latin typeface="Arial" charset="0"/>
                <a:ea typeface="ＭＳ Ｐゴシック" charset="0"/>
                <a:cs typeface="ＭＳ Ｐゴシック" charset="0"/>
              </a:rPr>
              <a:t>Tailored Architecture Framework</a:t>
            </a:r>
          </a:p>
          <a:p>
            <a:pPr lvl="2"/>
            <a:r>
              <a:rPr lang="en-US" b="0" dirty="0">
                <a:latin typeface="Arial" charset="0"/>
                <a:ea typeface="ＭＳ Ｐゴシック" charset="0"/>
                <a:cs typeface="ＭＳ Ｐゴシック" charset="0"/>
              </a:rPr>
              <a:t>Tailoring of TOGAF may be necessary to fit it to the specific context.</a:t>
            </a:r>
          </a:p>
          <a:p>
            <a:pPr lvl="3"/>
            <a:r>
              <a:rPr lang="en-US" dirty="0">
                <a:latin typeface="Arial" charset="0"/>
                <a:ea typeface="ＭＳ Ｐゴシック" charset="0"/>
              </a:rPr>
              <a:t>Tailoring to the organizational context</a:t>
            </a:r>
          </a:p>
          <a:p>
            <a:pPr lvl="3"/>
            <a:r>
              <a:rPr lang="en-US" dirty="0">
                <a:latin typeface="Arial" charset="0"/>
                <a:ea typeface="ＭＳ Ｐゴシック" charset="0"/>
              </a:rPr>
              <a:t>Tailoring to the architecture project</a:t>
            </a:r>
          </a:p>
          <a:p>
            <a:pPr lvl="2"/>
            <a:r>
              <a:rPr lang="en-US" b="0" dirty="0" smtClean="0">
                <a:latin typeface="Arial" charset="0"/>
                <a:ea typeface="ＭＳ Ｐゴシック" charset="0"/>
                <a:cs typeface="ＭＳ Ｐゴシック" charset="0"/>
              </a:rPr>
              <a:t>Typical </a:t>
            </a:r>
            <a:r>
              <a:rPr lang="en-US" b="0" dirty="0">
                <a:latin typeface="Arial" charset="0"/>
                <a:ea typeface="ＭＳ Ｐゴシック" charset="0"/>
                <a:cs typeface="ＭＳ Ｐゴシック" charset="0"/>
              </a:rPr>
              <a:t>contents of a Tailored Architecture Framework are:</a:t>
            </a:r>
          </a:p>
          <a:p>
            <a:pPr lvl="3"/>
            <a:r>
              <a:rPr lang="en-US" dirty="0">
                <a:latin typeface="Arial" charset="0"/>
                <a:ea typeface="ＭＳ Ｐゴシック" charset="0"/>
              </a:rPr>
              <a:t>Tailored architecture method</a:t>
            </a:r>
          </a:p>
          <a:p>
            <a:pPr lvl="3"/>
            <a:r>
              <a:rPr lang="en-US" dirty="0">
                <a:latin typeface="Arial" charset="0"/>
                <a:ea typeface="ＭＳ Ｐゴシック" charset="0"/>
              </a:rPr>
              <a:t>Tailored architecture content (deliverables and artifacts)</a:t>
            </a:r>
          </a:p>
          <a:p>
            <a:pPr lvl="3"/>
            <a:r>
              <a:rPr lang="en-US" dirty="0">
                <a:latin typeface="Arial" charset="0"/>
                <a:ea typeface="ＭＳ Ｐゴシック" charset="0"/>
              </a:rPr>
              <a:t>Configured and deployed tools</a:t>
            </a:r>
          </a:p>
          <a:p>
            <a:pPr lvl="3"/>
            <a:r>
              <a:rPr lang="en-US" dirty="0">
                <a:latin typeface="Arial" charset="0"/>
                <a:ea typeface="ＭＳ Ｐゴシック" charset="0"/>
              </a:rPr>
              <a:t>Interfaces with governance models and other frameworks:</a:t>
            </a:r>
          </a:p>
          <a:p>
            <a:pPr lvl="4"/>
            <a:r>
              <a:rPr lang="en-US" dirty="0">
                <a:latin typeface="Arial" charset="0"/>
                <a:ea typeface="ＭＳ Ｐゴシック" charset="0"/>
              </a:rPr>
              <a:t>Corporate Business Planning</a:t>
            </a:r>
          </a:p>
          <a:p>
            <a:pPr lvl="4"/>
            <a:r>
              <a:rPr lang="en-US" dirty="0">
                <a:latin typeface="Arial" charset="0"/>
                <a:ea typeface="ＭＳ Ｐゴシック" charset="0"/>
              </a:rPr>
              <a:t>Enterprise Architecture</a:t>
            </a:r>
          </a:p>
          <a:p>
            <a:pPr lvl="4"/>
            <a:r>
              <a:rPr lang="en-US" dirty="0">
                <a:latin typeface="Arial" charset="0"/>
                <a:ea typeface="ＭＳ Ｐゴシック" charset="0"/>
              </a:rPr>
              <a:t>Portfolio, Program, Project Management</a:t>
            </a:r>
          </a:p>
          <a:p>
            <a:pPr lvl="4"/>
            <a:r>
              <a:rPr lang="en-US" dirty="0">
                <a:latin typeface="Arial" charset="0"/>
                <a:ea typeface="ＭＳ Ｐゴシック" charset="0"/>
              </a:rPr>
              <a:t>System Development/Engineering</a:t>
            </a:r>
          </a:p>
          <a:p>
            <a:pPr lvl="4"/>
            <a:r>
              <a:rPr lang="en-US" dirty="0">
                <a:latin typeface="Arial" charset="0"/>
                <a:ea typeface="ＭＳ Ｐゴシック" charset="0"/>
              </a:rPr>
              <a:t>Operations (Services)</a:t>
            </a:r>
          </a:p>
          <a:p>
            <a:endParaRPr lang="en-US" dirty="0">
              <a:latin typeface="Arial" charset="0"/>
              <a:ea typeface="ＭＳ Ｐゴシック" charset="0"/>
              <a:cs typeface="ＭＳ Ｐゴシック" charset="0"/>
            </a:endParaRPr>
          </a:p>
        </p:txBody>
      </p:sp>
      <p:sp>
        <p:nvSpPr>
          <p:cNvPr id="130049" name="Title 1"/>
          <p:cNvSpPr>
            <a:spLocks noGrp="1"/>
          </p:cNvSpPr>
          <p:nvPr>
            <p:ph type="title"/>
          </p:nvPr>
        </p:nvSpPr>
        <p:spPr/>
        <p:txBody>
          <a:bodyPr/>
          <a:lstStyle/>
          <a:p>
            <a:r>
              <a:rPr lang="en-US">
                <a:latin typeface="Arial" charset="0"/>
                <a:ea typeface="ＭＳ Ｐゴシック" charset="0"/>
                <a:cs typeface="ＭＳ Ｐゴシック" charset="0"/>
              </a:rPr>
              <a:t>Deliverables</a:t>
            </a:r>
          </a:p>
        </p:txBody>
      </p:sp>
    </p:spTree>
    <p:extLst>
      <p:ext uri="{BB962C8B-B14F-4D97-AF65-F5344CB8AC3E}">
        <p14:creationId xmlns:p14="http://schemas.microsoft.com/office/powerpoint/2010/main" val="3464651967"/>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Content Placeholder 2"/>
          <p:cNvSpPr>
            <a:spLocks noGrp="1"/>
          </p:cNvSpPr>
          <p:nvPr>
            <p:ph idx="1"/>
          </p:nvPr>
        </p:nvSpPr>
        <p:spPr/>
        <p:txBody>
          <a:bodyPr>
            <a:normAutofit/>
          </a:bodyPr>
          <a:lstStyle/>
          <a:p>
            <a:pPr lvl="1"/>
            <a:r>
              <a:rPr lang="en-US" dirty="0">
                <a:latin typeface="Arial" charset="0"/>
                <a:ea typeface="ＭＳ Ｐゴシック" charset="0"/>
                <a:cs typeface="ＭＳ Ｐゴシック" charset="0"/>
              </a:rPr>
              <a:t>Capability Assessment</a:t>
            </a:r>
          </a:p>
          <a:p>
            <a:pPr lvl="2"/>
            <a:r>
              <a:rPr lang="en-US" b="0" dirty="0">
                <a:latin typeface="Arial" charset="0"/>
                <a:ea typeface="ＭＳ Ｐゴシック" charset="0"/>
                <a:cs typeface="ＭＳ Ｐゴシック" charset="0"/>
              </a:rPr>
              <a:t>Before embarking upon a detailed Architecture Definition, it is valuable to understand the baseline and target capability level of the enterprise. </a:t>
            </a:r>
          </a:p>
          <a:p>
            <a:pPr lvl="3"/>
            <a:r>
              <a:rPr lang="en-US" dirty="0">
                <a:latin typeface="Arial" charset="0"/>
                <a:ea typeface="ＭＳ Ｐゴシック" charset="0"/>
              </a:rPr>
              <a:t>What is the capability level of the enterprise as a whole? </a:t>
            </a:r>
          </a:p>
          <a:p>
            <a:pPr lvl="3"/>
            <a:r>
              <a:rPr lang="en-US" dirty="0">
                <a:latin typeface="Arial" charset="0"/>
                <a:ea typeface="ＭＳ Ｐゴシック" charset="0"/>
              </a:rPr>
              <a:t>What is the capability or maturity level of the IT function within the enterprise? </a:t>
            </a:r>
          </a:p>
          <a:p>
            <a:pPr lvl="3"/>
            <a:r>
              <a:rPr lang="en-US" dirty="0">
                <a:latin typeface="Arial" charset="0"/>
                <a:ea typeface="ＭＳ Ｐゴシック" charset="0"/>
              </a:rPr>
              <a:t>What is the capability and maturity of the architecture function within the enterprise? </a:t>
            </a:r>
          </a:p>
          <a:p>
            <a:pPr lvl="2"/>
            <a:r>
              <a:rPr lang="en-US" b="0" dirty="0">
                <a:latin typeface="Arial" charset="0"/>
                <a:ea typeface="ＭＳ Ｐゴシック" charset="0"/>
                <a:cs typeface="ＭＳ Ｐゴシック" charset="0"/>
              </a:rPr>
              <a:t>Typical contents of a Capability Assessment are:</a:t>
            </a:r>
          </a:p>
          <a:p>
            <a:pPr lvl="3"/>
            <a:r>
              <a:rPr lang="en-US" dirty="0">
                <a:latin typeface="Arial" charset="0"/>
                <a:ea typeface="ＭＳ Ｐゴシック" charset="0"/>
              </a:rPr>
              <a:t>Business Capability Assessment</a:t>
            </a:r>
          </a:p>
          <a:p>
            <a:pPr lvl="3"/>
            <a:r>
              <a:rPr lang="en-US" dirty="0">
                <a:latin typeface="Arial" charset="0"/>
                <a:ea typeface="ＭＳ Ｐゴシック" charset="0"/>
              </a:rPr>
              <a:t>IT Capability Assessment</a:t>
            </a:r>
          </a:p>
          <a:p>
            <a:pPr lvl="3"/>
            <a:r>
              <a:rPr lang="en-US" dirty="0">
                <a:latin typeface="Arial" charset="0"/>
                <a:ea typeface="ＭＳ Ｐゴシック" charset="0"/>
              </a:rPr>
              <a:t>Architecture maturity assessment</a:t>
            </a:r>
          </a:p>
          <a:p>
            <a:pPr lvl="3"/>
            <a:r>
              <a:rPr lang="en-US" dirty="0">
                <a:latin typeface="Arial" charset="0"/>
                <a:ea typeface="ＭＳ Ｐゴシック" charset="0"/>
              </a:rPr>
              <a:t>Business Transformation Readiness Assessment</a:t>
            </a:r>
          </a:p>
        </p:txBody>
      </p:sp>
      <p:sp>
        <p:nvSpPr>
          <p:cNvPr id="131073" name="Title 1"/>
          <p:cNvSpPr>
            <a:spLocks noGrp="1"/>
          </p:cNvSpPr>
          <p:nvPr>
            <p:ph type="title"/>
          </p:nvPr>
        </p:nvSpPr>
        <p:spPr/>
        <p:txBody>
          <a:bodyPr/>
          <a:lstStyle/>
          <a:p>
            <a:r>
              <a:rPr lang="en-US">
                <a:latin typeface="Arial" charset="0"/>
                <a:ea typeface="ＭＳ Ｐゴシック" charset="0"/>
                <a:cs typeface="ＭＳ Ｐゴシック" charset="0"/>
              </a:rPr>
              <a:t>Deliverables</a:t>
            </a:r>
          </a:p>
        </p:txBody>
      </p:sp>
    </p:spTree>
    <p:extLst>
      <p:ext uri="{BB962C8B-B14F-4D97-AF65-F5344CB8AC3E}">
        <p14:creationId xmlns:p14="http://schemas.microsoft.com/office/powerpoint/2010/main" val="3500032007"/>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ijdelijke aanduiding voor inhoud 2"/>
          <p:cNvSpPr>
            <a:spLocks noGrp="1"/>
          </p:cNvSpPr>
          <p:nvPr>
            <p:ph idx="1"/>
          </p:nvPr>
        </p:nvSpPr>
        <p:spPr>
          <a:xfrm>
            <a:off x="457511" y="1016565"/>
            <a:ext cx="8229600" cy="5527110"/>
          </a:xfrm>
        </p:spPr>
        <p:txBody>
          <a:bodyPr>
            <a:normAutofit fontScale="85000" lnSpcReduction="20000"/>
          </a:bodyPr>
          <a:lstStyle/>
          <a:p>
            <a:pPr lvl="1"/>
            <a:r>
              <a:rPr lang="nl-NL" sz="2100" b="0" dirty="0"/>
              <a:t>Request for Architecture Work</a:t>
            </a:r>
            <a:endParaRPr lang="en-US" sz="2100" b="0" dirty="0"/>
          </a:p>
          <a:p>
            <a:pPr lvl="2"/>
            <a:r>
              <a:rPr lang="en-US" sz="1900" b="0" dirty="0"/>
              <a:t>This is a document that is sent from the sponsoring organization to the architecture organization to trigger the start of an architecture development cycle. </a:t>
            </a:r>
          </a:p>
          <a:p>
            <a:pPr lvl="2"/>
            <a:r>
              <a:rPr lang="en-US" sz="1900" b="0" dirty="0"/>
              <a:t>Requests for Architecture Work typically include:</a:t>
            </a:r>
          </a:p>
          <a:p>
            <a:pPr lvl="3"/>
            <a:r>
              <a:rPr lang="en-US" sz="1600" dirty="0"/>
              <a:t>Organization sponsors</a:t>
            </a:r>
          </a:p>
          <a:p>
            <a:pPr lvl="3"/>
            <a:r>
              <a:rPr lang="en-US" sz="1600" dirty="0"/>
              <a:t>Organization's mission statement</a:t>
            </a:r>
          </a:p>
          <a:p>
            <a:pPr lvl="3"/>
            <a:r>
              <a:rPr lang="en-US" sz="1600" dirty="0"/>
              <a:t>Business goals (and changes)</a:t>
            </a:r>
          </a:p>
          <a:p>
            <a:pPr lvl="3"/>
            <a:r>
              <a:rPr lang="en-US" sz="1600" dirty="0"/>
              <a:t>Strategic plans of the business</a:t>
            </a:r>
          </a:p>
          <a:p>
            <a:pPr lvl="3"/>
            <a:r>
              <a:rPr lang="en-US" sz="1600" dirty="0"/>
              <a:t>Time limits</a:t>
            </a:r>
          </a:p>
          <a:p>
            <a:pPr lvl="3"/>
            <a:r>
              <a:rPr lang="en-US" sz="1600" dirty="0"/>
              <a:t>Changes in the business environment</a:t>
            </a:r>
          </a:p>
          <a:p>
            <a:pPr lvl="3"/>
            <a:r>
              <a:rPr lang="en-US" sz="1600" dirty="0"/>
              <a:t>Organizational constraints</a:t>
            </a:r>
          </a:p>
          <a:p>
            <a:pPr lvl="3"/>
            <a:r>
              <a:rPr lang="en-US" sz="1600" dirty="0"/>
              <a:t>Budget information, financial constraints</a:t>
            </a:r>
          </a:p>
          <a:p>
            <a:pPr lvl="3"/>
            <a:r>
              <a:rPr lang="en-US" sz="1600" dirty="0"/>
              <a:t>External constraints, business constraints</a:t>
            </a:r>
          </a:p>
          <a:p>
            <a:pPr lvl="3"/>
            <a:r>
              <a:rPr lang="en-US" sz="1600" dirty="0"/>
              <a:t>Current business system description</a:t>
            </a:r>
          </a:p>
          <a:p>
            <a:pPr lvl="3"/>
            <a:r>
              <a:rPr lang="en-US" sz="1600" dirty="0"/>
              <a:t>Current architecture/IT system description</a:t>
            </a:r>
          </a:p>
          <a:p>
            <a:pPr lvl="3"/>
            <a:r>
              <a:rPr lang="en-US" sz="1600" dirty="0"/>
              <a:t>Description of developing organization</a:t>
            </a:r>
          </a:p>
          <a:p>
            <a:pPr lvl="3"/>
            <a:r>
              <a:rPr lang="en-US" sz="1600" dirty="0"/>
              <a:t>Description of resources available to developing organization</a:t>
            </a:r>
            <a:br>
              <a:rPr lang="en-US" sz="1600" dirty="0"/>
            </a:br>
            <a:endParaRPr lang="nl-NL" sz="1600" dirty="0"/>
          </a:p>
        </p:txBody>
      </p:sp>
      <p:sp>
        <p:nvSpPr>
          <p:cNvPr id="132097" name="Titel 1"/>
          <p:cNvSpPr>
            <a:spLocks noGrp="1"/>
          </p:cNvSpPr>
          <p:nvPr>
            <p:ph type="title"/>
          </p:nvPr>
        </p:nvSpPr>
        <p:spPr/>
        <p:txBody>
          <a:bodyPr/>
          <a:lstStyle/>
          <a:p>
            <a:r>
              <a:rPr lang="nl-NL"/>
              <a:t>Deliverables</a:t>
            </a:r>
          </a:p>
        </p:txBody>
      </p:sp>
    </p:spTree>
    <p:extLst>
      <p:ext uri="{BB962C8B-B14F-4D97-AF65-F5344CB8AC3E}">
        <p14:creationId xmlns:p14="http://schemas.microsoft.com/office/powerpoint/2010/main" val="1233693706"/>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ijdelijke aanduiding voor inhoud 2"/>
          <p:cNvSpPr>
            <a:spLocks noGrp="1"/>
          </p:cNvSpPr>
          <p:nvPr>
            <p:ph idx="1"/>
          </p:nvPr>
        </p:nvSpPr>
        <p:spPr>
          <a:xfrm>
            <a:off x="457511" y="1016565"/>
            <a:ext cx="8229600" cy="5312141"/>
          </a:xfrm>
        </p:spPr>
        <p:txBody>
          <a:bodyPr>
            <a:normAutofit lnSpcReduction="10000"/>
          </a:bodyPr>
          <a:lstStyle/>
          <a:p>
            <a:r>
              <a:rPr lang="nl-NL" sz="1800" b="0" dirty="0">
                <a:latin typeface="Arial" charset="0"/>
                <a:ea typeface="ＭＳ Ｐゴシック" charset="0"/>
                <a:cs typeface="ＭＳ Ｐゴシック" charset="0"/>
              </a:rPr>
              <a:t>Statement of Architecture Work</a:t>
            </a:r>
            <a:endParaRPr lang="en-US" sz="1800" b="0" dirty="0">
              <a:latin typeface="Arial" charset="0"/>
              <a:ea typeface="ＭＳ Ｐゴシック" charset="0"/>
              <a:cs typeface="ＭＳ Ｐゴシック" charset="0"/>
            </a:endParaRPr>
          </a:p>
          <a:p>
            <a:pPr lvl="2"/>
            <a:r>
              <a:rPr lang="en-US" b="0" dirty="0">
                <a:latin typeface="Arial" charset="0"/>
                <a:ea typeface="ＭＳ Ｐゴシック" charset="0"/>
                <a:cs typeface="ＭＳ Ｐゴシック" charset="0"/>
              </a:rPr>
              <a:t>The Statement of Architecture Work defines the scope and approach that will be used to complete an architecture project. The Statement of Architecture Work is typically the document against which successful execution of the architecture project will be measured and may form the basis for a contractual agreement between the supplier and consumer of architecture services.</a:t>
            </a:r>
          </a:p>
          <a:p>
            <a:pPr lvl="2"/>
            <a:r>
              <a:rPr lang="en-US" b="0" dirty="0">
                <a:latin typeface="Arial" charset="0"/>
                <a:ea typeface="ＭＳ Ｐゴシック" charset="0"/>
                <a:cs typeface="ＭＳ Ｐゴシック" charset="0"/>
              </a:rPr>
              <a:t>Typical contents of a Statement of Architecture Work are:</a:t>
            </a:r>
          </a:p>
          <a:p>
            <a:pPr lvl="3"/>
            <a:r>
              <a:rPr lang="en-US" dirty="0">
                <a:latin typeface="Arial" charset="0"/>
                <a:ea typeface="ＭＳ Ｐゴシック" charset="0"/>
              </a:rPr>
              <a:t>Title</a:t>
            </a:r>
          </a:p>
          <a:p>
            <a:pPr lvl="3"/>
            <a:r>
              <a:rPr lang="en-US" dirty="0">
                <a:latin typeface="Arial" charset="0"/>
                <a:ea typeface="ＭＳ Ｐゴシック" charset="0"/>
              </a:rPr>
              <a:t>Architecture project request and background</a:t>
            </a:r>
          </a:p>
          <a:p>
            <a:pPr lvl="3"/>
            <a:r>
              <a:rPr lang="en-US" dirty="0">
                <a:latin typeface="Arial" charset="0"/>
                <a:ea typeface="ＭＳ Ｐゴシック" charset="0"/>
              </a:rPr>
              <a:t>Architecture project description and scope</a:t>
            </a:r>
          </a:p>
          <a:p>
            <a:pPr lvl="3"/>
            <a:r>
              <a:rPr lang="en-US" dirty="0">
                <a:latin typeface="Arial" charset="0"/>
                <a:ea typeface="ＭＳ Ｐゴシック" charset="0"/>
              </a:rPr>
              <a:t>Overview of Architecture Vision</a:t>
            </a:r>
          </a:p>
          <a:p>
            <a:pPr lvl="3"/>
            <a:r>
              <a:rPr lang="en-US" dirty="0">
                <a:latin typeface="Arial" charset="0"/>
                <a:ea typeface="ＭＳ Ｐゴシック" charset="0"/>
              </a:rPr>
              <a:t>Specific change of scope procedures</a:t>
            </a:r>
          </a:p>
          <a:p>
            <a:pPr lvl="3"/>
            <a:r>
              <a:rPr lang="en-US" dirty="0">
                <a:latin typeface="Arial" charset="0"/>
                <a:ea typeface="ＭＳ Ｐゴシック" charset="0"/>
              </a:rPr>
              <a:t>Roles, responsibilities, and deliverables</a:t>
            </a:r>
          </a:p>
          <a:p>
            <a:pPr lvl="3"/>
            <a:r>
              <a:rPr lang="en-US" dirty="0">
                <a:latin typeface="Arial" charset="0"/>
                <a:ea typeface="ＭＳ Ｐゴシック" charset="0"/>
              </a:rPr>
              <a:t>Acceptance criteria and procedures</a:t>
            </a:r>
          </a:p>
          <a:p>
            <a:pPr lvl="3"/>
            <a:r>
              <a:rPr lang="en-US" dirty="0">
                <a:latin typeface="Arial" charset="0"/>
                <a:ea typeface="ＭＳ Ｐゴシック" charset="0"/>
              </a:rPr>
              <a:t>Architecture project plan and schedule</a:t>
            </a:r>
          </a:p>
          <a:p>
            <a:pPr lvl="3"/>
            <a:r>
              <a:rPr lang="en-US" dirty="0">
                <a:latin typeface="Arial" charset="0"/>
                <a:ea typeface="ＭＳ Ｐゴシック" charset="0"/>
              </a:rPr>
              <a:t>Approvals</a:t>
            </a:r>
          </a:p>
          <a:p>
            <a:endParaRPr lang="nl-NL" sz="1800" dirty="0">
              <a:latin typeface="Arial" charset="0"/>
              <a:ea typeface="ＭＳ Ｐゴシック" charset="0"/>
              <a:cs typeface="ＭＳ Ｐゴシック" charset="0"/>
            </a:endParaRPr>
          </a:p>
        </p:txBody>
      </p:sp>
      <p:sp>
        <p:nvSpPr>
          <p:cNvPr id="133121" name="Titel 1"/>
          <p:cNvSpPr>
            <a:spLocks noGrp="1"/>
          </p:cNvSpPr>
          <p:nvPr>
            <p:ph type="title"/>
          </p:nvPr>
        </p:nvSpPr>
        <p:spPr/>
        <p:txBody>
          <a:bodyPr/>
          <a:lstStyle/>
          <a:p>
            <a:r>
              <a:rPr lang="nl-NL">
                <a:latin typeface="Arial" charset="0"/>
                <a:ea typeface="ＭＳ Ｐゴシック" charset="0"/>
                <a:cs typeface="ＭＳ Ｐゴシック" charset="0"/>
              </a:rPr>
              <a:t>Deliverables</a:t>
            </a:r>
          </a:p>
        </p:txBody>
      </p:sp>
    </p:spTree>
    <p:extLst>
      <p:ext uri="{BB962C8B-B14F-4D97-AF65-F5344CB8AC3E}">
        <p14:creationId xmlns:p14="http://schemas.microsoft.com/office/powerpoint/2010/main" val="4193312136"/>
      </p:ext>
    </p:extLst>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Content Placeholder 2"/>
          <p:cNvSpPr>
            <a:spLocks noGrp="1"/>
          </p:cNvSpPr>
          <p:nvPr>
            <p:ph idx="1"/>
          </p:nvPr>
        </p:nvSpPr>
        <p:spPr>
          <a:xfrm>
            <a:off x="457511" y="987990"/>
            <a:ext cx="8229600" cy="5403285"/>
          </a:xfrm>
        </p:spPr>
        <p:txBody>
          <a:bodyPr>
            <a:normAutofit/>
          </a:bodyPr>
          <a:lstStyle/>
          <a:p>
            <a:r>
              <a:rPr lang="en-US" sz="1800" b="0" dirty="0">
                <a:latin typeface="Arial" charset="0"/>
                <a:ea typeface="ＭＳ Ｐゴシック" charset="0"/>
                <a:cs typeface="ＭＳ Ｐゴシック" charset="0"/>
              </a:rPr>
              <a:t>Implementation Governance Model</a:t>
            </a:r>
          </a:p>
          <a:p>
            <a:pPr lvl="2"/>
            <a:r>
              <a:rPr lang="en-US" b="0" dirty="0">
                <a:latin typeface="Arial" charset="0"/>
                <a:ea typeface="ＭＳ Ｐゴシック" charset="0"/>
                <a:cs typeface="ＭＳ Ｐゴシック" charset="0"/>
              </a:rPr>
              <a:t>Once an architecture has been defined, it is necessary to plan how the architecture will be governed through implementation. </a:t>
            </a:r>
          </a:p>
          <a:p>
            <a:pPr lvl="2"/>
            <a:r>
              <a:rPr lang="en-US" b="0" dirty="0">
                <a:latin typeface="Arial" charset="0"/>
                <a:ea typeface="ＭＳ Ｐゴシック" charset="0"/>
                <a:cs typeface="ＭＳ Ｐゴシック" charset="0"/>
              </a:rPr>
              <a:t>The Implementation Governance Model ensures that a project transitioning into implementation also smoothly transitions into appropriate architecture governance.</a:t>
            </a:r>
          </a:p>
          <a:p>
            <a:pPr lvl="2"/>
            <a:r>
              <a:rPr lang="en-US" b="0" dirty="0">
                <a:latin typeface="Arial" charset="0"/>
                <a:ea typeface="ＭＳ Ｐゴシック" charset="0"/>
                <a:cs typeface="ＭＳ Ｐゴシック" charset="0"/>
              </a:rPr>
              <a:t>Typical contents of an Implementation Governance Model are:</a:t>
            </a:r>
          </a:p>
          <a:p>
            <a:pPr lvl="3"/>
            <a:r>
              <a:rPr lang="en-US" dirty="0">
                <a:latin typeface="Arial" charset="0"/>
                <a:ea typeface="ＭＳ Ｐゴシック" charset="0"/>
              </a:rPr>
              <a:t>Governance processes</a:t>
            </a:r>
          </a:p>
          <a:p>
            <a:pPr lvl="3"/>
            <a:r>
              <a:rPr lang="en-US" dirty="0">
                <a:latin typeface="Arial" charset="0"/>
                <a:ea typeface="ＭＳ Ｐゴシック" charset="0"/>
              </a:rPr>
              <a:t>Governance organization structure</a:t>
            </a:r>
          </a:p>
          <a:p>
            <a:pPr lvl="3"/>
            <a:r>
              <a:rPr lang="en-US" dirty="0">
                <a:latin typeface="Arial" charset="0"/>
                <a:ea typeface="ＭＳ Ｐゴシック" charset="0"/>
              </a:rPr>
              <a:t>Governance roles and responsibilities</a:t>
            </a:r>
          </a:p>
          <a:p>
            <a:pPr lvl="3"/>
            <a:r>
              <a:rPr lang="en-US" dirty="0">
                <a:latin typeface="Arial" charset="0"/>
                <a:ea typeface="ＭＳ Ｐゴシック" charset="0"/>
              </a:rPr>
              <a:t>Governance checkpoints and success/failure criteria</a:t>
            </a:r>
          </a:p>
        </p:txBody>
      </p:sp>
      <p:sp>
        <p:nvSpPr>
          <p:cNvPr id="134145" name="Title 1"/>
          <p:cNvSpPr>
            <a:spLocks noGrp="1"/>
          </p:cNvSpPr>
          <p:nvPr>
            <p:ph type="title"/>
          </p:nvPr>
        </p:nvSpPr>
        <p:spPr/>
        <p:txBody>
          <a:bodyPr/>
          <a:lstStyle/>
          <a:p>
            <a:r>
              <a:rPr lang="en-US">
                <a:latin typeface="Arial" charset="0"/>
                <a:ea typeface="ＭＳ Ｐゴシック" charset="0"/>
                <a:cs typeface="ＭＳ Ｐゴシック" charset="0"/>
              </a:rPr>
              <a:t>Deliverables</a:t>
            </a:r>
          </a:p>
        </p:txBody>
      </p:sp>
    </p:spTree>
    <p:extLst>
      <p:ext uri="{BB962C8B-B14F-4D97-AF65-F5344CB8AC3E}">
        <p14:creationId xmlns:p14="http://schemas.microsoft.com/office/powerpoint/2010/main" val="515674002"/>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ijdelijke aanduiding voor inhoud 2"/>
          <p:cNvSpPr>
            <a:spLocks noGrp="1"/>
          </p:cNvSpPr>
          <p:nvPr>
            <p:ph idx="1"/>
          </p:nvPr>
        </p:nvSpPr>
        <p:spPr/>
        <p:txBody>
          <a:bodyPr>
            <a:normAutofit/>
          </a:bodyPr>
          <a:lstStyle/>
          <a:p>
            <a:pPr lvl="1"/>
            <a:r>
              <a:rPr lang="nl-NL" b="0" dirty="0">
                <a:latin typeface="Arial" charset="0"/>
                <a:ea typeface="ＭＳ Ｐゴシック" charset="0"/>
                <a:cs typeface="ＭＳ Ｐゴシック" charset="0"/>
              </a:rPr>
              <a:t>Compliance Assessment</a:t>
            </a:r>
            <a:endParaRPr lang="en-US" b="0" dirty="0">
              <a:latin typeface="Arial" charset="0"/>
              <a:ea typeface="ＭＳ Ｐゴシック" charset="0"/>
              <a:cs typeface="ＭＳ Ｐゴシック" charset="0"/>
            </a:endParaRPr>
          </a:p>
          <a:p>
            <a:pPr lvl="2"/>
            <a:r>
              <a:rPr lang="en-US" b="0" dirty="0">
                <a:latin typeface="Arial" charset="0"/>
                <a:ea typeface="ＭＳ Ｐゴシック" charset="0"/>
                <a:cs typeface="ＭＳ Ｐゴシック" charset="0"/>
              </a:rPr>
              <a:t>Once an architecture has been defined, it is necessary to govern that architecture through implementation to ensure that the original Architecture Vision is appropriately realized and that any implementation </a:t>
            </a:r>
            <a:r>
              <a:rPr lang="en-US" b="0" dirty="0" err="1">
                <a:latin typeface="Arial" charset="0"/>
                <a:ea typeface="ＭＳ Ｐゴシック" charset="0"/>
                <a:cs typeface="ＭＳ Ｐゴシック" charset="0"/>
              </a:rPr>
              <a:t>learnings</a:t>
            </a:r>
            <a:r>
              <a:rPr lang="en-US" b="0" dirty="0">
                <a:latin typeface="Arial" charset="0"/>
                <a:ea typeface="ＭＳ Ｐゴシック" charset="0"/>
                <a:cs typeface="ＭＳ Ｐゴシック" charset="0"/>
              </a:rPr>
              <a:t> are fed back into the architecture process. </a:t>
            </a:r>
          </a:p>
          <a:p>
            <a:pPr lvl="2"/>
            <a:r>
              <a:rPr lang="en-US" b="0" dirty="0">
                <a:latin typeface="Arial" charset="0"/>
                <a:ea typeface="ＭＳ Ｐゴシック" charset="0"/>
                <a:cs typeface="ＭＳ Ｐゴシック" charset="0"/>
              </a:rPr>
              <a:t>Typical contents of a Compliance Assessment are:</a:t>
            </a:r>
          </a:p>
          <a:p>
            <a:pPr lvl="3"/>
            <a:r>
              <a:rPr lang="en-US" dirty="0">
                <a:latin typeface="Arial" charset="0"/>
                <a:ea typeface="ＭＳ Ｐゴシック" charset="0"/>
              </a:rPr>
              <a:t>Overview of project progress and status</a:t>
            </a:r>
          </a:p>
          <a:p>
            <a:pPr lvl="3"/>
            <a:r>
              <a:rPr lang="en-US" dirty="0">
                <a:latin typeface="Arial" charset="0"/>
                <a:ea typeface="ＭＳ Ｐゴシック" charset="0"/>
              </a:rPr>
              <a:t>Overview of project architecture/design</a:t>
            </a:r>
          </a:p>
          <a:p>
            <a:pPr lvl="3"/>
            <a:r>
              <a:rPr lang="en-US" dirty="0">
                <a:latin typeface="Arial" charset="0"/>
                <a:ea typeface="ＭＳ Ｐゴシック" charset="0"/>
              </a:rPr>
              <a:t>Completed architecture checklists:</a:t>
            </a:r>
          </a:p>
          <a:p>
            <a:pPr lvl="4"/>
            <a:r>
              <a:rPr lang="en-US" dirty="0">
                <a:latin typeface="Arial" charset="0"/>
                <a:ea typeface="ＭＳ Ｐゴシック" charset="0"/>
              </a:rPr>
              <a:t>Hardware and operating system checklist</a:t>
            </a:r>
          </a:p>
          <a:p>
            <a:pPr lvl="4"/>
            <a:r>
              <a:rPr lang="en-US" dirty="0">
                <a:latin typeface="Arial" charset="0"/>
                <a:ea typeface="ＭＳ Ｐゴシック" charset="0"/>
              </a:rPr>
              <a:t>Software services and middleware checklist</a:t>
            </a:r>
          </a:p>
          <a:p>
            <a:pPr lvl="4"/>
            <a:r>
              <a:rPr lang="en-US" dirty="0">
                <a:latin typeface="Arial" charset="0"/>
                <a:ea typeface="ＭＳ Ｐゴシック" charset="0"/>
              </a:rPr>
              <a:t>Applications checklists</a:t>
            </a:r>
          </a:p>
          <a:p>
            <a:pPr lvl="4"/>
            <a:r>
              <a:rPr lang="en-US" dirty="0">
                <a:latin typeface="Arial" charset="0"/>
                <a:ea typeface="ＭＳ Ｐゴシック" charset="0"/>
              </a:rPr>
              <a:t>Information management checklists</a:t>
            </a:r>
          </a:p>
          <a:p>
            <a:pPr lvl="4"/>
            <a:r>
              <a:rPr lang="en-US" dirty="0">
                <a:latin typeface="Arial" charset="0"/>
                <a:ea typeface="ＭＳ Ｐゴシック" charset="0"/>
              </a:rPr>
              <a:t>Security checklists</a:t>
            </a:r>
          </a:p>
          <a:p>
            <a:pPr lvl="4"/>
            <a:r>
              <a:rPr lang="en-US" dirty="0">
                <a:latin typeface="Arial" charset="0"/>
                <a:ea typeface="ＭＳ Ｐゴシック" charset="0"/>
              </a:rPr>
              <a:t>System management checklists</a:t>
            </a:r>
          </a:p>
          <a:p>
            <a:pPr lvl="4"/>
            <a:r>
              <a:rPr lang="en-US" dirty="0">
                <a:latin typeface="Arial" charset="0"/>
                <a:ea typeface="ＭＳ Ｐゴシック" charset="0"/>
              </a:rPr>
              <a:t>System engineering checklists</a:t>
            </a:r>
          </a:p>
          <a:p>
            <a:pPr lvl="4"/>
            <a:r>
              <a:rPr lang="en-US" dirty="0">
                <a:latin typeface="Arial" charset="0"/>
                <a:ea typeface="ＭＳ Ｐゴシック" charset="0"/>
              </a:rPr>
              <a:t>Methods and tools checklists</a:t>
            </a:r>
          </a:p>
          <a:p>
            <a:pPr lvl="1"/>
            <a:endParaRPr lang="nl-NL" sz="1200" dirty="0">
              <a:latin typeface="Arial" charset="0"/>
              <a:ea typeface="ＭＳ Ｐゴシック" charset="0"/>
            </a:endParaRPr>
          </a:p>
        </p:txBody>
      </p:sp>
      <p:sp>
        <p:nvSpPr>
          <p:cNvPr id="135169" name="Titel 1"/>
          <p:cNvSpPr>
            <a:spLocks noGrp="1"/>
          </p:cNvSpPr>
          <p:nvPr>
            <p:ph type="title"/>
          </p:nvPr>
        </p:nvSpPr>
        <p:spPr/>
        <p:txBody>
          <a:bodyPr/>
          <a:lstStyle/>
          <a:p>
            <a:r>
              <a:rPr lang="nl-NL">
                <a:latin typeface="Arial" charset="0"/>
                <a:ea typeface="ＭＳ Ｐゴシック" charset="0"/>
                <a:cs typeface="ＭＳ Ｐゴシック" charset="0"/>
              </a:rPr>
              <a:t>Deliverables</a:t>
            </a:r>
          </a:p>
        </p:txBody>
      </p:sp>
    </p:spTree>
    <p:extLst>
      <p:ext uri="{BB962C8B-B14F-4D97-AF65-F5344CB8AC3E}">
        <p14:creationId xmlns:p14="http://schemas.microsoft.com/office/powerpoint/2010/main" val="1767014992"/>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Content Placeholder 2"/>
          <p:cNvSpPr>
            <a:spLocks noGrp="1"/>
          </p:cNvSpPr>
          <p:nvPr>
            <p:ph idx="1"/>
          </p:nvPr>
        </p:nvSpPr>
        <p:spPr/>
        <p:txBody>
          <a:bodyPr>
            <a:normAutofit/>
          </a:bodyPr>
          <a:lstStyle/>
          <a:p>
            <a:pPr lvl="1"/>
            <a:r>
              <a:rPr lang="en-US" b="0" dirty="0">
                <a:latin typeface="Arial" charset="0"/>
                <a:ea typeface="ＭＳ Ｐゴシック" charset="0"/>
                <a:cs typeface="ＭＳ Ｐゴシック" charset="0"/>
              </a:rPr>
              <a:t>Change Request</a:t>
            </a:r>
          </a:p>
          <a:p>
            <a:pPr lvl="2"/>
            <a:r>
              <a:rPr lang="en-US" b="0" dirty="0">
                <a:latin typeface="Arial" charset="0"/>
                <a:ea typeface="ＭＳ Ｐゴシック" charset="0"/>
                <a:cs typeface="ＭＳ Ｐゴシック" charset="0"/>
              </a:rPr>
              <a:t>During implementation of an architecture it is possible that the architecture and requirements are not suitable or are not sufficient. </a:t>
            </a:r>
          </a:p>
          <a:p>
            <a:pPr lvl="2"/>
            <a:r>
              <a:rPr lang="en-US" b="0" dirty="0">
                <a:latin typeface="Arial" charset="0"/>
                <a:ea typeface="ＭＳ Ｐゴシック" charset="0"/>
                <a:cs typeface="ＭＳ Ｐゴシック" charset="0"/>
              </a:rPr>
              <a:t>Additionally, external factors may open up opportunities to extend and refine the architecture.</a:t>
            </a:r>
          </a:p>
          <a:p>
            <a:pPr lvl="2"/>
            <a:r>
              <a:rPr lang="en-US" b="0" dirty="0">
                <a:latin typeface="Arial" charset="0"/>
                <a:ea typeface="ＭＳ Ｐゴシック" charset="0"/>
                <a:cs typeface="ＭＳ Ｐゴシック" charset="0"/>
              </a:rPr>
              <a:t>In these circumstances, a Change Request may be submitted in order to kick-start a further cycle of architecture work.</a:t>
            </a:r>
          </a:p>
          <a:p>
            <a:pPr lvl="2"/>
            <a:r>
              <a:rPr lang="en-US" b="0" dirty="0">
                <a:latin typeface="Arial" charset="0"/>
                <a:ea typeface="ＭＳ Ｐゴシック" charset="0"/>
                <a:cs typeface="ＭＳ Ｐゴシック" charset="0"/>
              </a:rPr>
              <a:t>Typical contents of a Change Request are:</a:t>
            </a:r>
          </a:p>
          <a:p>
            <a:pPr lvl="3"/>
            <a:r>
              <a:rPr lang="en-US" dirty="0">
                <a:latin typeface="Arial" charset="0"/>
                <a:ea typeface="ＭＳ Ｐゴシック" charset="0"/>
              </a:rPr>
              <a:t>Description of the proposed change</a:t>
            </a:r>
          </a:p>
          <a:p>
            <a:pPr lvl="3"/>
            <a:r>
              <a:rPr lang="en-US" dirty="0">
                <a:latin typeface="Arial" charset="0"/>
                <a:ea typeface="ＭＳ Ｐゴシック" charset="0"/>
              </a:rPr>
              <a:t>Rationale for the proposed change</a:t>
            </a:r>
          </a:p>
          <a:p>
            <a:pPr lvl="3"/>
            <a:r>
              <a:rPr lang="en-US" dirty="0">
                <a:latin typeface="Arial" charset="0"/>
                <a:ea typeface="ＭＳ Ｐゴシック" charset="0"/>
              </a:rPr>
              <a:t>Impact assessment of the proposed change</a:t>
            </a:r>
          </a:p>
          <a:p>
            <a:pPr lvl="3"/>
            <a:r>
              <a:rPr lang="en-US" dirty="0">
                <a:latin typeface="Arial" charset="0"/>
                <a:ea typeface="ＭＳ Ｐゴシック" charset="0"/>
              </a:rPr>
              <a:t>Repository reference number</a:t>
            </a:r>
          </a:p>
        </p:txBody>
      </p:sp>
      <p:sp>
        <p:nvSpPr>
          <p:cNvPr id="136193" name="Title 1"/>
          <p:cNvSpPr>
            <a:spLocks noGrp="1"/>
          </p:cNvSpPr>
          <p:nvPr>
            <p:ph type="title"/>
          </p:nvPr>
        </p:nvSpPr>
        <p:spPr/>
        <p:txBody>
          <a:bodyPr/>
          <a:lstStyle/>
          <a:p>
            <a:r>
              <a:rPr lang="en-US">
                <a:latin typeface="Arial" charset="0"/>
                <a:ea typeface="ＭＳ Ｐゴシック" charset="0"/>
                <a:cs typeface="ＭＳ Ｐゴシック" charset="0"/>
              </a:rPr>
              <a:t>Deliverables</a:t>
            </a:r>
          </a:p>
        </p:txBody>
      </p:sp>
    </p:spTree>
    <p:extLst>
      <p:ext uri="{BB962C8B-B14F-4D97-AF65-F5344CB8AC3E}">
        <p14:creationId xmlns:p14="http://schemas.microsoft.com/office/powerpoint/2010/main" val="118825792"/>
      </p:ext>
    </p:extLst>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ijdelijke aanduiding voor inhoud 2"/>
          <p:cNvSpPr>
            <a:spLocks noGrp="1"/>
          </p:cNvSpPr>
          <p:nvPr>
            <p:ph idx="1"/>
          </p:nvPr>
        </p:nvSpPr>
        <p:spPr>
          <a:xfrm>
            <a:off x="457511" y="987990"/>
            <a:ext cx="8229600" cy="5431860"/>
          </a:xfrm>
        </p:spPr>
        <p:txBody>
          <a:bodyPr>
            <a:normAutofit/>
          </a:bodyPr>
          <a:lstStyle/>
          <a:p>
            <a:pPr lvl="1"/>
            <a:r>
              <a:rPr lang="nl-NL" b="0" dirty="0">
                <a:latin typeface="Arial" charset="0"/>
                <a:ea typeface="ＭＳ Ｐゴシック" charset="0"/>
                <a:cs typeface="ＭＳ Ｐゴシック" charset="0"/>
              </a:rPr>
              <a:t>Architecture Requirements Specification</a:t>
            </a:r>
            <a:endParaRPr lang="en-US" b="0" dirty="0">
              <a:latin typeface="Arial" charset="0"/>
              <a:ea typeface="ＭＳ Ｐゴシック" charset="0"/>
              <a:cs typeface="ＭＳ Ｐゴシック" charset="0"/>
            </a:endParaRPr>
          </a:p>
          <a:p>
            <a:pPr lvl="2"/>
            <a:r>
              <a:rPr lang="en-US" b="0" dirty="0">
                <a:latin typeface="Arial" charset="0"/>
                <a:ea typeface="ＭＳ Ｐゴシック" charset="0"/>
                <a:cs typeface="ＭＳ Ｐゴシック" charset="0"/>
              </a:rPr>
              <a:t>The Architecture Requirements Specification provides a set of quantitative statements that outline what an implementation project must do in order to comply with the architecture. </a:t>
            </a:r>
          </a:p>
          <a:p>
            <a:pPr lvl="2"/>
            <a:r>
              <a:rPr lang="nl-NL" b="0" dirty="0">
                <a:latin typeface="Arial" charset="0"/>
                <a:ea typeface="ＭＳ Ｐゴシック" charset="0"/>
                <a:cs typeface="ＭＳ Ｐゴシック" charset="0"/>
              </a:rPr>
              <a:t>Typical contents of an Architecture Requirements Specification are:</a:t>
            </a:r>
          </a:p>
          <a:p>
            <a:pPr lvl="3"/>
            <a:r>
              <a:rPr lang="nl-NL" dirty="0">
                <a:latin typeface="Arial" charset="0"/>
                <a:ea typeface="ＭＳ Ｐゴシック" charset="0"/>
              </a:rPr>
              <a:t>Success measures</a:t>
            </a:r>
          </a:p>
          <a:p>
            <a:pPr lvl="3"/>
            <a:r>
              <a:rPr lang="nl-NL" dirty="0">
                <a:latin typeface="Arial" charset="0"/>
                <a:ea typeface="ＭＳ Ｐゴシック" charset="0"/>
              </a:rPr>
              <a:t>Architecture requirements</a:t>
            </a:r>
          </a:p>
          <a:p>
            <a:pPr lvl="3"/>
            <a:r>
              <a:rPr lang="nl-NL" dirty="0">
                <a:latin typeface="Arial" charset="0"/>
                <a:ea typeface="ＭＳ Ｐゴシック" charset="0"/>
              </a:rPr>
              <a:t>Business service contracts</a:t>
            </a:r>
          </a:p>
          <a:p>
            <a:pPr lvl="3"/>
            <a:r>
              <a:rPr lang="nl-NL" dirty="0">
                <a:latin typeface="Arial" charset="0"/>
                <a:ea typeface="ＭＳ Ｐゴシック" charset="0"/>
              </a:rPr>
              <a:t>Application service contracts</a:t>
            </a:r>
          </a:p>
          <a:p>
            <a:pPr lvl="3"/>
            <a:r>
              <a:rPr lang="nl-NL" dirty="0">
                <a:latin typeface="Arial" charset="0"/>
                <a:ea typeface="ＭＳ Ｐゴシック" charset="0"/>
              </a:rPr>
              <a:t>Implementation guidelines</a:t>
            </a:r>
          </a:p>
          <a:p>
            <a:pPr lvl="3"/>
            <a:r>
              <a:rPr lang="nl-NL" dirty="0">
                <a:latin typeface="Arial" charset="0"/>
                <a:ea typeface="ＭＳ Ｐゴシック" charset="0"/>
              </a:rPr>
              <a:t>Implementation specifications</a:t>
            </a:r>
          </a:p>
          <a:p>
            <a:pPr lvl="3"/>
            <a:r>
              <a:rPr lang="nl-NL" dirty="0">
                <a:latin typeface="Arial" charset="0"/>
                <a:ea typeface="ＭＳ Ｐゴシック" charset="0"/>
              </a:rPr>
              <a:t>Implementation standards</a:t>
            </a:r>
          </a:p>
          <a:p>
            <a:pPr lvl="3"/>
            <a:r>
              <a:rPr lang="nl-NL" dirty="0">
                <a:latin typeface="Arial" charset="0"/>
                <a:ea typeface="ＭＳ Ｐゴシック" charset="0"/>
              </a:rPr>
              <a:t>Interoperability requirements</a:t>
            </a:r>
          </a:p>
          <a:p>
            <a:pPr lvl="3"/>
            <a:r>
              <a:rPr lang="nl-NL" dirty="0">
                <a:latin typeface="Arial" charset="0"/>
                <a:ea typeface="ＭＳ Ｐゴシック" charset="0"/>
              </a:rPr>
              <a:t>Constraints</a:t>
            </a:r>
          </a:p>
          <a:p>
            <a:pPr lvl="3"/>
            <a:r>
              <a:rPr lang="nl-NL" dirty="0" smtClean="0">
                <a:latin typeface="Arial" charset="0"/>
                <a:ea typeface="ＭＳ Ｐゴシック" charset="0"/>
              </a:rPr>
              <a:t>Assumptions</a:t>
            </a:r>
            <a:endParaRPr lang="nl-NL" dirty="0">
              <a:latin typeface="Arial" charset="0"/>
              <a:ea typeface="ＭＳ Ｐゴシック" charset="0"/>
            </a:endParaRPr>
          </a:p>
        </p:txBody>
      </p:sp>
      <p:sp>
        <p:nvSpPr>
          <p:cNvPr id="137217" name="Titel 1"/>
          <p:cNvSpPr>
            <a:spLocks noGrp="1"/>
          </p:cNvSpPr>
          <p:nvPr>
            <p:ph type="title"/>
          </p:nvPr>
        </p:nvSpPr>
        <p:spPr/>
        <p:txBody>
          <a:bodyPr/>
          <a:lstStyle/>
          <a:p>
            <a:r>
              <a:rPr lang="nl-NL">
                <a:latin typeface="Arial" charset="0"/>
                <a:ea typeface="ＭＳ Ｐゴシック" charset="0"/>
                <a:cs typeface="ＭＳ Ｐゴシック" charset="0"/>
              </a:rPr>
              <a:t>Deliverables</a:t>
            </a:r>
          </a:p>
        </p:txBody>
      </p:sp>
    </p:spTree>
    <p:extLst>
      <p:ext uri="{BB962C8B-B14F-4D97-AF65-F5344CB8AC3E}">
        <p14:creationId xmlns:p14="http://schemas.microsoft.com/office/powerpoint/2010/main" val="1818187197"/>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ijdelijke aanduiding voor inhoud 2"/>
          <p:cNvSpPr>
            <a:spLocks noGrp="1"/>
          </p:cNvSpPr>
          <p:nvPr>
            <p:ph idx="1"/>
          </p:nvPr>
        </p:nvSpPr>
        <p:spPr>
          <a:xfrm>
            <a:off x="457511" y="995997"/>
            <a:ext cx="8229600" cy="5500053"/>
          </a:xfrm>
        </p:spPr>
        <p:txBody>
          <a:bodyPr>
            <a:normAutofit/>
          </a:bodyPr>
          <a:lstStyle/>
          <a:p>
            <a:pPr lvl="1"/>
            <a:r>
              <a:rPr lang="nl-NL" b="0" dirty="0">
                <a:latin typeface="Arial" charset="0"/>
                <a:ea typeface="ＭＳ Ｐゴシック" charset="0"/>
                <a:cs typeface="ＭＳ Ｐゴシック" charset="0"/>
              </a:rPr>
              <a:t>Architecture Vision</a:t>
            </a:r>
            <a:endParaRPr lang="en-US" b="0" dirty="0">
              <a:latin typeface="Arial" charset="0"/>
              <a:ea typeface="ＭＳ Ｐゴシック" charset="0"/>
              <a:cs typeface="ＭＳ Ｐゴシック" charset="0"/>
            </a:endParaRPr>
          </a:p>
          <a:p>
            <a:pPr lvl="2"/>
            <a:r>
              <a:rPr lang="en-US" b="0" dirty="0">
                <a:latin typeface="Arial" charset="0"/>
                <a:ea typeface="ＭＳ Ｐゴシック" charset="0"/>
                <a:cs typeface="ＭＳ Ｐゴシック" charset="0"/>
              </a:rPr>
              <a:t>The Architecture Vision is created early on in the ADM cycle. It provides a summary of the changes to the enterprise that will accrue from successful deployment of the Target Architecture. The purpose of the Architecture Vision is to provide key stakeholders with a formally agreed outcome. </a:t>
            </a:r>
          </a:p>
          <a:p>
            <a:pPr lvl="2"/>
            <a:r>
              <a:rPr lang="en-US" b="0" dirty="0">
                <a:latin typeface="Arial" charset="0"/>
                <a:ea typeface="ＭＳ Ｐゴシック" charset="0"/>
                <a:cs typeface="ＭＳ Ｐゴシック" charset="0"/>
              </a:rPr>
              <a:t>Typical contents of an Architecture Vision are:</a:t>
            </a:r>
          </a:p>
          <a:p>
            <a:pPr lvl="3"/>
            <a:r>
              <a:rPr lang="en-US" dirty="0">
                <a:latin typeface="Arial" charset="0"/>
                <a:ea typeface="ＭＳ Ｐゴシック" charset="0"/>
              </a:rPr>
              <a:t>Problem description</a:t>
            </a:r>
          </a:p>
          <a:p>
            <a:pPr lvl="4"/>
            <a:r>
              <a:rPr lang="en-US" dirty="0">
                <a:latin typeface="Arial" charset="0"/>
                <a:ea typeface="ＭＳ Ｐゴシック" charset="0"/>
              </a:rPr>
              <a:t>Stakeholders, concerns, issues/scenarios</a:t>
            </a:r>
          </a:p>
          <a:p>
            <a:pPr lvl="3"/>
            <a:r>
              <a:rPr lang="en-US" dirty="0">
                <a:latin typeface="Arial" charset="0"/>
                <a:ea typeface="ＭＳ Ｐゴシック" charset="0"/>
              </a:rPr>
              <a:t>Objective of the Statement of Architecture Work</a:t>
            </a:r>
          </a:p>
          <a:p>
            <a:pPr lvl="3"/>
            <a:r>
              <a:rPr lang="en-US" dirty="0">
                <a:latin typeface="Arial" charset="0"/>
                <a:ea typeface="ＭＳ Ｐゴシック" charset="0"/>
              </a:rPr>
              <a:t>Summary views necessary for the Request for Architecture Work</a:t>
            </a:r>
          </a:p>
          <a:p>
            <a:pPr lvl="3"/>
            <a:r>
              <a:rPr lang="en-US" dirty="0">
                <a:latin typeface="Arial" charset="0"/>
                <a:ea typeface="ＭＳ Ｐゴシック" charset="0"/>
              </a:rPr>
              <a:t>Mapped requirements</a:t>
            </a:r>
          </a:p>
          <a:p>
            <a:pPr lvl="3"/>
            <a:r>
              <a:rPr lang="en-US" dirty="0">
                <a:latin typeface="Arial" charset="0"/>
                <a:ea typeface="ＭＳ Ｐゴシック" charset="0"/>
              </a:rPr>
              <a:t>Reference to Draft Architecture Definition Document</a:t>
            </a:r>
          </a:p>
        </p:txBody>
      </p:sp>
      <p:sp>
        <p:nvSpPr>
          <p:cNvPr id="138241" name="Titel 1"/>
          <p:cNvSpPr>
            <a:spLocks noGrp="1"/>
          </p:cNvSpPr>
          <p:nvPr>
            <p:ph type="title"/>
          </p:nvPr>
        </p:nvSpPr>
        <p:spPr/>
        <p:txBody>
          <a:bodyPr/>
          <a:lstStyle/>
          <a:p>
            <a:r>
              <a:rPr lang="nl-NL">
                <a:latin typeface="Arial" charset="0"/>
                <a:ea typeface="ＭＳ Ｐゴシック" charset="0"/>
                <a:cs typeface="ＭＳ Ｐゴシック" charset="0"/>
              </a:rPr>
              <a:t>Deliverables</a:t>
            </a:r>
          </a:p>
        </p:txBody>
      </p:sp>
    </p:spTree>
    <p:extLst>
      <p:ext uri="{BB962C8B-B14F-4D97-AF65-F5344CB8AC3E}">
        <p14:creationId xmlns:p14="http://schemas.microsoft.com/office/powerpoint/2010/main" val="1767229873"/>
      </p:ext>
    </p:extLst>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ijdelijke aanduiding voor inhoud 2"/>
          <p:cNvSpPr>
            <a:spLocks noGrp="1"/>
          </p:cNvSpPr>
          <p:nvPr>
            <p:ph idx="1"/>
          </p:nvPr>
        </p:nvSpPr>
        <p:spPr/>
        <p:txBody>
          <a:bodyPr>
            <a:normAutofit/>
          </a:bodyPr>
          <a:lstStyle/>
          <a:p>
            <a:pPr lvl="1"/>
            <a:r>
              <a:rPr lang="nl-NL" b="0" dirty="0">
                <a:latin typeface="Arial" charset="0"/>
                <a:ea typeface="ＭＳ Ｐゴシック" charset="0"/>
                <a:cs typeface="ＭＳ Ｐゴシック" charset="0"/>
              </a:rPr>
              <a:t>Architecture Definition Document</a:t>
            </a:r>
            <a:endParaRPr lang="en-US" b="0" dirty="0">
              <a:latin typeface="Arial" charset="0"/>
              <a:ea typeface="ＭＳ Ｐゴシック" charset="0"/>
              <a:cs typeface="ＭＳ Ｐゴシック" charset="0"/>
            </a:endParaRPr>
          </a:p>
          <a:p>
            <a:pPr lvl="2"/>
            <a:r>
              <a:rPr lang="en-US" b="0" dirty="0">
                <a:latin typeface="Arial" charset="0"/>
                <a:ea typeface="ＭＳ Ｐゴシック" charset="0"/>
                <a:cs typeface="ＭＳ Ｐゴシック" charset="0"/>
              </a:rPr>
              <a:t>The Architecture Definition Document is the deliverable container for the core architectural artifacts created during a project.</a:t>
            </a:r>
          </a:p>
          <a:p>
            <a:pPr lvl="2"/>
            <a:r>
              <a:rPr lang="en-US" b="0" dirty="0">
                <a:latin typeface="Arial" charset="0"/>
                <a:ea typeface="ＭＳ Ｐゴシック" charset="0"/>
                <a:cs typeface="ＭＳ Ｐゴシック" charset="0"/>
              </a:rPr>
              <a:t>Typical contents of an Architecture Definition Document are:</a:t>
            </a:r>
          </a:p>
          <a:p>
            <a:pPr lvl="3"/>
            <a:r>
              <a:rPr lang="en-US" dirty="0">
                <a:latin typeface="Arial" charset="0"/>
                <a:ea typeface="ＭＳ Ｐゴシック" charset="0"/>
              </a:rPr>
              <a:t>Scope</a:t>
            </a:r>
          </a:p>
          <a:p>
            <a:pPr lvl="3"/>
            <a:r>
              <a:rPr lang="en-US" dirty="0">
                <a:latin typeface="Arial" charset="0"/>
                <a:ea typeface="ＭＳ Ｐゴシック" charset="0"/>
              </a:rPr>
              <a:t>Goals, objectives, and constraints</a:t>
            </a:r>
          </a:p>
          <a:p>
            <a:pPr lvl="3"/>
            <a:r>
              <a:rPr lang="en-US" dirty="0">
                <a:latin typeface="Arial" charset="0"/>
                <a:ea typeface="ＭＳ Ｐゴシック" charset="0"/>
              </a:rPr>
              <a:t>Architecture principles</a:t>
            </a:r>
          </a:p>
          <a:p>
            <a:pPr lvl="3"/>
            <a:r>
              <a:rPr lang="en-US" dirty="0">
                <a:latin typeface="Arial" charset="0"/>
                <a:ea typeface="ＭＳ Ｐゴシック" charset="0"/>
              </a:rPr>
              <a:t>Baseline Architecture</a:t>
            </a:r>
          </a:p>
          <a:p>
            <a:pPr lvl="3"/>
            <a:r>
              <a:rPr lang="en-US" dirty="0">
                <a:latin typeface="Arial" charset="0"/>
                <a:ea typeface="ＭＳ Ｐゴシック" charset="0"/>
              </a:rPr>
              <a:t>Architecture models (for each state to be modeled):</a:t>
            </a:r>
          </a:p>
          <a:p>
            <a:pPr lvl="3"/>
            <a:r>
              <a:rPr lang="en-US" dirty="0">
                <a:latin typeface="Arial" charset="0"/>
                <a:ea typeface="ＭＳ Ｐゴシック" charset="0"/>
              </a:rPr>
              <a:t>Rationale and justification for architectural approach</a:t>
            </a:r>
          </a:p>
          <a:p>
            <a:pPr lvl="3"/>
            <a:r>
              <a:rPr lang="en-US" dirty="0">
                <a:latin typeface="Arial" charset="0"/>
                <a:ea typeface="ＭＳ Ｐゴシック" charset="0"/>
              </a:rPr>
              <a:t>Mapping to Architecture Repository:</a:t>
            </a:r>
          </a:p>
          <a:p>
            <a:pPr lvl="3"/>
            <a:r>
              <a:rPr lang="en-US" dirty="0">
                <a:latin typeface="Arial" charset="0"/>
                <a:ea typeface="ＭＳ Ｐゴシック" charset="0"/>
              </a:rPr>
              <a:t>Gap analysis</a:t>
            </a:r>
          </a:p>
          <a:p>
            <a:pPr lvl="3"/>
            <a:r>
              <a:rPr lang="en-US" dirty="0">
                <a:latin typeface="Arial" charset="0"/>
                <a:ea typeface="ＭＳ Ｐゴシック" charset="0"/>
              </a:rPr>
              <a:t>Impact assessment</a:t>
            </a:r>
          </a:p>
          <a:p>
            <a:pPr lvl="1"/>
            <a:endParaRPr lang="nl-NL" sz="1600" dirty="0">
              <a:latin typeface="Arial" charset="0"/>
              <a:ea typeface="ＭＳ Ｐゴシック" charset="0"/>
            </a:endParaRPr>
          </a:p>
        </p:txBody>
      </p:sp>
      <p:sp>
        <p:nvSpPr>
          <p:cNvPr id="139265" name="Titel 1"/>
          <p:cNvSpPr>
            <a:spLocks noGrp="1"/>
          </p:cNvSpPr>
          <p:nvPr>
            <p:ph type="title"/>
          </p:nvPr>
        </p:nvSpPr>
        <p:spPr/>
        <p:txBody>
          <a:bodyPr/>
          <a:lstStyle/>
          <a:p>
            <a:r>
              <a:rPr lang="nl-NL">
                <a:latin typeface="Arial" charset="0"/>
                <a:ea typeface="ＭＳ Ｐゴシック" charset="0"/>
                <a:cs typeface="ＭＳ Ｐゴシック" charset="0"/>
              </a:rPr>
              <a:t>Deliverables</a:t>
            </a:r>
          </a:p>
        </p:txBody>
      </p:sp>
    </p:spTree>
    <p:extLst>
      <p:ext uri="{BB962C8B-B14F-4D97-AF65-F5344CB8AC3E}">
        <p14:creationId xmlns:p14="http://schemas.microsoft.com/office/powerpoint/2010/main" val="2983920386"/>
      </p:ext>
    </p:extLst>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ijdelijke aanduiding voor inhoud 2"/>
          <p:cNvSpPr>
            <a:spLocks noGrp="1"/>
          </p:cNvSpPr>
          <p:nvPr>
            <p:ph idx="1"/>
          </p:nvPr>
        </p:nvSpPr>
        <p:spPr/>
        <p:txBody>
          <a:bodyPr>
            <a:normAutofit/>
          </a:bodyPr>
          <a:lstStyle/>
          <a:p>
            <a:pPr lvl="1"/>
            <a:r>
              <a:rPr lang="en-US" b="0" dirty="0">
                <a:latin typeface="Arial" charset="0"/>
                <a:ea typeface="ＭＳ Ｐゴシック" charset="0"/>
                <a:cs typeface="ＭＳ Ｐゴシック" charset="0"/>
              </a:rPr>
              <a:t>Architecture Roadmap</a:t>
            </a:r>
          </a:p>
          <a:p>
            <a:pPr lvl="2"/>
            <a:r>
              <a:rPr lang="en-US" b="0" dirty="0">
                <a:latin typeface="Arial" charset="0"/>
                <a:ea typeface="ＭＳ Ｐゴシック" charset="0"/>
                <a:cs typeface="ＭＳ Ｐゴシック" charset="0"/>
              </a:rPr>
              <a:t>The Architecture Roadmap lists individual work packages that will realize the Target Architecture and lays them out on a timeline to show progression from the Baseline Architecture to the Target Architecture. </a:t>
            </a:r>
          </a:p>
          <a:p>
            <a:pPr lvl="2"/>
            <a:r>
              <a:rPr lang="en-US" b="0" dirty="0">
                <a:latin typeface="Arial" charset="0"/>
                <a:ea typeface="ＭＳ Ｐゴシック" charset="0"/>
                <a:cs typeface="ＭＳ Ｐゴシック" charset="0"/>
              </a:rPr>
              <a:t>Typical contents of an Architecture Roadmap are:</a:t>
            </a:r>
          </a:p>
          <a:p>
            <a:pPr lvl="3"/>
            <a:r>
              <a:rPr lang="en-US" dirty="0">
                <a:latin typeface="Arial" charset="0"/>
                <a:ea typeface="ＭＳ Ｐゴシック" charset="0"/>
              </a:rPr>
              <a:t>Work package portfolio:</a:t>
            </a:r>
          </a:p>
          <a:p>
            <a:pPr lvl="4"/>
            <a:r>
              <a:rPr lang="en-US" dirty="0">
                <a:latin typeface="Arial" charset="0"/>
                <a:ea typeface="ＭＳ Ｐゴシック" charset="0"/>
              </a:rPr>
              <a:t>Description, functional requirements, dependencies, business value</a:t>
            </a:r>
          </a:p>
          <a:p>
            <a:pPr lvl="3"/>
            <a:r>
              <a:rPr lang="nl-NL" dirty="0">
                <a:latin typeface="Arial" charset="0"/>
                <a:ea typeface="ＭＳ Ｐゴシック" charset="0"/>
              </a:rPr>
              <a:t>Implementation Factor Assessment and Deduction matrix, including:</a:t>
            </a:r>
          </a:p>
          <a:p>
            <a:pPr lvl="4"/>
            <a:r>
              <a:rPr lang="en-US" dirty="0">
                <a:latin typeface="Arial" charset="0"/>
                <a:ea typeface="ＭＳ Ｐゴシック" charset="0"/>
              </a:rPr>
              <a:t>Risks, issues, assumptions, dependencies, actions, inputs</a:t>
            </a:r>
          </a:p>
          <a:p>
            <a:pPr lvl="3"/>
            <a:r>
              <a:rPr lang="en-US" dirty="0">
                <a:latin typeface="Arial" charset="0"/>
                <a:ea typeface="ＭＳ Ｐゴシック" charset="0"/>
              </a:rPr>
              <a:t>Consolidated Gaps, Solutions, and Dependencies matrix, including:</a:t>
            </a:r>
          </a:p>
          <a:p>
            <a:pPr lvl="4"/>
            <a:r>
              <a:rPr lang="en-US" dirty="0">
                <a:latin typeface="Arial" charset="0"/>
                <a:ea typeface="ＭＳ Ｐゴシック" charset="0"/>
              </a:rPr>
              <a:t>Architecture domain, gap, potential solutions, dependencies</a:t>
            </a:r>
          </a:p>
          <a:p>
            <a:pPr lvl="3"/>
            <a:r>
              <a:rPr lang="nl-NL" dirty="0">
                <a:latin typeface="Arial" charset="0"/>
                <a:ea typeface="ＭＳ Ｐゴシック" charset="0"/>
              </a:rPr>
              <a:t>Any Transition Architectures</a:t>
            </a:r>
          </a:p>
          <a:p>
            <a:pPr lvl="3"/>
            <a:r>
              <a:rPr lang="en-US" dirty="0">
                <a:latin typeface="Arial" charset="0"/>
                <a:ea typeface="ＭＳ Ｐゴシック" charset="0"/>
              </a:rPr>
              <a:t>Implementation recommendations:</a:t>
            </a:r>
          </a:p>
          <a:p>
            <a:pPr lvl="4"/>
            <a:r>
              <a:rPr lang="en-US" dirty="0">
                <a:latin typeface="Arial" charset="0"/>
                <a:ea typeface="ＭＳ Ｐゴシック" charset="0"/>
              </a:rPr>
              <a:t>Criteria measures of effectiveness of projects, risks and issues, solution Building Blocks</a:t>
            </a:r>
          </a:p>
          <a:p>
            <a:endParaRPr lang="nl-NL" sz="1200" dirty="0">
              <a:latin typeface="Arial" charset="0"/>
              <a:ea typeface="ＭＳ Ｐゴシック" charset="0"/>
              <a:cs typeface="ＭＳ Ｐゴシック" charset="0"/>
            </a:endParaRPr>
          </a:p>
        </p:txBody>
      </p:sp>
      <p:sp>
        <p:nvSpPr>
          <p:cNvPr id="140289" name="Titel 1"/>
          <p:cNvSpPr>
            <a:spLocks noGrp="1"/>
          </p:cNvSpPr>
          <p:nvPr>
            <p:ph type="title"/>
          </p:nvPr>
        </p:nvSpPr>
        <p:spPr/>
        <p:txBody>
          <a:bodyPr/>
          <a:lstStyle/>
          <a:p>
            <a:r>
              <a:rPr lang="nl-NL">
                <a:latin typeface="Arial" charset="0"/>
                <a:ea typeface="ＭＳ Ｐゴシック" charset="0"/>
                <a:cs typeface="ＭＳ Ｐゴシック" charset="0"/>
              </a:rPr>
              <a:t>Deliverables</a:t>
            </a:r>
          </a:p>
        </p:txBody>
      </p:sp>
    </p:spTree>
    <p:extLst>
      <p:ext uri="{BB962C8B-B14F-4D97-AF65-F5344CB8AC3E}">
        <p14:creationId xmlns:p14="http://schemas.microsoft.com/office/powerpoint/2010/main" val="481371594"/>
      </p:ext>
    </p:ext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ijdelijke aanduiding voor inhoud 2"/>
          <p:cNvSpPr>
            <a:spLocks noGrp="1"/>
          </p:cNvSpPr>
          <p:nvPr>
            <p:ph idx="1"/>
          </p:nvPr>
        </p:nvSpPr>
        <p:spPr/>
        <p:txBody>
          <a:bodyPr>
            <a:normAutofit/>
          </a:bodyPr>
          <a:lstStyle/>
          <a:p>
            <a:pPr lvl="1"/>
            <a:r>
              <a:rPr lang="nl-NL" dirty="0">
                <a:latin typeface="Arial" charset="0"/>
                <a:ea typeface="ＭＳ Ｐゴシック" charset="0"/>
                <a:cs typeface="ＭＳ Ｐゴシック" charset="0"/>
              </a:rPr>
              <a:t>Implementation and Migration Plan</a:t>
            </a:r>
            <a:endParaRPr lang="en-US" dirty="0">
              <a:latin typeface="Arial" charset="0"/>
              <a:ea typeface="ＭＳ Ｐゴシック" charset="0"/>
              <a:cs typeface="ＭＳ Ｐゴシック" charset="0"/>
            </a:endParaRPr>
          </a:p>
          <a:p>
            <a:pPr lvl="2"/>
            <a:r>
              <a:rPr lang="en-US" b="0" dirty="0">
                <a:latin typeface="Arial" charset="0"/>
                <a:ea typeface="ＭＳ Ｐゴシック" charset="0"/>
                <a:cs typeface="ＭＳ Ｐゴシック" charset="0"/>
              </a:rPr>
              <a:t>The Implementation and Migration Plan provides a schedule for implementation of the solution described by a Transition Architecture. </a:t>
            </a:r>
          </a:p>
          <a:p>
            <a:pPr lvl="2"/>
            <a:r>
              <a:rPr lang="en-US" b="0" dirty="0">
                <a:latin typeface="Arial" charset="0"/>
                <a:ea typeface="ＭＳ Ｐゴシック" charset="0"/>
                <a:cs typeface="ＭＳ Ｐゴシック" charset="0"/>
              </a:rPr>
              <a:t>Typical contents of an Implementation and Migration Plan are:</a:t>
            </a:r>
          </a:p>
          <a:p>
            <a:pPr lvl="3"/>
            <a:r>
              <a:rPr lang="en-US" dirty="0">
                <a:latin typeface="Arial" charset="0"/>
                <a:ea typeface="ＭＳ Ｐゴシック" charset="0"/>
              </a:rPr>
              <a:t>Implementation and Migration Strategy</a:t>
            </a:r>
          </a:p>
          <a:p>
            <a:pPr lvl="4"/>
            <a:r>
              <a:rPr lang="nl-NL" dirty="0">
                <a:latin typeface="Arial" charset="0"/>
                <a:ea typeface="ＭＳ Ｐゴシック" charset="0"/>
              </a:rPr>
              <a:t>Strategic implementation direction</a:t>
            </a:r>
          </a:p>
          <a:p>
            <a:pPr lvl="4"/>
            <a:r>
              <a:rPr lang="nl-NL" dirty="0">
                <a:latin typeface="Arial" charset="0"/>
                <a:ea typeface="ＭＳ Ｐゴシック" charset="0"/>
              </a:rPr>
              <a:t>Implementation sequencing approach</a:t>
            </a:r>
          </a:p>
          <a:p>
            <a:pPr lvl="3"/>
            <a:r>
              <a:rPr lang="en-US" dirty="0">
                <a:latin typeface="Arial" charset="0"/>
                <a:ea typeface="ＭＳ Ｐゴシック" charset="0"/>
              </a:rPr>
              <a:t>Project and portfolio breakdown of implementation:</a:t>
            </a:r>
          </a:p>
          <a:p>
            <a:pPr lvl="4"/>
            <a:r>
              <a:rPr lang="en-US" dirty="0">
                <a:latin typeface="Arial" charset="0"/>
                <a:ea typeface="ＭＳ Ｐゴシック" charset="0"/>
              </a:rPr>
              <a:t>Allocation of work packages to project and portfolio, capabilities delivered by projects, milestones and timing, work breakdown structure</a:t>
            </a:r>
          </a:p>
          <a:p>
            <a:pPr lvl="2"/>
            <a:r>
              <a:rPr lang="en-US" b="0" dirty="0">
                <a:latin typeface="Arial" charset="0"/>
                <a:ea typeface="ＭＳ Ｐゴシック" charset="0"/>
                <a:cs typeface="ＭＳ Ｐゴシック" charset="0"/>
              </a:rPr>
              <a:t>It may contain:</a:t>
            </a:r>
          </a:p>
          <a:p>
            <a:pPr lvl="3"/>
            <a:r>
              <a:rPr lang="en-US" dirty="0">
                <a:latin typeface="Arial" charset="0"/>
                <a:ea typeface="ＭＳ Ｐゴシック" charset="0"/>
              </a:rPr>
              <a:t>Project charters</a:t>
            </a:r>
          </a:p>
          <a:p>
            <a:pPr lvl="4"/>
            <a:r>
              <a:rPr lang="en-US" dirty="0">
                <a:latin typeface="Arial" charset="0"/>
                <a:ea typeface="ＭＳ Ｐゴシック" charset="0"/>
              </a:rPr>
              <a:t>Capabilities, work packages, business value, risks, issues, assumptions, dependencies, resource requirements, costs</a:t>
            </a:r>
          </a:p>
          <a:p>
            <a:endParaRPr lang="nl-NL" sz="1800" dirty="0">
              <a:latin typeface="Arial" charset="0"/>
              <a:ea typeface="ＭＳ Ｐゴシック" charset="0"/>
              <a:cs typeface="ＭＳ Ｐゴシック" charset="0"/>
            </a:endParaRPr>
          </a:p>
        </p:txBody>
      </p:sp>
      <p:sp>
        <p:nvSpPr>
          <p:cNvPr id="141313" name="Titel 1"/>
          <p:cNvSpPr>
            <a:spLocks noGrp="1"/>
          </p:cNvSpPr>
          <p:nvPr>
            <p:ph type="title"/>
          </p:nvPr>
        </p:nvSpPr>
        <p:spPr/>
        <p:txBody>
          <a:bodyPr/>
          <a:lstStyle/>
          <a:p>
            <a:r>
              <a:rPr lang="nl-NL">
                <a:latin typeface="Arial" charset="0"/>
                <a:ea typeface="ＭＳ Ｐゴシック" charset="0"/>
                <a:cs typeface="ＭＳ Ｐゴシック" charset="0"/>
              </a:rPr>
              <a:t>Deliverables</a:t>
            </a:r>
          </a:p>
        </p:txBody>
      </p:sp>
    </p:spTree>
    <p:extLst>
      <p:ext uri="{BB962C8B-B14F-4D97-AF65-F5344CB8AC3E}">
        <p14:creationId xmlns:p14="http://schemas.microsoft.com/office/powerpoint/2010/main" val="598458224"/>
      </p:ext>
    </p:extLst>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ijdelijke aanduiding voor inhoud 2"/>
          <p:cNvSpPr>
            <a:spLocks noGrp="1"/>
          </p:cNvSpPr>
          <p:nvPr>
            <p:ph idx="1"/>
          </p:nvPr>
        </p:nvSpPr>
        <p:spPr/>
        <p:txBody>
          <a:bodyPr>
            <a:normAutofit/>
          </a:bodyPr>
          <a:lstStyle/>
          <a:p>
            <a:pPr lvl="1"/>
            <a:r>
              <a:rPr lang="nl-NL" dirty="0">
                <a:latin typeface="Arial" charset="0"/>
                <a:ea typeface="ＭＳ Ｐゴシック" charset="0"/>
                <a:cs typeface="ＭＳ Ｐゴシック" charset="0"/>
              </a:rPr>
              <a:t>Requirements Impact Assessment</a:t>
            </a:r>
            <a:endParaRPr lang="en-US" dirty="0">
              <a:latin typeface="Arial" charset="0"/>
              <a:ea typeface="ＭＳ Ｐゴシック" charset="0"/>
              <a:cs typeface="ＭＳ Ｐゴシック" charset="0"/>
            </a:endParaRPr>
          </a:p>
          <a:p>
            <a:pPr lvl="2"/>
            <a:r>
              <a:rPr lang="en-US" b="0" dirty="0">
                <a:latin typeface="Arial" charset="0"/>
                <a:ea typeface="ＭＳ Ｐゴシック" charset="0"/>
                <a:cs typeface="ＭＳ Ｐゴシック" charset="0"/>
              </a:rPr>
              <a:t>Throughout the ADM, new information is collected relating to an architecture. As this information is gathered, new facts may come to light that invalidate existing aspects of the architecture. A Requirements Impact Assessment assesses the current architecture requirements and specification to identify changes that should be made and the implications of those changes.</a:t>
            </a:r>
          </a:p>
          <a:p>
            <a:pPr lvl="2"/>
            <a:r>
              <a:rPr lang="en-US" b="0" dirty="0">
                <a:latin typeface="Arial" charset="0"/>
                <a:ea typeface="ＭＳ Ｐゴシック" charset="0"/>
                <a:cs typeface="ＭＳ Ｐゴシック" charset="0"/>
              </a:rPr>
              <a:t>Typical contents of a Requirements Impact Assessment are:</a:t>
            </a:r>
          </a:p>
          <a:p>
            <a:pPr lvl="3"/>
            <a:r>
              <a:rPr lang="en-US" dirty="0">
                <a:latin typeface="Arial" charset="0"/>
                <a:ea typeface="ＭＳ Ｐゴシック" charset="0"/>
              </a:rPr>
              <a:t>Reference to specific requirements</a:t>
            </a:r>
          </a:p>
          <a:p>
            <a:pPr lvl="3"/>
            <a:r>
              <a:rPr lang="en-US" dirty="0">
                <a:latin typeface="Arial" charset="0"/>
                <a:ea typeface="ＭＳ Ｐゴシック" charset="0"/>
              </a:rPr>
              <a:t>Stakeholder priority of the requirements to date</a:t>
            </a:r>
          </a:p>
          <a:p>
            <a:pPr lvl="3"/>
            <a:r>
              <a:rPr lang="en-US" dirty="0">
                <a:latin typeface="Arial" charset="0"/>
                <a:ea typeface="ＭＳ Ｐゴシック" charset="0"/>
              </a:rPr>
              <a:t>Phases to be revisited</a:t>
            </a:r>
          </a:p>
          <a:p>
            <a:pPr lvl="3"/>
            <a:r>
              <a:rPr lang="en-US" dirty="0">
                <a:latin typeface="Arial" charset="0"/>
                <a:ea typeface="ＭＳ Ｐゴシック" charset="0"/>
              </a:rPr>
              <a:t>Phase to lead on requirements prioritization</a:t>
            </a:r>
          </a:p>
          <a:p>
            <a:pPr lvl="3"/>
            <a:r>
              <a:rPr lang="en-US" dirty="0">
                <a:latin typeface="Arial" charset="0"/>
                <a:ea typeface="ＭＳ Ｐゴシック" charset="0"/>
              </a:rPr>
              <a:t>Results of phase investigations and revised priorities</a:t>
            </a:r>
          </a:p>
          <a:p>
            <a:pPr lvl="3"/>
            <a:r>
              <a:rPr lang="en-US" dirty="0">
                <a:latin typeface="Arial" charset="0"/>
                <a:ea typeface="ＭＳ Ｐゴシック" charset="0"/>
              </a:rPr>
              <a:t>Recommendations on management of requirements</a:t>
            </a:r>
          </a:p>
          <a:p>
            <a:pPr lvl="3"/>
            <a:r>
              <a:rPr lang="en-US" dirty="0">
                <a:latin typeface="Arial" charset="0"/>
                <a:ea typeface="ＭＳ Ｐゴシック" charset="0"/>
              </a:rPr>
              <a:t>Repository reference number</a:t>
            </a:r>
          </a:p>
          <a:p>
            <a:endParaRPr lang="nl-NL" sz="1800" dirty="0">
              <a:latin typeface="Arial" charset="0"/>
              <a:ea typeface="ＭＳ Ｐゴシック" charset="0"/>
              <a:cs typeface="ＭＳ Ｐゴシック" charset="0"/>
            </a:endParaRPr>
          </a:p>
        </p:txBody>
      </p:sp>
      <p:sp>
        <p:nvSpPr>
          <p:cNvPr id="142337" name="Titel 1"/>
          <p:cNvSpPr>
            <a:spLocks noGrp="1"/>
          </p:cNvSpPr>
          <p:nvPr>
            <p:ph type="title"/>
          </p:nvPr>
        </p:nvSpPr>
        <p:spPr/>
        <p:txBody>
          <a:bodyPr/>
          <a:lstStyle/>
          <a:p>
            <a:r>
              <a:rPr lang="nl-NL">
                <a:latin typeface="Arial" charset="0"/>
                <a:ea typeface="ＭＳ Ｐゴシック" charset="0"/>
                <a:cs typeface="ＭＳ Ｐゴシック" charset="0"/>
              </a:rPr>
              <a:t>Deliverables</a:t>
            </a:r>
          </a:p>
        </p:txBody>
      </p:sp>
    </p:spTree>
    <p:extLst>
      <p:ext uri="{BB962C8B-B14F-4D97-AF65-F5344CB8AC3E}">
        <p14:creationId xmlns:p14="http://schemas.microsoft.com/office/powerpoint/2010/main" val="4067404971"/>
      </p:ext>
    </p:extLst>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1"/>
            <a:r>
              <a:rPr lang="en-US" dirty="0"/>
              <a:t>In this module, you learned about:</a:t>
            </a:r>
          </a:p>
          <a:p>
            <a:pPr lvl="2"/>
            <a:r>
              <a:rPr lang="en-US" dirty="0" smtClean="0"/>
              <a:t>The most important artifacts in the </a:t>
            </a:r>
            <a:r>
              <a:rPr lang="en-US" dirty="0"/>
              <a:t>architecture content framework.</a:t>
            </a:r>
          </a:p>
          <a:p>
            <a:pPr lvl="2"/>
            <a:r>
              <a:rPr lang="en-US" dirty="0" smtClean="0"/>
              <a:t>The </a:t>
            </a:r>
            <a:r>
              <a:rPr lang="en-US" dirty="0"/>
              <a:t>deliverables.</a:t>
            </a:r>
          </a:p>
        </p:txBody>
      </p:sp>
      <p:sp>
        <p:nvSpPr>
          <p:cNvPr id="3" name="Title 2"/>
          <p:cNvSpPr>
            <a:spLocks noGrp="1"/>
          </p:cNvSpPr>
          <p:nvPr>
            <p:ph type="title"/>
          </p:nvPr>
        </p:nvSpPr>
        <p:spPr/>
        <p:txBody>
          <a:bodyPr/>
          <a:lstStyle/>
          <a:p>
            <a:r>
              <a:rPr lang="en-US" dirty="0"/>
              <a:t>Summary</a:t>
            </a:r>
          </a:p>
        </p:txBody>
      </p:sp>
    </p:spTree>
    <p:extLst>
      <p:ext uri="{BB962C8B-B14F-4D97-AF65-F5344CB8AC3E}">
        <p14:creationId xmlns:p14="http://schemas.microsoft.com/office/powerpoint/2010/main" val="3697480558"/>
      </p:ext>
    </p:extLst>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9091696"/>
      </p:ext>
    </p:extLst>
  </p:cSld>
  <p:clrMapOvr>
    <a:masterClrMapping/>
  </p:clrMapOvr>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ISPRING_RESOURCE_PATHS_HASH_2" val="144f7710bf83612956581b4d8610227fdd6642f3"/>
</p:tagLst>
</file>

<file path=ppt/theme/theme1.xml><?xml version="1.0" encoding="utf-8"?>
<a:theme xmlns:a="http://schemas.openxmlformats.org/drawingml/2006/main" name="Togaf">
  <a:themeElements>
    <a:clrScheme name="ITP_SOA">
      <a:dk1>
        <a:sysClr val="windowText" lastClr="000000"/>
      </a:dk1>
      <a:lt1>
        <a:sysClr val="window" lastClr="FFFFFF"/>
      </a:lt1>
      <a:dk2>
        <a:srgbClr val="1F497D"/>
      </a:dk2>
      <a:lt2>
        <a:srgbClr val="EEECE1"/>
      </a:lt2>
      <a:accent1>
        <a:srgbClr val="76923C"/>
      </a:accent1>
      <a:accent2>
        <a:srgbClr val="D99694"/>
      </a:accent2>
      <a:accent3>
        <a:srgbClr val="9BBB59"/>
      </a:accent3>
      <a:accent4>
        <a:srgbClr val="8064A2"/>
      </a:accent4>
      <a:accent5>
        <a:srgbClr val="4BACC6"/>
      </a:accent5>
      <a:accent6>
        <a:srgbClr val="F79646"/>
      </a:accent6>
      <a:hlink>
        <a:srgbClr val="0000FF"/>
      </a:hlink>
      <a:folHlink>
        <a:srgbClr val="800080"/>
      </a:folHlink>
    </a:clrScheme>
    <a:fontScheme name="TOGAF">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Togaf</Template>
  <TotalTime>17251</TotalTime>
  <Words>4760</Words>
  <Application>Microsoft Office PowerPoint</Application>
  <PresentationFormat>On-screen Show (4:3)</PresentationFormat>
  <Paragraphs>990</Paragraphs>
  <Slides>56</Slides>
  <Notes>3</Notes>
  <HiddenSlides>0</HiddenSlides>
  <MMClips>0</MMClips>
  <ScaleCrop>false</ScaleCrop>
  <HeadingPairs>
    <vt:vector size="4" baseType="variant">
      <vt:variant>
        <vt:lpstr>Theme</vt:lpstr>
      </vt:variant>
      <vt:variant>
        <vt:i4>1</vt:i4>
      </vt:variant>
      <vt:variant>
        <vt:lpstr>Slide Titles</vt:lpstr>
      </vt:variant>
      <vt:variant>
        <vt:i4>56</vt:i4>
      </vt:variant>
    </vt:vector>
  </HeadingPairs>
  <TitlesOfParts>
    <vt:vector size="57" baseType="lpstr">
      <vt:lpstr>Togaf</vt:lpstr>
      <vt:lpstr>PowerPoint Presentation</vt:lpstr>
      <vt:lpstr>Learning Objectives</vt:lpstr>
      <vt:lpstr>Core Concepts: Deliverables, Artifacts, and Building Blocks</vt:lpstr>
      <vt:lpstr>PowerPoint Presentation</vt:lpstr>
      <vt:lpstr>Business Architecture Artifacts</vt:lpstr>
      <vt:lpstr>Driver/Goal/Objective Catalog</vt:lpstr>
      <vt:lpstr>Driver/Goal/Objective Catalog</vt:lpstr>
      <vt:lpstr>Functional Decomposition Diagram</vt:lpstr>
      <vt:lpstr>Functional Decomposition Diagram</vt:lpstr>
      <vt:lpstr>Process Flow Diagram</vt:lpstr>
      <vt:lpstr>Process Flow Diagram</vt:lpstr>
      <vt:lpstr>Information Systems Architectures Artifacts</vt:lpstr>
      <vt:lpstr>Conceptual Data Diagram</vt:lpstr>
      <vt:lpstr>Conceptual Data Diagram</vt:lpstr>
      <vt:lpstr>Application/Data Matrix</vt:lpstr>
      <vt:lpstr>Application/Data Matrix</vt:lpstr>
      <vt:lpstr>Data Entity/Business Function Matrix</vt:lpstr>
      <vt:lpstr>Data Entity/Business Function Matrix</vt:lpstr>
      <vt:lpstr>Information Systems Architectures Artifacts</vt:lpstr>
      <vt:lpstr>Data Entity/Business Function Matrix</vt:lpstr>
      <vt:lpstr>Application Portfolio Catalog</vt:lpstr>
      <vt:lpstr>Application Communication Diagram</vt:lpstr>
      <vt:lpstr>Application Communication Diagram</vt:lpstr>
      <vt:lpstr>Application/Function Matrix</vt:lpstr>
      <vt:lpstr>Application/Function Matrix</vt:lpstr>
      <vt:lpstr>Application Use-Case Diagram</vt:lpstr>
      <vt:lpstr>Application Use-Case Diagram</vt:lpstr>
      <vt:lpstr>Technology Architecture Artifacts</vt:lpstr>
      <vt:lpstr>Environments and Locations Diagram</vt:lpstr>
      <vt:lpstr>Technology Standards Catalog</vt:lpstr>
      <vt:lpstr>Environments and Locations Diagram</vt:lpstr>
      <vt:lpstr>Environments and Locations Diagram</vt:lpstr>
      <vt:lpstr>Platform Decomposition Diagram</vt:lpstr>
      <vt:lpstr>Platform Decomposition Diagram</vt:lpstr>
      <vt:lpstr>Networked Computing/Hardware Diagram</vt:lpstr>
      <vt:lpstr>Networked Computing/Hardware Diagram</vt:lpstr>
      <vt:lpstr>Communications Engineering Diagram</vt:lpstr>
      <vt:lpstr>Communications Engineering Diagram</vt:lpstr>
      <vt:lpstr>Relationship of Artifacts with Content Metamodel</vt:lpstr>
      <vt:lpstr>Deliverables</vt:lpstr>
      <vt:lpstr>Deliverables</vt:lpstr>
      <vt:lpstr>Deliverables</vt:lpstr>
      <vt:lpstr>Deliverables</vt:lpstr>
      <vt:lpstr>Deliverables</vt:lpstr>
      <vt:lpstr>Deliverables</vt:lpstr>
      <vt:lpstr>Deliverables</vt:lpstr>
      <vt:lpstr>Deliverables</vt:lpstr>
      <vt:lpstr>Deliverables</vt:lpstr>
      <vt:lpstr>Deliverables</vt:lpstr>
      <vt:lpstr>Deliverables</vt:lpstr>
      <vt:lpstr>Deliverables</vt:lpstr>
      <vt:lpstr>Deliverables</vt:lpstr>
      <vt:lpstr>Deliverables</vt:lpstr>
      <vt:lpstr>Deliverables</vt:lpstr>
      <vt:lpstr>Summary</vt:lpstr>
      <vt:lpstr>PowerPoint Presentation</vt:lpstr>
    </vt:vector>
  </TitlesOfParts>
  <Company>ITpreneurs Technology Pvt. Ltd.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2</dc:title>
  <dc:creator>toinali.sema</dc:creator>
  <cp:lastModifiedBy>Kuljeet</cp:lastModifiedBy>
  <cp:revision>2042</cp:revision>
  <dcterms:created xsi:type="dcterms:W3CDTF">2009-08-10T11:51:54Z</dcterms:created>
  <dcterms:modified xsi:type="dcterms:W3CDTF">2015-04-03T17:59:19Z</dcterms:modified>
</cp:coreProperties>
</file>